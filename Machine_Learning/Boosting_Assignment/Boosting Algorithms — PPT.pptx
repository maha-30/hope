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40" d="100"/>
          <a:sy n="140" d="100"/>
        </p:scale>
        <p:origin x="2394" y="1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900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747049" y="714375"/>
            <a:ext cx="2396951" cy="4011930"/>
          </a:xfrm>
          <a:prstGeom prst="rect">
            <a:avLst/>
          </a:prstGeom>
          <a:noFill/>
          <a:ln/>
        </p:spPr>
        <p:txBody>
          <a:bodyPr wrap="none" lIns="0" tIns="0" rIns="0" bIns="0" rtlCol="0" anchor="t"/>
          <a:lstStyle/>
          <a:p>
            <a:pPr marL="0" indent="0" algn="l">
              <a:lnSpc>
                <a:spcPts val="29250"/>
              </a:lnSpc>
              <a:buNone/>
            </a:pPr>
            <a:r>
              <a:rPr lang="en-US" sz="29250" b="1" dirty="0">
                <a:solidFill>
                  <a:srgbClr val="0EA5E9">
                    <a:alpha val="4000"/>
                  </a:srgbClr>
                </a:solidFill>
                <a:latin typeface="Carlito" pitchFamily="34" charset="0"/>
                <a:ea typeface="Carlito" pitchFamily="34" charset="-122"/>
                <a:cs typeface="Carlito" pitchFamily="34" charset="-120"/>
              </a:rPr>
              <a:t>B</a:t>
            </a:r>
            <a:endParaRPr lang="en-US" sz="29250" dirty="0"/>
          </a:p>
        </p:txBody>
      </p:sp>
      <p:sp>
        <p:nvSpPr>
          <p:cNvPr id="3" name="Text 1"/>
          <p:cNvSpPr/>
          <p:nvPr/>
        </p:nvSpPr>
        <p:spPr>
          <a:xfrm>
            <a:off x="571500" y="2174602"/>
            <a:ext cx="5850731" cy="356348"/>
          </a:xfrm>
          <a:prstGeom prst="rect">
            <a:avLst/>
          </a:prstGeom>
          <a:noFill/>
          <a:ln/>
        </p:spPr>
        <p:txBody>
          <a:bodyPr wrap="non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Boosting Algorithms</a:t>
            </a:r>
            <a:endParaRPr lang="en-US" sz="2363" dirty="0"/>
          </a:p>
        </p:txBody>
      </p:sp>
      <p:sp>
        <p:nvSpPr>
          <p:cNvPr id="4" name="Text 2"/>
          <p:cNvSpPr/>
          <p:nvPr/>
        </p:nvSpPr>
        <p:spPr>
          <a:xfrm>
            <a:off x="571500" y="2647429"/>
            <a:ext cx="571500" cy="35719"/>
          </a:xfrm>
          <a:prstGeom prst="roundRect">
            <a:avLst>
              <a:gd name="adj" fmla="val 79999"/>
            </a:avLst>
          </a:prstGeom>
          <a:solidFill>
            <a:srgbClr val="0EA5E9"/>
          </a:solidFill>
          <a:ln/>
        </p:spPr>
        <p:txBody>
          <a:bodyPr wrap="square" rtlCol="0" anchor="ctr"/>
          <a:lstStyle/>
          <a:p>
            <a:pPr marL="0" indent="0">
              <a:buNone/>
            </a:pPr>
            <a:endParaRPr lang="en-US" dirty="0"/>
          </a:p>
        </p:txBody>
      </p:sp>
      <p:sp>
        <p:nvSpPr>
          <p:cNvPr id="5" name="Text 3"/>
          <p:cNvSpPr/>
          <p:nvPr/>
        </p:nvSpPr>
        <p:spPr>
          <a:xfrm>
            <a:off x="571500" y="2883173"/>
            <a:ext cx="5572125" cy="246888"/>
          </a:xfrm>
          <a:prstGeom prst="rect">
            <a:avLst/>
          </a:prstGeom>
          <a:noFill/>
          <a:ln/>
        </p:spPr>
        <p:txBody>
          <a:bodyPr wrap="square" lIns="0" tIns="0" rIns="0" bIns="0" rtlCol="0" anchor="t"/>
          <a:lstStyle/>
          <a:p>
            <a:pPr marL="0" indent="0" algn="l">
              <a:lnSpc>
                <a:spcPts val="1800"/>
              </a:lnSpc>
              <a:buNone/>
            </a:pPr>
            <a:r>
              <a:rPr lang="en-US" sz="1125" dirty="0">
                <a:solidFill>
                  <a:srgbClr val="334155"/>
                </a:solidFill>
                <a:latin typeface="Carlito" pitchFamily="34" charset="0"/>
                <a:ea typeface="Carlito" pitchFamily="34" charset="-122"/>
                <a:cs typeface="Carlito" pitchFamily="34" charset="-120"/>
              </a:rPr>
              <a:t>AdaBoost | XGBoost | </a:t>
            </a:r>
            <a:r>
              <a:rPr lang="en-US" sz="1125" dirty="0" err="1">
                <a:solidFill>
                  <a:srgbClr val="334155"/>
                </a:solidFill>
                <a:latin typeface="Carlito" pitchFamily="34" charset="0"/>
                <a:ea typeface="Carlito" pitchFamily="34" charset="-122"/>
                <a:cs typeface="Carlito" pitchFamily="34" charset="-120"/>
              </a:rPr>
              <a:t>LightGBM</a:t>
            </a:r>
            <a:endParaRPr lang="en-US" sz="1125" dirty="0"/>
          </a:p>
        </p:txBody>
      </p:sp>
      <p:sp>
        <p:nvSpPr>
          <p:cNvPr id="6" name="Text 4"/>
          <p:cNvSpPr/>
          <p:nvPr/>
        </p:nvSpPr>
        <p:spPr>
          <a:xfrm>
            <a:off x="571500" y="4604147"/>
            <a:ext cx="7106134" cy="164592"/>
          </a:xfrm>
          <a:prstGeom prst="rect">
            <a:avLst/>
          </a:prstGeom>
          <a:noFill/>
          <a:ln/>
        </p:spPr>
        <p:txBody>
          <a:bodyPr wrap="square" lIns="0" tIns="0" rIns="0" bIns="0" rtlCol="0" anchor="t"/>
          <a:lstStyle/>
          <a:p>
            <a:pPr marL="0" indent="0" algn="l">
              <a:lnSpc>
                <a:spcPts val="1097"/>
              </a:lnSpc>
              <a:buNone/>
            </a:pPr>
            <a:r>
              <a:rPr lang="en-US" sz="800" kern="0" spc="17" dirty="0">
                <a:solidFill>
                  <a:srgbClr val="334155"/>
                </a:solidFill>
                <a:latin typeface="Carlito" pitchFamily="34" charset="0"/>
                <a:ea typeface="Carlito" pitchFamily="34" charset="-122"/>
                <a:cs typeface="Carlito" pitchFamily="34" charset="-120"/>
              </a:rPr>
              <a:t>Concepts, Intuition &amp; Comparison — No Fluff</a:t>
            </a:r>
            <a:endParaRPr lang="en-US" sz="800" dirty="0"/>
          </a:p>
        </p:txBody>
      </p:sp>
      <p:sp>
        <p:nvSpPr>
          <p:cNvPr id="7" name="Text 5"/>
          <p:cNvSpPr/>
          <p:nvPr/>
        </p:nvSpPr>
        <p:spPr>
          <a:xfrm>
            <a:off x="7669061" y="4505620"/>
            <a:ext cx="926299" cy="250631"/>
          </a:xfrm>
          <a:prstGeom prst="roundRect">
            <a:avLst>
              <a:gd name="adj" fmla="val 76008"/>
            </a:avLst>
          </a:prstGeom>
          <a:solidFill>
            <a:srgbClr val="E0F2FE"/>
          </a:solidFill>
          <a:ln/>
        </p:spPr>
        <p:txBody>
          <a:bodyPr wrap="square" rtlCol="0" anchor="ctr"/>
          <a:lstStyle/>
          <a:p>
            <a:pPr marL="0" indent="0">
              <a:buNone/>
            </a:pPr>
            <a:endParaRPr lang="en-US" dirty="0"/>
          </a:p>
        </p:txBody>
      </p:sp>
      <p:sp>
        <p:nvSpPr>
          <p:cNvPr id="8" name="Text 6"/>
          <p:cNvSpPr/>
          <p:nvPr/>
        </p:nvSpPr>
        <p:spPr>
          <a:xfrm>
            <a:off x="7691921" y="4518422"/>
            <a:ext cx="880579" cy="225028"/>
          </a:xfrm>
          <a:prstGeom prst="rect">
            <a:avLst/>
          </a:prstGeom>
          <a:noFill/>
          <a:ln/>
        </p:spPr>
        <p:txBody>
          <a:bodyPr wrap="none" lIns="114300" tIns="42863" rIns="114300" bIns="42863" rtlCol="0" anchor="ctr"/>
          <a:lstStyle/>
          <a:p>
            <a:pPr marL="0" indent="0" algn="ctr">
              <a:lnSpc>
                <a:spcPts val="1097"/>
              </a:lnSpc>
              <a:buNone/>
            </a:pPr>
            <a:r>
              <a:rPr lang="en-US" sz="800" kern="0" spc="28" dirty="0">
                <a:solidFill>
                  <a:srgbClr val="0284C7"/>
                </a:solidFill>
                <a:latin typeface="Liberation Sans Narrow" pitchFamily="34" charset="0"/>
                <a:ea typeface="Liberation Sans Narrow" pitchFamily="34" charset="-122"/>
                <a:cs typeface="Liberation Sans Narrow" pitchFamily="34" charset="-120"/>
              </a:rPr>
              <a:t>2026 EDITION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14313" y="1857375"/>
            <a:ext cx="2286000" cy="1543050"/>
          </a:xfrm>
          <a:prstGeom prst="rect">
            <a:avLst/>
          </a:prstGeom>
          <a:noFill/>
          <a:ln/>
        </p:spPr>
        <p:txBody>
          <a:bodyPr wrap="square" lIns="0" tIns="0" rIns="0" bIns="0" rtlCol="0" anchor="t"/>
          <a:lstStyle/>
          <a:p>
            <a:pPr marL="0" indent="0" algn="l">
              <a:lnSpc>
                <a:spcPts val="11250"/>
              </a:lnSpc>
              <a:buNone/>
            </a:pPr>
            <a:r>
              <a:rPr lang="en-US" sz="11250" b="1" dirty="0">
                <a:solidFill>
                  <a:srgbClr val="0EA5E9">
                    <a:alpha val="12000"/>
                  </a:srgbClr>
                </a:solidFill>
                <a:latin typeface="Liberation Sans Narrow" pitchFamily="34" charset="0"/>
                <a:ea typeface="Liberation Sans Narrow" pitchFamily="34" charset="-122"/>
                <a:cs typeface="Liberation Sans Narrow" pitchFamily="34" charset="-120"/>
              </a:rPr>
              <a:t>01</a:t>
            </a:r>
            <a:endParaRPr lang="en-US" sz="11250" dirty="0"/>
          </a:p>
        </p:txBody>
      </p:sp>
      <p:sp>
        <p:nvSpPr>
          <p:cNvPr id="3" name="Text 1"/>
          <p:cNvSpPr/>
          <p:nvPr/>
        </p:nvSpPr>
        <p:spPr>
          <a:xfrm>
            <a:off x="1000125" y="2011300"/>
            <a:ext cx="5400164" cy="164592"/>
          </a:xfrm>
          <a:prstGeom prst="rect">
            <a:avLst/>
          </a:prstGeom>
          <a:noFill/>
          <a:ln/>
        </p:spPr>
        <p:txBody>
          <a:bodyPr wrap="none" lIns="0" tIns="0" rIns="0" bIns="0" rtlCol="0" anchor="t"/>
          <a:lstStyle/>
          <a:p>
            <a:pPr marL="0" indent="0" algn="l">
              <a:lnSpc>
                <a:spcPts val="1097"/>
              </a:lnSpc>
              <a:buNone/>
            </a:pPr>
            <a:r>
              <a:rPr lang="en-US" sz="800" kern="0" spc="113" dirty="0">
                <a:solidFill>
                  <a:srgbClr val="0EA5E9"/>
                </a:solidFill>
                <a:latin typeface="Courier New" pitchFamily="34" charset="0"/>
                <a:ea typeface="Courier New" pitchFamily="34" charset="-122"/>
                <a:cs typeface="Courier New" pitchFamily="34" charset="-120"/>
              </a:rPr>
              <a:t>SECTION ONE</a:t>
            </a:r>
            <a:endParaRPr lang="en-US" sz="800" dirty="0"/>
          </a:p>
        </p:txBody>
      </p:sp>
      <p:sp>
        <p:nvSpPr>
          <p:cNvPr id="4" name="Text 2"/>
          <p:cNvSpPr/>
          <p:nvPr/>
        </p:nvSpPr>
        <p:spPr>
          <a:xfrm>
            <a:off x="1000125" y="2293479"/>
            <a:ext cx="4319720" cy="296193"/>
          </a:xfrm>
          <a:prstGeom prst="rect">
            <a:avLst/>
          </a:prstGeom>
          <a:noFill/>
          <a:ln/>
        </p:spPr>
        <p:txBody>
          <a:bodyPr wrap="non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What is Boosting?</a:t>
            </a:r>
            <a:endParaRPr lang="en-US" sz="1800" dirty="0"/>
          </a:p>
        </p:txBody>
      </p:sp>
      <p:sp>
        <p:nvSpPr>
          <p:cNvPr id="5" name="Text 3"/>
          <p:cNvSpPr/>
          <p:nvPr/>
        </p:nvSpPr>
        <p:spPr>
          <a:xfrm>
            <a:off x="1000125" y="2710607"/>
            <a:ext cx="4114019" cy="246888"/>
          </a:xfrm>
          <a:prstGeom prst="rect">
            <a:avLst/>
          </a:prstGeom>
          <a:noFill/>
          <a:ln/>
        </p:spPr>
        <p:txBody>
          <a:bodyPr wrap="square" lIns="0" tIns="0" rIns="0" bIns="0" rtlCol="0" anchor="t"/>
          <a:lstStyle/>
          <a:p>
            <a:pPr marL="0" indent="0" algn="l">
              <a:lnSpc>
                <a:spcPts val="1800"/>
              </a:lnSpc>
              <a:buNone/>
            </a:pPr>
            <a:r>
              <a:rPr lang="en-US" sz="1125" dirty="0">
                <a:solidFill>
                  <a:srgbClr val="334155"/>
                </a:solidFill>
                <a:latin typeface="Carlito" pitchFamily="34" charset="0"/>
                <a:ea typeface="Carlito" pitchFamily="34" charset="-122"/>
                <a:cs typeface="Carlito" pitchFamily="34" charset="-120"/>
              </a:rPr>
              <a:t>The intuition behind turning weak models into powerful predictors</a:t>
            </a:r>
            <a:endParaRPr lang="en-US" sz="1125" dirty="0"/>
          </a:p>
        </p:txBody>
      </p:sp>
      <p:sp>
        <p:nvSpPr>
          <p:cNvPr id="6" name="Text 4"/>
          <p:cNvSpPr/>
          <p:nvPr/>
        </p:nvSpPr>
        <p:spPr>
          <a:xfrm>
            <a:off x="1000125" y="3110657"/>
            <a:ext cx="400050" cy="21431"/>
          </a:xfrm>
          <a:prstGeom prst="roundRect">
            <a:avLst>
              <a:gd name="adj" fmla="val 88890"/>
            </a:avLst>
          </a:prstGeom>
          <a:solidFill>
            <a:srgbClr val="0EA5E9"/>
          </a:solidFill>
          <a:ln/>
        </p:spPr>
        <p:txBody>
          <a:bodyPr wrap="square" rtlCol="0" anchor="ctr"/>
          <a:lstStyle/>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8636000" cy="240619"/>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The Core Idea: Weak Learners → Strong Learner</a:t>
            </a:r>
            <a:endParaRPr lang="en-US" sz="1350" dirty="0"/>
          </a:p>
        </p:txBody>
      </p:sp>
      <p:sp>
        <p:nvSpPr>
          <p:cNvPr id="3" name="Text 1"/>
          <p:cNvSpPr/>
          <p:nvPr/>
        </p:nvSpPr>
        <p:spPr>
          <a:xfrm>
            <a:off x="457200" y="822871"/>
            <a:ext cx="4526235" cy="839033"/>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Boosting is an ensemble technique that combines multiple weak learners — models only slightly better than random guessing — into a single powerful predictive model. Instead of training models independently, boosting trains them sequentially, where each new model focuses on correcting the errors made by the previous ones.</a:t>
            </a:r>
            <a:endParaRPr lang="en-US" sz="900" dirty="0"/>
          </a:p>
        </p:txBody>
      </p:sp>
      <p:sp>
        <p:nvSpPr>
          <p:cNvPr id="4" name="Text 2"/>
          <p:cNvSpPr/>
          <p:nvPr/>
        </p:nvSpPr>
        <p:spPr>
          <a:xfrm>
            <a:off x="457200" y="1728341"/>
            <a:ext cx="4526235" cy="629275"/>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Think of it like a team of average students: individually they might score 55%, but when they collaborate and each focuses on what the others got wrong, the team can achieve 95%+.</a:t>
            </a:r>
            <a:endParaRPr lang="en-US" sz="900" dirty="0"/>
          </a:p>
        </p:txBody>
      </p:sp>
      <p:sp>
        <p:nvSpPr>
          <p:cNvPr id="5" name="Text 3"/>
          <p:cNvSpPr/>
          <p:nvPr/>
        </p:nvSpPr>
        <p:spPr>
          <a:xfrm>
            <a:off x="457200" y="2439591"/>
            <a:ext cx="4526235" cy="419517"/>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The key insight: you don't need complex base models. Even simple decision stumps (single-split trees) can produce state-of-the-art results when boosted.</a:t>
            </a:r>
            <a:endParaRPr lang="en-US" sz="900" dirty="0"/>
          </a:p>
        </p:txBody>
      </p:sp>
      <p:sp>
        <p:nvSpPr>
          <p:cNvPr id="6" name="Text 4"/>
          <p:cNvSpPr/>
          <p:nvPr/>
        </p:nvSpPr>
        <p:spPr>
          <a:xfrm>
            <a:off x="5624140" y="883593"/>
            <a:ext cx="2993231" cy="2035969"/>
          </a:xfrm>
          <a:prstGeom prst="roundRect">
            <a:avLst>
              <a:gd name="adj" fmla="val 5614"/>
            </a:avLst>
          </a:prstGeom>
          <a:solidFill>
            <a:srgbClr val="F8FAFC"/>
          </a:solidFill>
          <a:ln w="7144">
            <a:solidFill>
              <a:srgbClr val="E2E8F0"/>
            </a:solidFill>
            <a:prstDash val="solid"/>
          </a:ln>
          <a:effectLst>
            <a:outerShdw blurRad="28575" dist="9525" dir="5400000" algn="bl" rotWithShape="0">
              <a:srgbClr val="000000">
                <a:alpha val="6000"/>
              </a:srgbClr>
            </a:outerShdw>
          </a:effectLst>
        </p:spPr>
        <p:txBody>
          <a:bodyPr wrap="square" rtlCol="0" anchor="ctr"/>
          <a:lstStyle/>
          <a:p>
            <a:pPr marL="0" indent="0">
              <a:buNone/>
            </a:pPr>
            <a:endParaRPr lang="en-US" dirty="0"/>
          </a:p>
        </p:txBody>
      </p:sp>
      <p:pic>
        <p:nvPicPr>
          <p:cNvPr id="7" name="Image 0" descr="/tmp/h2p-fit-1783264328907-pcqtko.png"/>
          <p:cNvPicPr>
            <a:picLocks noChangeAspect="1"/>
          </p:cNvPicPr>
          <p:nvPr/>
        </p:nvPicPr>
        <p:blipFill>
          <a:blip r:embed="rId3"/>
          <a:stretch>
            <a:fillRect/>
          </a:stretch>
        </p:blipFill>
        <p:spPr>
          <a:xfrm>
            <a:off x="5713437" y="972889"/>
            <a:ext cx="2814638" cy="18573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8636000" cy="240619"/>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How Boosting Works — Step by Step</a:t>
            </a:r>
            <a:endParaRPr lang="en-US" sz="1350" dirty="0"/>
          </a:p>
        </p:txBody>
      </p:sp>
      <p:sp>
        <p:nvSpPr>
          <p:cNvPr id="3" name="Text 1"/>
          <p:cNvSpPr/>
          <p:nvPr/>
        </p:nvSpPr>
        <p:spPr>
          <a:xfrm>
            <a:off x="457200" y="822871"/>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4" name="Shape 2"/>
          <p:cNvSpPr/>
          <p:nvPr/>
        </p:nvSpPr>
        <p:spPr>
          <a:xfrm>
            <a:off x="457200" y="826443"/>
            <a:ext cx="4043363" cy="0"/>
          </a:xfrm>
          <a:prstGeom prst="line">
            <a:avLst/>
          </a:prstGeom>
          <a:noFill/>
          <a:ln w="7144">
            <a:solidFill>
              <a:srgbClr val="E2E8F0"/>
            </a:solidFill>
            <a:prstDash val="solid"/>
          </a:ln>
        </p:spPr>
        <p:txBody>
          <a:bodyPr/>
          <a:lstStyle/>
          <a:p>
            <a:endParaRPr lang="en-IN"/>
          </a:p>
        </p:txBody>
      </p:sp>
      <p:sp>
        <p:nvSpPr>
          <p:cNvPr id="5" name="Shape 3"/>
          <p:cNvSpPr/>
          <p:nvPr/>
        </p:nvSpPr>
        <p:spPr>
          <a:xfrm>
            <a:off x="4496991" y="822871"/>
            <a:ext cx="0" cy="1888852"/>
          </a:xfrm>
          <a:prstGeom prst="line">
            <a:avLst/>
          </a:prstGeom>
          <a:noFill/>
          <a:ln w="7144">
            <a:solidFill>
              <a:srgbClr val="E2E8F0"/>
            </a:solidFill>
            <a:prstDash val="solid"/>
          </a:ln>
        </p:spPr>
        <p:txBody>
          <a:bodyPr/>
          <a:lstStyle/>
          <a:p>
            <a:endParaRPr lang="en-IN"/>
          </a:p>
        </p:txBody>
      </p:sp>
      <p:sp>
        <p:nvSpPr>
          <p:cNvPr id="6" name="Shape 4"/>
          <p:cNvSpPr/>
          <p:nvPr/>
        </p:nvSpPr>
        <p:spPr>
          <a:xfrm>
            <a:off x="457200" y="2708151"/>
            <a:ext cx="4043363" cy="0"/>
          </a:xfrm>
          <a:prstGeom prst="line">
            <a:avLst/>
          </a:prstGeom>
          <a:noFill/>
          <a:ln w="7144">
            <a:solidFill>
              <a:srgbClr val="E2E8F0"/>
            </a:solidFill>
            <a:prstDash val="solid"/>
          </a:ln>
        </p:spPr>
        <p:txBody>
          <a:bodyPr/>
          <a:lstStyle/>
          <a:p>
            <a:endParaRPr lang="en-IN"/>
          </a:p>
        </p:txBody>
      </p:sp>
      <p:sp>
        <p:nvSpPr>
          <p:cNvPr id="7" name="Shape 5"/>
          <p:cNvSpPr/>
          <p:nvPr/>
        </p:nvSpPr>
        <p:spPr>
          <a:xfrm>
            <a:off x="471488" y="822871"/>
            <a:ext cx="0" cy="1888852"/>
          </a:xfrm>
          <a:prstGeom prst="line">
            <a:avLst/>
          </a:prstGeom>
          <a:noFill/>
          <a:ln w="28575">
            <a:solidFill>
              <a:srgbClr val="0EA5E9"/>
            </a:solidFill>
            <a:prstDash val="solid"/>
          </a:ln>
        </p:spPr>
        <p:txBody>
          <a:bodyPr/>
          <a:lstStyle/>
          <a:p>
            <a:endParaRPr lang="en-IN"/>
          </a:p>
        </p:txBody>
      </p:sp>
      <p:sp>
        <p:nvSpPr>
          <p:cNvPr id="8" name="Text 6"/>
          <p:cNvSpPr/>
          <p:nvPr/>
        </p:nvSpPr>
        <p:spPr>
          <a:xfrm>
            <a:off x="657225" y="1001464"/>
            <a:ext cx="911944" cy="300038"/>
          </a:xfrm>
          <a:prstGeom prst="rect">
            <a:avLst/>
          </a:prstGeom>
          <a:noFill/>
          <a:ln/>
        </p:spPr>
        <p:txBody>
          <a:bodyPr wrap="none" lIns="0" tIns="0" rIns="0" bIns="0" rtlCol="0" anchor="ctr"/>
          <a:lstStyle/>
          <a:p>
            <a:pPr marL="0" indent="0" algn="ctr">
              <a:buNone/>
            </a:pPr>
            <a:r>
              <a:rPr lang="en-US" sz="1969" dirty="0">
                <a:solidFill>
                  <a:srgbClr val="0EA5E9"/>
                </a:solidFill>
                <a:latin typeface="Segoe UI Symbol" pitchFamily="34" charset="0"/>
                <a:ea typeface="Segoe UI Symbol" pitchFamily="34" charset="-122"/>
                <a:cs typeface="Segoe UI Symbol" pitchFamily="34" charset="-120"/>
              </a:rPr>
              <a:t>✦</a:t>
            </a:r>
            <a:endParaRPr lang="en-US" sz="1969" dirty="0"/>
          </a:p>
        </p:txBody>
      </p:sp>
      <p:sp>
        <p:nvSpPr>
          <p:cNvPr id="9" name="Text 7"/>
          <p:cNvSpPr/>
          <p:nvPr/>
        </p:nvSpPr>
        <p:spPr>
          <a:xfrm>
            <a:off x="1654894" y="1044327"/>
            <a:ext cx="2667074"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Liberation Sans Narrow" pitchFamily="34" charset="0"/>
                <a:ea typeface="Liberation Sans Narrow" pitchFamily="34" charset="-122"/>
                <a:cs typeface="Liberation Sans Narrow" pitchFamily="34" charset="-120"/>
              </a:rPr>
              <a:t>1. Train a Weak Learner</a:t>
            </a:r>
            <a:endParaRPr lang="en-US" sz="1125" dirty="0"/>
          </a:p>
        </p:txBody>
      </p:sp>
      <p:sp>
        <p:nvSpPr>
          <p:cNvPr id="10" name="Text 8"/>
          <p:cNvSpPr/>
          <p:nvPr/>
        </p:nvSpPr>
        <p:spPr>
          <a:xfrm>
            <a:off x="657225" y="1387227"/>
            <a:ext cx="3664744" cy="40722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Train the first base model (usually a decision stump) on the full training data. This model will make many mistakes, but that's expected.</a:t>
            </a:r>
            <a:endParaRPr lang="en-US" sz="900" dirty="0"/>
          </a:p>
        </p:txBody>
      </p:sp>
      <p:sp>
        <p:nvSpPr>
          <p:cNvPr id="11" name="Text 9"/>
          <p:cNvSpPr/>
          <p:nvPr/>
        </p:nvSpPr>
        <p:spPr>
          <a:xfrm>
            <a:off x="4643438" y="822871"/>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12" name="Shape 10"/>
          <p:cNvSpPr/>
          <p:nvPr/>
        </p:nvSpPr>
        <p:spPr>
          <a:xfrm>
            <a:off x="4643438" y="826443"/>
            <a:ext cx="4043363" cy="0"/>
          </a:xfrm>
          <a:prstGeom prst="line">
            <a:avLst/>
          </a:prstGeom>
          <a:noFill/>
          <a:ln w="7144">
            <a:solidFill>
              <a:srgbClr val="E2E8F0"/>
            </a:solidFill>
            <a:prstDash val="solid"/>
          </a:ln>
        </p:spPr>
        <p:txBody>
          <a:bodyPr/>
          <a:lstStyle/>
          <a:p>
            <a:endParaRPr lang="en-IN"/>
          </a:p>
        </p:txBody>
      </p:sp>
      <p:sp>
        <p:nvSpPr>
          <p:cNvPr id="13" name="Shape 11"/>
          <p:cNvSpPr/>
          <p:nvPr/>
        </p:nvSpPr>
        <p:spPr>
          <a:xfrm>
            <a:off x="8683228" y="822871"/>
            <a:ext cx="0" cy="1888852"/>
          </a:xfrm>
          <a:prstGeom prst="line">
            <a:avLst/>
          </a:prstGeom>
          <a:noFill/>
          <a:ln w="7144">
            <a:solidFill>
              <a:srgbClr val="E2E8F0"/>
            </a:solidFill>
            <a:prstDash val="solid"/>
          </a:ln>
        </p:spPr>
        <p:txBody>
          <a:bodyPr/>
          <a:lstStyle/>
          <a:p>
            <a:endParaRPr lang="en-IN"/>
          </a:p>
        </p:txBody>
      </p:sp>
      <p:sp>
        <p:nvSpPr>
          <p:cNvPr id="14" name="Shape 12"/>
          <p:cNvSpPr/>
          <p:nvPr/>
        </p:nvSpPr>
        <p:spPr>
          <a:xfrm>
            <a:off x="4643438" y="2708151"/>
            <a:ext cx="4043363" cy="0"/>
          </a:xfrm>
          <a:prstGeom prst="line">
            <a:avLst/>
          </a:prstGeom>
          <a:noFill/>
          <a:ln w="7144">
            <a:solidFill>
              <a:srgbClr val="E2E8F0"/>
            </a:solidFill>
            <a:prstDash val="solid"/>
          </a:ln>
        </p:spPr>
        <p:txBody>
          <a:bodyPr/>
          <a:lstStyle/>
          <a:p>
            <a:endParaRPr lang="en-IN"/>
          </a:p>
        </p:txBody>
      </p:sp>
      <p:sp>
        <p:nvSpPr>
          <p:cNvPr id="15" name="Shape 13"/>
          <p:cNvSpPr/>
          <p:nvPr/>
        </p:nvSpPr>
        <p:spPr>
          <a:xfrm>
            <a:off x="4657725" y="822871"/>
            <a:ext cx="0" cy="1888852"/>
          </a:xfrm>
          <a:prstGeom prst="line">
            <a:avLst/>
          </a:prstGeom>
          <a:noFill/>
          <a:ln w="28575">
            <a:solidFill>
              <a:srgbClr val="10B981"/>
            </a:solidFill>
            <a:prstDash val="solid"/>
          </a:ln>
        </p:spPr>
        <p:txBody>
          <a:bodyPr/>
          <a:lstStyle/>
          <a:p>
            <a:endParaRPr lang="en-IN"/>
          </a:p>
        </p:txBody>
      </p:sp>
      <p:sp>
        <p:nvSpPr>
          <p:cNvPr id="16" name="Text 14"/>
          <p:cNvSpPr/>
          <p:nvPr/>
        </p:nvSpPr>
        <p:spPr>
          <a:xfrm>
            <a:off x="4843463" y="1001464"/>
            <a:ext cx="889508" cy="300038"/>
          </a:xfrm>
          <a:prstGeom prst="rect">
            <a:avLst/>
          </a:prstGeom>
          <a:noFill/>
          <a:ln/>
        </p:spPr>
        <p:txBody>
          <a:bodyPr wrap="none" lIns="0" tIns="0" rIns="0" bIns="0" rtlCol="0" anchor="ctr"/>
          <a:lstStyle/>
          <a:p>
            <a:pPr marL="0" indent="0" algn="ctr">
              <a:buNone/>
            </a:pPr>
            <a:r>
              <a:rPr lang="en-US" sz="1969" dirty="0">
                <a:solidFill>
                  <a:srgbClr val="10B981"/>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5818696" y="1044327"/>
            <a:ext cx="2689510"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Liberation Sans Narrow" pitchFamily="34" charset="0"/>
                <a:ea typeface="Liberation Sans Narrow" pitchFamily="34" charset="-122"/>
                <a:cs typeface="Liberation Sans Narrow" pitchFamily="34" charset="-120"/>
              </a:rPr>
              <a:t>2. Identify Mistakes</a:t>
            </a:r>
            <a:endParaRPr lang="en-US" sz="1125" dirty="0"/>
          </a:p>
        </p:txBody>
      </p:sp>
      <p:sp>
        <p:nvSpPr>
          <p:cNvPr id="18" name="Text 16"/>
          <p:cNvSpPr/>
          <p:nvPr/>
        </p:nvSpPr>
        <p:spPr>
          <a:xfrm>
            <a:off x="4843463" y="1387227"/>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Evaluate the model and identify which samples it misclassified or predicted poorly. These are the hard examples the next model needs to focus on.</a:t>
            </a:r>
            <a:endParaRPr lang="en-US" sz="900" dirty="0"/>
          </a:p>
        </p:txBody>
      </p:sp>
      <p:sp>
        <p:nvSpPr>
          <p:cNvPr id="19" name="Text 17"/>
          <p:cNvSpPr/>
          <p:nvPr/>
        </p:nvSpPr>
        <p:spPr>
          <a:xfrm>
            <a:off x="457200" y="2854598"/>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20" name="Shape 18"/>
          <p:cNvSpPr/>
          <p:nvPr/>
        </p:nvSpPr>
        <p:spPr>
          <a:xfrm>
            <a:off x="457200" y="2858170"/>
            <a:ext cx="4043363" cy="0"/>
          </a:xfrm>
          <a:prstGeom prst="line">
            <a:avLst/>
          </a:prstGeom>
          <a:noFill/>
          <a:ln w="7144">
            <a:solidFill>
              <a:srgbClr val="E2E8F0"/>
            </a:solidFill>
            <a:prstDash val="solid"/>
          </a:ln>
        </p:spPr>
        <p:txBody>
          <a:bodyPr/>
          <a:lstStyle/>
          <a:p>
            <a:endParaRPr lang="en-IN"/>
          </a:p>
        </p:txBody>
      </p:sp>
      <p:sp>
        <p:nvSpPr>
          <p:cNvPr id="21" name="Shape 19"/>
          <p:cNvSpPr/>
          <p:nvPr/>
        </p:nvSpPr>
        <p:spPr>
          <a:xfrm>
            <a:off x="4496991" y="2854598"/>
            <a:ext cx="0" cy="1888852"/>
          </a:xfrm>
          <a:prstGeom prst="line">
            <a:avLst/>
          </a:prstGeom>
          <a:noFill/>
          <a:ln w="7144">
            <a:solidFill>
              <a:srgbClr val="E2E8F0"/>
            </a:solidFill>
            <a:prstDash val="solid"/>
          </a:ln>
        </p:spPr>
        <p:txBody>
          <a:bodyPr/>
          <a:lstStyle/>
          <a:p>
            <a:endParaRPr lang="en-IN"/>
          </a:p>
        </p:txBody>
      </p:sp>
      <p:sp>
        <p:nvSpPr>
          <p:cNvPr id="22" name="Shape 20"/>
          <p:cNvSpPr/>
          <p:nvPr/>
        </p:nvSpPr>
        <p:spPr>
          <a:xfrm>
            <a:off x="457200" y="4739878"/>
            <a:ext cx="4043363" cy="0"/>
          </a:xfrm>
          <a:prstGeom prst="line">
            <a:avLst/>
          </a:prstGeom>
          <a:noFill/>
          <a:ln w="7144">
            <a:solidFill>
              <a:srgbClr val="E2E8F0"/>
            </a:solidFill>
            <a:prstDash val="solid"/>
          </a:ln>
        </p:spPr>
        <p:txBody>
          <a:bodyPr/>
          <a:lstStyle/>
          <a:p>
            <a:endParaRPr lang="en-IN"/>
          </a:p>
        </p:txBody>
      </p:sp>
      <p:sp>
        <p:nvSpPr>
          <p:cNvPr id="23" name="Shape 21"/>
          <p:cNvSpPr/>
          <p:nvPr/>
        </p:nvSpPr>
        <p:spPr>
          <a:xfrm>
            <a:off x="471488" y="2854598"/>
            <a:ext cx="0" cy="1888852"/>
          </a:xfrm>
          <a:prstGeom prst="line">
            <a:avLst/>
          </a:prstGeom>
          <a:noFill/>
          <a:ln w="28575">
            <a:solidFill>
              <a:srgbClr val="F59E0B"/>
            </a:solidFill>
            <a:prstDash val="solid"/>
          </a:ln>
        </p:spPr>
        <p:txBody>
          <a:bodyPr/>
          <a:lstStyle/>
          <a:p>
            <a:endParaRPr lang="en-IN"/>
          </a:p>
        </p:txBody>
      </p:sp>
      <p:sp>
        <p:nvSpPr>
          <p:cNvPr id="24" name="Text 22"/>
          <p:cNvSpPr/>
          <p:nvPr/>
        </p:nvSpPr>
        <p:spPr>
          <a:xfrm>
            <a:off x="657225" y="3033192"/>
            <a:ext cx="689483" cy="300038"/>
          </a:xfrm>
          <a:prstGeom prst="rect">
            <a:avLst/>
          </a:prstGeom>
          <a:noFill/>
          <a:ln/>
        </p:spPr>
        <p:txBody>
          <a:bodyPr wrap="none" lIns="0" tIns="0" rIns="0" bIns="0" rtlCol="0" anchor="ctr"/>
          <a:lstStyle/>
          <a:p>
            <a:pPr marL="0" indent="0" algn="ctr">
              <a:buNone/>
            </a:pPr>
            <a:r>
              <a:rPr lang="en-US" sz="1969" dirty="0">
                <a:solidFill>
                  <a:srgbClr val="F59E0B"/>
                </a:solidFill>
                <a:latin typeface="Segoe UI Symbol" pitchFamily="34" charset="0"/>
                <a:ea typeface="Segoe UI Symbol" pitchFamily="34" charset="-122"/>
                <a:cs typeface="Segoe UI Symbol" pitchFamily="34" charset="-120"/>
              </a:rPr>
              <a:t>✦</a:t>
            </a:r>
            <a:endParaRPr lang="en-US" sz="1969" dirty="0"/>
          </a:p>
        </p:txBody>
      </p:sp>
      <p:sp>
        <p:nvSpPr>
          <p:cNvPr id="25" name="Text 23"/>
          <p:cNvSpPr/>
          <p:nvPr/>
        </p:nvSpPr>
        <p:spPr>
          <a:xfrm>
            <a:off x="1432433" y="3076054"/>
            <a:ext cx="2889535"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Liberation Sans Narrow" pitchFamily="34" charset="0"/>
                <a:ea typeface="Liberation Sans Narrow" pitchFamily="34" charset="-122"/>
                <a:cs typeface="Liberation Sans Narrow" pitchFamily="34" charset="-120"/>
              </a:rPr>
              <a:t>3. Train Next Learner on Errors</a:t>
            </a:r>
            <a:endParaRPr lang="en-US" sz="1125" dirty="0"/>
          </a:p>
        </p:txBody>
      </p:sp>
      <p:sp>
        <p:nvSpPr>
          <p:cNvPr id="26" name="Text 24"/>
          <p:cNvSpPr/>
          <p:nvPr/>
        </p:nvSpPr>
        <p:spPr>
          <a:xfrm>
            <a:off x="657225" y="3418954"/>
            <a:ext cx="3664744" cy="40722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Train the next model giving more weight/attention to the previously misclassified samples. This new model specializes in the hard cases.</a:t>
            </a:r>
            <a:endParaRPr lang="en-US" sz="900" dirty="0"/>
          </a:p>
        </p:txBody>
      </p:sp>
      <p:sp>
        <p:nvSpPr>
          <p:cNvPr id="27" name="Text 25"/>
          <p:cNvSpPr/>
          <p:nvPr/>
        </p:nvSpPr>
        <p:spPr>
          <a:xfrm>
            <a:off x="4643438" y="2854598"/>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28" name="Shape 26"/>
          <p:cNvSpPr/>
          <p:nvPr/>
        </p:nvSpPr>
        <p:spPr>
          <a:xfrm>
            <a:off x="4643438" y="2858170"/>
            <a:ext cx="4043363" cy="0"/>
          </a:xfrm>
          <a:prstGeom prst="line">
            <a:avLst/>
          </a:prstGeom>
          <a:noFill/>
          <a:ln w="7144">
            <a:solidFill>
              <a:srgbClr val="E2E8F0"/>
            </a:solidFill>
            <a:prstDash val="solid"/>
          </a:ln>
        </p:spPr>
        <p:txBody>
          <a:bodyPr/>
          <a:lstStyle/>
          <a:p>
            <a:endParaRPr lang="en-IN"/>
          </a:p>
        </p:txBody>
      </p:sp>
      <p:sp>
        <p:nvSpPr>
          <p:cNvPr id="29" name="Shape 27"/>
          <p:cNvSpPr/>
          <p:nvPr/>
        </p:nvSpPr>
        <p:spPr>
          <a:xfrm>
            <a:off x="8683228" y="2854598"/>
            <a:ext cx="0" cy="1888852"/>
          </a:xfrm>
          <a:prstGeom prst="line">
            <a:avLst/>
          </a:prstGeom>
          <a:noFill/>
          <a:ln w="7144">
            <a:solidFill>
              <a:srgbClr val="E2E8F0"/>
            </a:solidFill>
            <a:prstDash val="solid"/>
          </a:ln>
        </p:spPr>
        <p:txBody>
          <a:bodyPr/>
          <a:lstStyle/>
          <a:p>
            <a:endParaRPr lang="en-IN"/>
          </a:p>
        </p:txBody>
      </p:sp>
      <p:sp>
        <p:nvSpPr>
          <p:cNvPr id="30" name="Shape 28"/>
          <p:cNvSpPr/>
          <p:nvPr/>
        </p:nvSpPr>
        <p:spPr>
          <a:xfrm>
            <a:off x="4643438" y="4739878"/>
            <a:ext cx="4043363" cy="0"/>
          </a:xfrm>
          <a:prstGeom prst="line">
            <a:avLst/>
          </a:prstGeom>
          <a:noFill/>
          <a:ln w="7144">
            <a:solidFill>
              <a:srgbClr val="E2E8F0"/>
            </a:solidFill>
            <a:prstDash val="solid"/>
          </a:ln>
        </p:spPr>
        <p:txBody>
          <a:bodyPr/>
          <a:lstStyle/>
          <a:p>
            <a:endParaRPr lang="en-IN"/>
          </a:p>
        </p:txBody>
      </p:sp>
      <p:sp>
        <p:nvSpPr>
          <p:cNvPr id="31" name="Shape 29"/>
          <p:cNvSpPr/>
          <p:nvPr/>
        </p:nvSpPr>
        <p:spPr>
          <a:xfrm>
            <a:off x="4657725" y="2854598"/>
            <a:ext cx="0" cy="1888852"/>
          </a:xfrm>
          <a:prstGeom prst="line">
            <a:avLst/>
          </a:prstGeom>
          <a:noFill/>
          <a:ln w="28575">
            <a:solidFill>
              <a:srgbClr val="8B5CF6"/>
            </a:solidFill>
            <a:prstDash val="solid"/>
          </a:ln>
        </p:spPr>
        <p:txBody>
          <a:bodyPr/>
          <a:lstStyle/>
          <a:p>
            <a:endParaRPr lang="en-IN"/>
          </a:p>
        </p:txBody>
      </p:sp>
      <p:sp>
        <p:nvSpPr>
          <p:cNvPr id="32" name="Text 30"/>
          <p:cNvSpPr/>
          <p:nvPr/>
        </p:nvSpPr>
        <p:spPr>
          <a:xfrm>
            <a:off x="4843463" y="3033192"/>
            <a:ext cx="689483" cy="300038"/>
          </a:xfrm>
          <a:prstGeom prst="rect">
            <a:avLst/>
          </a:prstGeom>
          <a:noFill/>
          <a:ln/>
        </p:spPr>
        <p:txBody>
          <a:bodyPr wrap="none" lIns="0" tIns="0" rIns="0" bIns="0" rtlCol="0" anchor="ctr"/>
          <a:lstStyle/>
          <a:p>
            <a:pPr marL="0" indent="0" algn="ctr">
              <a:buNone/>
            </a:pPr>
            <a:r>
              <a:rPr lang="en-US" sz="1969" dirty="0">
                <a:solidFill>
                  <a:srgbClr val="8B5CF6"/>
                </a:solidFill>
                <a:latin typeface="Segoe UI Symbol" pitchFamily="34" charset="0"/>
                <a:ea typeface="Segoe UI Symbol" pitchFamily="34" charset="-122"/>
                <a:cs typeface="Segoe UI Symbol" pitchFamily="34" charset="-120"/>
              </a:rPr>
              <a:t>✦</a:t>
            </a:r>
            <a:endParaRPr lang="en-US" sz="1969" dirty="0"/>
          </a:p>
        </p:txBody>
      </p:sp>
      <p:sp>
        <p:nvSpPr>
          <p:cNvPr id="33" name="Text 31"/>
          <p:cNvSpPr/>
          <p:nvPr/>
        </p:nvSpPr>
        <p:spPr>
          <a:xfrm>
            <a:off x="5618671" y="3076054"/>
            <a:ext cx="2889535"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Liberation Sans Narrow" pitchFamily="34" charset="0"/>
                <a:ea typeface="Liberation Sans Narrow" pitchFamily="34" charset="-122"/>
                <a:cs typeface="Liberation Sans Narrow" pitchFamily="34" charset="-120"/>
              </a:rPr>
              <a:t>4. Combine Predictions</a:t>
            </a:r>
            <a:endParaRPr lang="en-US" sz="1125" dirty="0"/>
          </a:p>
        </p:txBody>
      </p:sp>
      <p:sp>
        <p:nvSpPr>
          <p:cNvPr id="34" name="Text 32"/>
          <p:cNvSpPr/>
          <p:nvPr/>
        </p:nvSpPr>
        <p:spPr>
          <a:xfrm>
            <a:off x="4843463" y="3418954"/>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Aggregate all models' predictions (weighted vote or weighted sum). Each model's contribution is based on its accuracy — better models get more say.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8636000" cy="240619"/>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Boosting vs. Bagging vs. Stacking</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794296"/>
          <a:ext cx="8229600" cy="2011683"/>
        </p:xfrm>
        <a:graphic>
          <a:graphicData uri="http://schemas.openxmlformats.org/drawingml/2006/table">
            <a:tbl>
              <a:tblPr/>
              <a:tblGrid>
                <a:gridCol w="1069777">
                  <a:extLst>
                    <a:ext uri="{9D8B030D-6E8A-4147-A177-3AD203B41FA5}">
                      <a16:colId xmlns:a16="http://schemas.microsoft.com/office/drawing/2014/main" val="20000"/>
                    </a:ext>
                  </a:extLst>
                </a:gridCol>
                <a:gridCol w="2304194">
                  <a:extLst>
                    <a:ext uri="{9D8B030D-6E8A-4147-A177-3AD203B41FA5}">
                      <a16:colId xmlns:a16="http://schemas.microsoft.com/office/drawing/2014/main" val="20001"/>
                    </a:ext>
                  </a:extLst>
                </a:gridCol>
                <a:gridCol w="2221929">
                  <a:extLst>
                    <a:ext uri="{9D8B030D-6E8A-4147-A177-3AD203B41FA5}">
                      <a16:colId xmlns:a16="http://schemas.microsoft.com/office/drawing/2014/main" val="20002"/>
                    </a:ext>
                  </a:extLst>
                </a:gridCol>
                <a:gridCol w="1234418">
                  <a:extLst>
                    <a:ext uri="{9D8B030D-6E8A-4147-A177-3AD203B41FA5}">
                      <a16:colId xmlns:a16="http://schemas.microsoft.com/office/drawing/2014/main" val="20003"/>
                    </a:ext>
                  </a:extLst>
                </a:gridCol>
                <a:gridCol w="1399282">
                  <a:extLst>
                    <a:ext uri="{9D8B030D-6E8A-4147-A177-3AD203B41FA5}">
                      <a16:colId xmlns:a16="http://schemas.microsoft.com/office/drawing/2014/main" val="20004"/>
                    </a:ext>
                  </a:extLst>
                </a:gridCol>
              </a:tblGrid>
              <a:tr h="0">
                <a:tc>
                  <a:txBody>
                    <a:bodyPr/>
                    <a:lstStyle/>
                    <a:p>
                      <a:pPr marL="0" indent="0" algn="l">
                        <a:buNone/>
                      </a:pPr>
                      <a:r>
                        <a:rPr lang="en-US" sz="800" b="1" dirty="0">
                          <a:solidFill>
                            <a:srgbClr val="334155"/>
                          </a:solidFill>
                          <a:latin typeface="Carlito" pitchFamily="34" charset="0"/>
                          <a:ea typeface="Carlito" pitchFamily="34" charset="-122"/>
                          <a:cs typeface="Carlito" pitchFamily="34" charset="-120"/>
                        </a:rPr>
                        <a:t>Method</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b="1" dirty="0">
                          <a:solidFill>
                            <a:srgbClr val="334155"/>
                          </a:solidFill>
                          <a:latin typeface="Carlito" pitchFamily="34" charset="0"/>
                          <a:ea typeface="Carlito" pitchFamily="34" charset="-122"/>
                          <a:cs typeface="Carlito" pitchFamily="34" charset="-120"/>
                        </a:rPr>
                        <a:t>Training</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b="1" dirty="0">
                          <a:solidFill>
                            <a:srgbClr val="334155"/>
                          </a:solidFill>
                          <a:latin typeface="Carlito" pitchFamily="34" charset="0"/>
                          <a:ea typeface="Carlito" pitchFamily="34" charset="-122"/>
                          <a:cs typeface="Carlito" pitchFamily="34" charset="-120"/>
                        </a:rPr>
                        <a:t>How It Combines</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b="1" dirty="0">
                          <a:solidFill>
                            <a:srgbClr val="334155"/>
                          </a:solidFill>
                          <a:latin typeface="Carlito" pitchFamily="34" charset="0"/>
                          <a:ea typeface="Carlito" pitchFamily="34" charset="-122"/>
                          <a:cs typeface="Carlito" pitchFamily="34" charset="-120"/>
                        </a:rPr>
                        <a:t>Reduces</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b="1" dirty="0">
                          <a:solidFill>
                            <a:srgbClr val="334155"/>
                          </a:solidFill>
                          <a:latin typeface="Carlito" pitchFamily="34" charset="0"/>
                          <a:ea typeface="Carlito" pitchFamily="34" charset="-122"/>
                          <a:cs typeface="Carlito" pitchFamily="34" charset="-120"/>
                        </a:rPr>
                        <a:t>Examples</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800" b="1" dirty="0">
                          <a:solidFill>
                            <a:srgbClr val="0284C7"/>
                          </a:solidFill>
                          <a:latin typeface="Carlito" pitchFamily="34" charset="0"/>
                          <a:ea typeface="Carlito" pitchFamily="34" charset="-122"/>
                          <a:cs typeface="Carlito" pitchFamily="34" charset="-120"/>
                        </a:rPr>
                        <a:t>Boosting</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Sequential — each model learns from previous errors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Weighted sum/vote of all models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Bias (primarily)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334155"/>
                          </a:solidFill>
                          <a:latin typeface="Courier New" pitchFamily="34" charset="0"/>
                          <a:ea typeface="Courier New" pitchFamily="34" charset="-122"/>
                          <a:cs typeface="Courier New" pitchFamily="34" charset="-120"/>
                        </a:rPr>
                        <a:t>AdaBoost, XGBoost, LightGBM</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Bagging</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Parallel — each model trains independently on bootstrapped data</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Average or majority vote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Variance (primarily)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334155"/>
                          </a:solidFill>
                          <a:latin typeface="Courier New" pitchFamily="34" charset="0"/>
                          <a:ea typeface="Courier New" pitchFamily="34" charset="-122"/>
                          <a:cs typeface="Courier New" pitchFamily="34" charset="-120"/>
                        </a:rPr>
                        <a:t>Random Forest, Bagged Trees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Stacking</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Parallel — base models train independently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A meta-learner learns optimal combination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Both bias &amp; variance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334155"/>
                          </a:solidFill>
                          <a:latin typeface="Courier New" pitchFamily="34" charset="0"/>
                          <a:ea typeface="Courier New" pitchFamily="34" charset="-122"/>
                          <a:cs typeface="Courier New" pitchFamily="34" charset="-120"/>
                        </a:rPr>
                        <a:t>Stacked Generalization</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Voting</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Parallel — diverse model types train independently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Simple majority vote or average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Neither specifically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334155"/>
                          </a:solidFill>
                          <a:latin typeface="Courier New" pitchFamily="34" charset="0"/>
                          <a:ea typeface="Courier New" pitchFamily="34" charset="-122"/>
                          <a:cs typeface="Courier New" pitchFamily="34" charset="-120"/>
                        </a:rPr>
                        <a:t>Voting Classifier/Regressor</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8636000" cy="240619"/>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Key Properties of Boosting</a:t>
            </a:r>
            <a:endParaRPr lang="en-US" sz="1350" dirty="0"/>
          </a:p>
        </p:txBody>
      </p:sp>
      <p:sp>
        <p:nvSpPr>
          <p:cNvPr id="3" name="Text 1"/>
          <p:cNvSpPr/>
          <p:nvPr/>
        </p:nvSpPr>
        <p:spPr>
          <a:xfrm>
            <a:off x="457200" y="822871"/>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4" name="Shape 2"/>
          <p:cNvSpPr/>
          <p:nvPr/>
        </p:nvSpPr>
        <p:spPr>
          <a:xfrm>
            <a:off x="457200" y="826443"/>
            <a:ext cx="4043363" cy="0"/>
          </a:xfrm>
          <a:prstGeom prst="line">
            <a:avLst/>
          </a:prstGeom>
          <a:noFill/>
          <a:ln w="7144">
            <a:solidFill>
              <a:srgbClr val="E2E8F0"/>
            </a:solidFill>
            <a:prstDash val="solid"/>
          </a:ln>
        </p:spPr>
        <p:txBody>
          <a:bodyPr/>
          <a:lstStyle/>
          <a:p>
            <a:endParaRPr lang="en-IN"/>
          </a:p>
        </p:txBody>
      </p:sp>
      <p:sp>
        <p:nvSpPr>
          <p:cNvPr id="5" name="Shape 3"/>
          <p:cNvSpPr/>
          <p:nvPr/>
        </p:nvSpPr>
        <p:spPr>
          <a:xfrm>
            <a:off x="4496991" y="822871"/>
            <a:ext cx="0" cy="1888852"/>
          </a:xfrm>
          <a:prstGeom prst="line">
            <a:avLst/>
          </a:prstGeom>
          <a:noFill/>
          <a:ln w="7144">
            <a:solidFill>
              <a:srgbClr val="E2E8F0"/>
            </a:solidFill>
            <a:prstDash val="solid"/>
          </a:ln>
        </p:spPr>
        <p:txBody>
          <a:bodyPr/>
          <a:lstStyle/>
          <a:p>
            <a:endParaRPr lang="en-IN"/>
          </a:p>
        </p:txBody>
      </p:sp>
      <p:sp>
        <p:nvSpPr>
          <p:cNvPr id="6" name="Shape 4"/>
          <p:cNvSpPr/>
          <p:nvPr/>
        </p:nvSpPr>
        <p:spPr>
          <a:xfrm>
            <a:off x="457200" y="2708151"/>
            <a:ext cx="4043363" cy="0"/>
          </a:xfrm>
          <a:prstGeom prst="line">
            <a:avLst/>
          </a:prstGeom>
          <a:noFill/>
          <a:ln w="7144">
            <a:solidFill>
              <a:srgbClr val="E2E8F0"/>
            </a:solidFill>
            <a:prstDash val="solid"/>
          </a:ln>
        </p:spPr>
        <p:txBody>
          <a:bodyPr/>
          <a:lstStyle/>
          <a:p>
            <a:endParaRPr lang="en-IN"/>
          </a:p>
        </p:txBody>
      </p:sp>
      <p:sp>
        <p:nvSpPr>
          <p:cNvPr id="7" name="Shape 5"/>
          <p:cNvSpPr/>
          <p:nvPr/>
        </p:nvSpPr>
        <p:spPr>
          <a:xfrm>
            <a:off x="471488" y="822871"/>
            <a:ext cx="0" cy="1888852"/>
          </a:xfrm>
          <a:prstGeom prst="line">
            <a:avLst/>
          </a:prstGeom>
          <a:noFill/>
          <a:ln w="28575">
            <a:solidFill>
              <a:srgbClr val="10B981"/>
            </a:solidFill>
            <a:prstDash val="solid"/>
          </a:ln>
        </p:spPr>
        <p:txBody>
          <a:bodyPr/>
          <a:lstStyle/>
          <a:p>
            <a:endParaRPr lang="en-IN"/>
          </a:p>
        </p:txBody>
      </p:sp>
      <p:sp>
        <p:nvSpPr>
          <p:cNvPr id="8" name="Text 6"/>
          <p:cNvSpPr/>
          <p:nvPr/>
        </p:nvSpPr>
        <p:spPr>
          <a:xfrm>
            <a:off x="657225" y="1001464"/>
            <a:ext cx="285750" cy="285750"/>
          </a:xfrm>
          <a:prstGeom prst="roundRect">
            <a:avLst>
              <a:gd name="adj" fmla="val 26667"/>
            </a:avLst>
          </a:prstGeom>
          <a:solidFill>
            <a:srgbClr val="D1FAE5"/>
          </a:solidFill>
          <a:ln/>
        </p:spPr>
        <p:txBody>
          <a:bodyPr wrap="square" rtlCol="0" anchor="ctr"/>
          <a:lstStyle/>
          <a:p>
            <a:pPr marL="0" indent="0">
              <a:buNone/>
            </a:pPr>
            <a:endParaRPr lang="en-US" dirty="0"/>
          </a:p>
        </p:txBody>
      </p:sp>
      <p:sp>
        <p:nvSpPr>
          <p:cNvPr id="9" name="Text 7"/>
          <p:cNvSpPr/>
          <p:nvPr/>
        </p:nvSpPr>
        <p:spPr>
          <a:xfrm>
            <a:off x="686157" y="1030397"/>
            <a:ext cx="227886" cy="227886"/>
          </a:xfrm>
          <a:prstGeom prst="rect">
            <a:avLst/>
          </a:prstGeom>
          <a:noFill/>
          <a:ln/>
        </p:spPr>
        <p:txBody>
          <a:bodyPr wrap="none" lIns="0" tIns="0" rIns="0" bIns="0" rtlCol="0" anchor="ctr"/>
          <a:lstStyle/>
          <a:p>
            <a:pPr marL="0" indent="0" algn="ctr">
              <a:buNone/>
            </a:pPr>
            <a:r>
              <a:rPr lang="en-US" sz="1547" dirty="0">
                <a:solidFill>
                  <a:srgbClr val="10B981"/>
                </a:solidFill>
                <a:latin typeface="Segoe UI Symbol" pitchFamily="34" charset="0"/>
                <a:ea typeface="Segoe UI Symbol" pitchFamily="34" charset="-122"/>
                <a:cs typeface="Segoe UI Symbol" pitchFamily="34" charset="-120"/>
              </a:rPr>
              <a:t>✦</a:t>
            </a:r>
            <a:endParaRPr lang="en-US" sz="1547" dirty="0"/>
          </a:p>
        </p:txBody>
      </p:sp>
      <p:sp>
        <p:nvSpPr>
          <p:cNvPr id="10" name="Text 8"/>
          <p:cNvSpPr/>
          <p:nvPr/>
        </p:nvSpPr>
        <p:spPr>
          <a:xfrm>
            <a:off x="1028700" y="1037183"/>
            <a:ext cx="3293269"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Reduces Bias</a:t>
            </a:r>
            <a:endParaRPr lang="en-US" sz="1125" dirty="0"/>
          </a:p>
        </p:txBody>
      </p:sp>
      <p:sp>
        <p:nvSpPr>
          <p:cNvPr id="11" name="Text 9"/>
          <p:cNvSpPr/>
          <p:nvPr/>
        </p:nvSpPr>
        <p:spPr>
          <a:xfrm>
            <a:off x="657225" y="1358652"/>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By iteratively correcting errors, boosting transforms high-bias weak learners into low-bias strong learners. This is why boosting works so well with simple models like decision stumps.</a:t>
            </a:r>
            <a:endParaRPr lang="en-US" sz="900" dirty="0"/>
          </a:p>
        </p:txBody>
      </p:sp>
      <p:sp>
        <p:nvSpPr>
          <p:cNvPr id="12" name="Text 10"/>
          <p:cNvSpPr/>
          <p:nvPr/>
        </p:nvSpPr>
        <p:spPr>
          <a:xfrm>
            <a:off x="4643438" y="822871"/>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13" name="Shape 11"/>
          <p:cNvSpPr/>
          <p:nvPr/>
        </p:nvSpPr>
        <p:spPr>
          <a:xfrm>
            <a:off x="4643438" y="826443"/>
            <a:ext cx="4043363" cy="0"/>
          </a:xfrm>
          <a:prstGeom prst="line">
            <a:avLst/>
          </a:prstGeom>
          <a:noFill/>
          <a:ln w="7144">
            <a:solidFill>
              <a:srgbClr val="E2E8F0"/>
            </a:solidFill>
            <a:prstDash val="solid"/>
          </a:ln>
        </p:spPr>
        <p:txBody>
          <a:bodyPr/>
          <a:lstStyle/>
          <a:p>
            <a:endParaRPr lang="en-IN"/>
          </a:p>
        </p:txBody>
      </p:sp>
      <p:sp>
        <p:nvSpPr>
          <p:cNvPr id="14" name="Shape 12"/>
          <p:cNvSpPr/>
          <p:nvPr/>
        </p:nvSpPr>
        <p:spPr>
          <a:xfrm>
            <a:off x="8683228" y="822871"/>
            <a:ext cx="0" cy="1888852"/>
          </a:xfrm>
          <a:prstGeom prst="line">
            <a:avLst/>
          </a:prstGeom>
          <a:noFill/>
          <a:ln w="7144">
            <a:solidFill>
              <a:srgbClr val="E2E8F0"/>
            </a:solidFill>
            <a:prstDash val="solid"/>
          </a:ln>
        </p:spPr>
        <p:txBody>
          <a:bodyPr/>
          <a:lstStyle/>
          <a:p>
            <a:endParaRPr lang="en-IN"/>
          </a:p>
        </p:txBody>
      </p:sp>
      <p:sp>
        <p:nvSpPr>
          <p:cNvPr id="15" name="Shape 13"/>
          <p:cNvSpPr/>
          <p:nvPr/>
        </p:nvSpPr>
        <p:spPr>
          <a:xfrm>
            <a:off x="4643438" y="2708151"/>
            <a:ext cx="4043363" cy="0"/>
          </a:xfrm>
          <a:prstGeom prst="line">
            <a:avLst/>
          </a:prstGeom>
          <a:noFill/>
          <a:ln w="7144">
            <a:solidFill>
              <a:srgbClr val="E2E8F0"/>
            </a:solidFill>
            <a:prstDash val="solid"/>
          </a:ln>
        </p:spPr>
        <p:txBody>
          <a:bodyPr/>
          <a:lstStyle/>
          <a:p>
            <a:endParaRPr lang="en-IN"/>
          </a:p>
        </p:txBody>
      </p:sp>
      <p:sp>
        <p:nvSpPr>
          <p:cNvPr id="16" name="Shape 14"/>
          <p:cNvSpPr/>
          <p:nvPr/>
        </p:nvSpPr>
        <p:spPr>
          <a:xfrm>
            <a:off x="4657725" y="822871"/>
            <a:ext cx="0" cy="1888852"/>
          </a:xfrm>
          <a:prstGeom prst="line">
            <a:avLst/>
          </a:prstGeom>
          <a:noFill/>
          <a:ln w="28575">
            <a:solidFill>
              <a:srgbClr val="EF4444"/>
            </a:solidFill>
            <a:prstDash val="solid"/>
          </a:ln>
        </p:spPr>
        <p:txBody>
          <a:bodyPr/>
          <a:lstStyle/>
          <a:p>
            <a:endParaRPr lang="en-IN"/>
          </a:p>
        </p:txBody>
      </p:sp>
      <p:sp>
        <p:nvSpPr>
          <p:cNvPr id="17" name="Text 15"/>
          <p:cNvSpPr/>
          <p:nvPr/>
        </p:nvSpPr>
        <p:spPr>
          <a:xfrm>
            <a:off x="4843463" y="1001464"/>
            <a:ext cx="285750" cy="285750"/>
          </a:xfrm>
          <a:prstGeom prst="roundRect">
            <a:avLst>
              <a:gd name="adj" fmla="val 26667"/>
            </a:avLst>
          </a:prstGeom>
          <a:solidFill>
            <a:srgbClr val="FEE2E2"/>
          </a:solidFill>
          <a:ln/>
        </p:spPr>
        <p:txBody>
          <a:bodyPr wrap="square" rtlCol="0" anchor="ctr"/>
          <a:lstStyle/>
          <a:p>
            <a:pPr marL="0" indent="0">
              <a:buNone/>
            </a:pPr>
            <a:endParaRPr lang="en-US" dirty="0"/>
          </a:p>
        </p:txBody>
      </p:sp>
      <p:sp>
        <p:nvSpPr>
          <p:cNvPr id="18" name="Text 16"/>
          <p:cNvSpPr/>
          <p:nvPr/>
        </p:nvSpPr>
        <p:spPr>
          <a:xfrm>
            <a:off x="4872395" y="1030397"/>
            <a:ext cx="227886" cy="227886"/>
          </a:xfrm>
          <a:prstGeom prst="rect">
            <a:avLst/>
          </a:prstGeom>
          <a:noFill/>
          <a:ln/>
        </p:spPr>
        <p:txBody>
          <a:bodyPr wrap="none" lIns="0" tIns="0" rIns="0" bIns="0" rtlCol="0" anchor="ctr"/>
          <a:lstStyle/>
          <a:p>
            <a:pPr marL="0" indent="0" algn="ctr">
              <a:buNone/>
            </a:pPr>
            <a:r>
              <a:rPr lang="en-US" sz="1547" dirty="0">
                <a:solidFill>
                  <a:srgbClr val="EF4444"/>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5214938" y="1037183"/>
            <a:ext cx="3293269"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Prone to Overfitting</a:t>
            </a:r>
            <a:endParaRPr lang="en-US" sz="1125" dirty="0"/>
          </a:p>
        </p:txBody>
      </p:sp>
      <p:sp>
        <p:nvSpPr>
          <p:cNvPr id="20" name="Text 18"/>
          <p:cNvSpPr/>
          <p:nvPr/>
        </p:nvSpPr>
        <p:spPr>
          <a:xfrm>
            <a:off x="4843463" y="1358652"/>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Since each new model focuses on hard examples, boosting can overfit to noise. This is especially true with noisy data. Regularization and early stopping are critical.</a:t>
            </a:r>
            <a:endParaRPr lang="en-US" sz="900" dirty="0"/>
          </a:p>
        </p:txBody>
      </p:sp>
      <p:sp>
        <p:nvSpPr>
          <p:cNvPr id="21" name="Text 19"/>
          <p:cNvSpPr/>
          <p:nvPr/>
        </p:nvSpPr>
        <p:spPr>
          <a:xfrm>
            <a:off x="457200" y="2854598"/>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22" name="Shape 20"/>
          <p:cNvSpPr/>
          <p:nvPr/>
        </p:nvSpPr>
        <p:spPr>
          <a:xfrm>
            <a:off x="457200" y="2858170"/>
            <a:ext cx="4043363" cy="0"/>
          </a:xfrm>
          <a:prstGeom prst="line">
            <a:avLst/>
          </a:prstGeom>
          <a:noFill/>
          <a:ln w="7144">
            <a:solidFill>
              <a:srgbClr val="E2E8F0"/>
            </a:solidFill>
            <a:prstDash val="solid"/>
          </a:ln>
        </p:spPr>
        <p:txBody>
          <a:bodyPr/>
          <a:lstStyle/>
          <a:p>
            <a:endParaRPr lang="en-IN"/>
          </a:p>
        </p:txBody>
      </p:sp>
      <p:sp>
        <p:nvSpPr>
          <p:cNvPr id="23" name="Shape 21"/>
          <p:cNvSpPr/>
          <p:nvPr/>
        </p:nvSpPr>
        <p:spPr>
          <a:xfrm>
            <a:off x="4496991" y="2854598"/>
            <a:ext cx="0" cy="1888852"/>
          </a:xfrm>
          <a:prstGeom prst="line">
            <a:avLst/>
          </a:prstGeom>
          <a:noFill/>
          <a:ln w="7144">
            <a:solidFill>
              <a:srgbClr val="E2E8F0"/>
            </a:solidFill>
            <a:prstDash val="solid"/>
          </a:ln>
        </p:spPr>
        <p:txBody>
          <a:bodyPr/>
          <a:lstStyle/>
          <a:p>
            <a:endParaRPr lang="en-IN"/>
          </a:p>
        </p:txBody>
      </p:sp>
      <p:sp>
        <p:nvSpPr>
          <p:cNvPr id="24" name="Shape 22"/>
          <p:cNvSpPr/>
          <p:nvPr/>
        </p:nvSpPr>
        <p:spPr>
          <a:xfrm>
            <a:off x="457200" y="4739878"/>
            <a:ext cx="4043363" cy="0"/>
          </a:xfrm>
          <a:prstGeom prst="line">
            <a:avLst/>
          </a:prstGeom>
          <a:noFill/>
          <a:ln w="7144">
            <a:solidFill>
              <a:srgbClr val="E2E8F0"/>
            </a:solidFill>
            <a:prstDash val="solid"/>
          </a:ln>
        </p:spPr>
        <p:txBody>
          <a:bodyPr/>
          <a:lstStyle/>
          <a:p>
            <a:endParaRPr lang="en-IN"/>
          </a:p>
        </p:txBody>
      </p:sp>
      <p:sp>
        <p:nvSpPr>
          <p:cNvPr id="25" name="Shape 23"/>
          <p:cNvSpPr/>
          <p:nvPr/>
        </p:nvSpPr>
        <p:spPr>
          <a:xfrm>
            <a:off x="471488" y="2854598"/>
            <a:ext cx="0" cy="1888852"/>
          </a:xfrm>
          <a:prstGeom prst="line">
            <a:avLst/>
          </a:prstGeom>
          <a:noFill/>
          <a:ln w="28575">
            <a:solidFill>
              <a:srgbClr val="8B5CF6"/>
            </a:solidFill>
            <a:prstDash val="solid"/>
          </a:ln>
        </p:spPr>
        <p:txBody>
          <a:bodyPr/>
          <a:lstStyle/>
          <a:p>
            <a:endParaRPr lang="en-IN"/>
          </a:p>
        </p:txBody>
      </p:sp>
      <p:sp>
        <p:nvSpPr>
          <p:cNvPr id="26" name="Text 24"/>
          <p:cNvSpPr/>
          <p:nvPr/>
        </p:nvSpPr>
        <p:spPr>
          <a:xfrm>
            <a:off x="657225" y="3033192"/>
            <a:ext cx="285750" cy="285750"/>
          </a:xfrm>
          <a:prstGeom prst="roundRect">
            <a:avLst>
              <a:gd name="adj" fmla="val 26667"/>
            </a:avLst>
          </a:prstGeom>
          <a:solidFill>
            <a:srgbClr val="EDE9FE"/>
          </a:solidFill>
          <a:ln/>
        </p:spPr>
        <p:txBody>
          <a:bodyPr wrap="square" rtlCol="0" anchor="ctr"/>
          <a:lstStyle/>
          <a:p>
            <a:pPr marL="0" indent="0">
              <a:buNone/>
            </a:pPr>
            <a:endParaRPr lang="en-US" dirty="0"/>
          </a:p>
        </p:txBody>
      </p:sp>
      <p:sp>
        <p:nvSpPr>
          <p:cNvPr id="27" name="Text 25"/>
          <p:cNvSpPr/>
          <p:nvPr/>
        </p:nvSpPr>
        <p:spPr>
          <a:xfrm>
            <a:off x="686157" y="3062124"/>
            <a:ext cx="227886" cy="227886"/>
          </a:xfrm>
          <a:prstGeom prst="rect">
            <a:avLst/>
          </a:prstGeom>
          <a:noFill/>
          <a:ln/>
        </p:spPr>
        <p:txBody>
          <a:bodyPr wrap="none" lIns="0" tIns="0" rIns="0" bIns="0" rtlCol="0" anchor="ctr"/>
          <a:lstStyle/>
          <a:p>
            <a:pPr marL="0" indent="0" algn="ctr">
              <a:buNone/>
            </a:pPr>
            <a:r>
              <a:rPr lang="en-US" sz="1547" dirty="0">
                <a:solidFill>
                  <a:srgbClr val="8B5CF6"/>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1028700" y="3068910"/>
            <a:ext cx="3293269"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Sequential Training</a:t>
            </a:r>
            <a:endParaRPr lang="en-US" sz="1125" dirty="0"/>
          </a:p>
        </p:txBody>
      </p:sp>
      <p:sp>
        <p:nvSpPr>
          <p:cNvPr id="29" name="Text 27"/>
          <p:cNvSpPr/>
          <p:nvPr/>
        </p:nvSpPr>
        <p:spPr>
          <a:xfrm>
            <a:off x="657225" y="3390379"/>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Models must be trained one after another — each depends on the previous model's errors. This makes boosting harder to parallelize compared to bagging methods like Random Forest.</a:t>
            </a:r>
            <a:endParaRPr lang="en-US" sz="900" dirty="0"/>
          </a:p>
        </p:txBody>
      </p:sp>
      <p:sp>
        <p:nvSpPr>
          <p:cNvPr id="30" name="Text 28"/>
          <p:cNvSpPr/>
          <p:nvPr/>
        </p:nvSpPr>
        <p:spPr>
          <a:xfrm>
            <a:off x="4643438" y="2854598"/>
            <a:ext cx="4043363" cy="1888852"/>
          </a:xfrm>
          <a:prstGeom prst="roundRect">
            <a:avLst>
              <a:gd name="adj" fmla="val 6051"/>
            </a:avLst>
          </a:prstGeom>
          <a:solidFill>
            <a:srgbClr val="F8FAFC"/>
          </a:solidFill>
          <a:ln/>
        </p:spPr>
        <p:txBody>
          <a:bodyPr wrap="square" rtlCol="0" anchor="ctr"/>
          <a:lstStyle/>
          <a:p>
            <a:pPr marL="0" indent="0">
              <a:buNone/>
            </a:pPr>
            <a:endParaRPr lang="en-US" dirty="0"/>
          </a:p>
        </p:txBody>
      </p:sp>
      <p:sp>
        <p:nvSpPr>
          <p:cNvPr id="31" name="Shape 29"/>
          <p:cNvSpPr/>
          <p:nvPr/>
        </p:nvSpPr>
        <p:spPr>
          <a:xfrm>
            <a:off x="4643438" y="2858170"/>
            <a:ext cx="4043363" cy="0"/>
          </a:xfrm>
          <a:prstGeom prst="line">
            <a:avLst/>
          </a:prstGeom>
          <a:noFill/>
          <a:ln w="7144">
            <a:solidFill>
              <a:srgbClr val="E2E8F0"/>
            </a:solidFill>
            <a:prstDash val="solid"/>
          </a:ln>
        </p:spPr>
        <p:txBody>
          <a:bodyPr/>
          <a:lstStyle/>
          <a:p>
            <a:endParaRPr lang="en-IN"/>
          </a:p>
        </p:txBody>
      </p:sp>
      <p:sp>
        <p:nvSpPr>
          <p:cNvPr id="32" name="Shape 30"/>
          <p:cNvSpPr/>
          <p:nvPr/>
        </p:nvSpPr>
        <p:spPr>
          <a:xfrm>
            <a:off x="8683228" y="2854598"/>
            <a:ext cx="0" cy="1888852"/>
          </a:xfrm>
          <a:prstGeom prst="line">
            <a:avLst/>
          </a:prstGeom>
          <a:noFill/>
          <a:ln w="7144">
            <a:solidFill>
              <a:srgbClr val="E2E8F0"/>
            </a:solidFill>
            <a:prstDash val="solid"/>
          </a:ln>
        </p:spPr>
        <p:txBody>
          <a:bodyPr/>
          <a:lstStyle/>
          <a:p>
            <a:endParaRPr lang="en-IN"/>
          </a:p>
        </p:txBody>
      </p:sp>
      <p:sp>
        <p:nvSpPr>
          <p:cNvPr id="33" name="Shape 31"/>
          <p:cNvSpPr/>
          <p:nvPr/>
        </p:nvSpPr>
        <p:spPr>
          <a:xfrm>
            <a:off x="4643438" y="4739878"/>
            <a:ext cx="4043363" cy="0"/>
          </a:xfrm>
          <a:prstGeom prst="line">
            <a:avLst/>
          </a:prstGeom>
          <a:noFill/>
          <a:ln w="7144">
            <a:solidFill>
              <a:srgbClr val="E2E8F0"/>
            </a:solidFill>
            <a:prstDash val="solid"/>
          </a:ln>
        </p:spPr>
        <p:txBody>
          <a:bodyPr/>
          <a:lstStyle/>
          <a:p>
            <a:endParaRPr lang="en-IN"/>
          </a:p>
        </p:txBody>
      </p:sp>
      <p:sp>
        <p:nvSpPr>
          <p:cNvPr id="34" name="Shape 32"/>
          <p:cNvSpPr/>
          <p:nvPr/>
        </p:nvSpPr>
        <p:spPr>
          <a:xfrm>
            <a:off x="4657725" y="2854598"/>
            <a:ext cx="0" cy="1888852"/>
          </a:xfrm>
          <a:prstGeom prst="line">
            <a:avLst/>
          </a:prstGeom>
          <a:noFill/>
          <a:ln w="28575">
            <a:solidFill>
              <a:srgbClr val="0EA5E9"/>
            </a:solidFill>
            <a:prstDash val="solid"/>
          </a:ln>
        </p:spPr>
        <p:txBody>
          <a:bodyPr/>
          <a:lstStyle/>
          <a:p>
            <a:endParaRPr lang="en-IN"/>
          </a:p>
        </p:txBody>
      </p:sp>
      <p:sp>
        <p:nvSpPr>
          <p:cNvPr id="35" name="Text 33"/>
          <p:cNvSpPr/>
          <p:nvPr/>
        </p:nvSpPr>
        <p:spPr>
          <a:xfrm>
            <a:off x="4843463" y="3033192"/>
            <a:ext cx="285750" cy="285750"/>
          </a:xfrm>
          <a:prstGeom prst="roundRect">
            <a:avLst>
              <a:gd name="adj" fmla="val 26667"/>
            </a:avLst>
          </a:prstGeom>
          <a:solidFill>
            <a:srgbClr val="E0F2FE"/>
          </a:solidFill>
          <a:ln/>
        </p:spPr>
        <p:txBody>
          <a:bodyPr wrap="square" rtlCol="0" anchor="ctr"/>
          <a:lstStyle/>
          <a:p>
            <a:pPr marL="0" indent="0">
              <a:buNone/>
            </a:pPr>
            <a:endParaRPr lang="en-US" dirty="0"/>
          </a:p>
        </p:txBody>
      </p:sp>
      <p:sp>
        <p:nvSpPr>
          <p:cNvPr id="36" name="Text 34"/>
          <p:cNvSpPr/>
          <p:nvPr/>
        </p:nvSpPr>
        <p:spPr>
          <a:xfrm>
            <a:off x="4872395" y="3062124"/>
            <a:ext cx="227886" cy="227886"/>
          </a:xfrm>
          <a:prstGeom prst="rect">
            <a:avLst/>
          </a:prstGeom>
          <a:noFill/>
          <a:ln/>
        </p:spPr>
        <p:txBody>
          <a:bodyPr wrap="none" lIns="0" tIns="0" rIns="0" bIns="0" rtlCol="0" anchor="ctr"/>
          <a:lstStyle/>
          <a:p>
            <a:pPr marL="0" indent="0" algn="ctr">
              <a:buNone/>
            </a:pPr>
            <a:r>
              <a:rPr lang="en-US" sz="1547" dirty="0">
                <a:solidFill>
                  <a:srgbClr val="0EA5E9"/>
                </a:solidFill>
                <a:latin typeface="Segoe UI Symbol" pitchFamily="34" charset="0"/>
                <a:ea typeface="Segoe UI Symbol" pitchFamily="34" charset="-122"/>
                <a:cs typeface="Segoe UI Symbol" pitchFamily="34" charset="-120"/>
              </a:rPr>
              <a:t>♛</a:t>
            </a:r>
            <a:endParaRPr lang="en-US" sz="1547" dirty="0"/>
          </a:p>
        </p:txBody>
      </p:sp>
      <p:sp>
        <p:nvSpPr>
          <p:cNvPr id="37" name="Text 35"/>
          <p:cNvSpPr/>
          <p:nvPr/>
        </p:nvSpPr>
        <p:spPr>
          <a:xfrm>
            <a:off x="5214938" y="3068910"/>
            <a:ext cx="3293269" cy="231458"/>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Competition Dominance</a:t>
            </a:r>
            <a:endParaRPr lang="en-US" sz="1125" dirty="0"/>
          </a:p>
        </p:txBody>
      </p:sp>
      <p:sp>
        <p:nvSpPr>
          <p:cNvPr id="38" name="Text 36"/>
          <p:cNvSpPr/>
          <p:nvPr/>
        </p:nvSpPr>
        <p:spPr>
          <a:xfrm>
            <a:off x="4843463" y="3390379"/>
            <a:ext cx="3664744"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Boosting algorithms (especially XGBoost and LightGBM) have dominated structured/tabular data competitions on Kaggle for years, consistently outperforming deep learning on tabular tasks.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14313" y="1857375"/>
            <a:ext cx="2286000" cy="1543050"/>
          </a:xfrm>
          <a:prstGeom prst="rect">
            <a:avLst/>
          </a:prstGeom>
          <a:noFill/>
          <a:ln/>
        </p:spPr>
        <p:txBody>
          <a:bodyPr wrap="square" lIns="0" tIns="0" rIns="0" bIns="0" rtlCol="0" anchor="t"/>
          <a:lstStyle/>
          <a:p>
            <a:pPr marL="0" indent="0" algn="l">
              <a:lnSpc>
                <a:spcPts val="11250"/>
              </a:lnSpc>
              <a:buNone/>
            </a:pPr>
            <a:r>
              <a:rPr lang="en-US" sz="11250" b="1" dirty="0">
                <a:solidFill>
                  <a:srgbClr val="0EA5E9">
                    <a:alpha val="12000"/>
                  </a:srgbClr>
                </a:solidFill>
                <a:latin typeface="Liberation Sans Narrow" pitchFamily="34" charset="0"/>
                <a:ea typeface="Liberation Sans Narrow" pitchFamily="34" charset="-122"/>
                <a:cs typeface="Liberation Sans Narrow" pitchFamily="34" charset="-120"/>
              </a:rPr>
              <a:t>02</a:t>
            </a:r>
            <a:endParaRPr lang="en-US" sz="11250" dirty="0"/>
          </a:p>
        </p:txBody>
      </p:sp>
      <p:sp>
        <p:nvSpPr>
          <p:cNvPr id="3" name="Text 1"/>
          <p:cNvSpPr/>
          <p:nvPr/>
        </p:nvSpPr>
        <p:spPr>
          <a:xfrm>
            <a:off x="1000125" y="1841636"/>
            <a:ext cx="4739960" cy="164592"/>
          </a:xfrm>
          <a:prstGeom prst="rect">
            <a:avLst/>
          </a:prstGeom>
          <a:noFill/>
          <a:ln/>
        </p:spPr>
        <p:txBody>
          <a:bodyPr wrap="none" lIns="0" tIns="0" rIns="0" bIns="0" rtlCol="0" anchor="t"/>
          <a:lstStyle/>
          <a:p>
            <a:pPr marL="0" indent="0" algn="l">
              <a:lnSpc>
                <a:spcPts val="1097"/>
              </a:lnSpc>
              <a:buNone/>
            </a:pPr>
            <a:r>
              <a:rPr lang="en-US" sz="800" kern="0" spc="113" dirty="0">
                <a:solidFill>
                  <a:srgbClr val="0EA5E9"/>
                </a:solidFill>
                <a:latin typeface="Courier New" pitchFamily="34" charset="0"/>
                <a:ea typeface="Courier New" pitchFamily="34" charset="-122"/>
                <a:cs typeface="Courier New" pitchFamily="34" charset="-120"/>
              </a:rPr>
              <a:t>SECTION TWO</a:t>
            </a:r>
            <a:endParaRPr lang="en-US" sz="800" dirty="0"/>
          </a:p>
        </p:txBody>
      </p:sp>
      <p:sp>
        <p:nvSpPr>
          <p:cNvPr id="4" name="Text 2"/>
          <p:cNvSpPr/>
          <p:nvPr/>
        </p:nvSpPr>
        <p:spPr>
          <a:xfrm>
            <a:off x="1000125" y="2123815"/>
            <a:ext cx="4622149" cy="296193"/>
          </a:xfrm>
          <a:prstGeom prst="rect">
            <a:avLst/>
          </a:prstGeom>
          <a:noFill/>
          <a:ln/>
        </p:spPr>
        <p:txBody>
          <a:bodyPr wrap="non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AdaBoost</a:t>
            </a:r>
            <a:endParaRPr lang="en-US" sz="1800" dirty="0"/>
          </a:p>
        </p:txBody>
      </p:sp>
      <p:sp>
        <p:nvSpPr>
          <p:cNvPr id="5" name="Text 3"/>
          <p:cNvSpPr/>
          <p:nvPr/>
        </p:nvSpPr>
        <p:spPr>
          <a:xfrm>
            <a:off x="1000125" y="2512368"/>
            <a:ext cx="3611054" cy="246888"/>
          </a:xfrm>
          <a:prstGeom prst="rect">
            <a:avLst/>
          </a:prstGeom>
          <a:noFill/>
          <a:ln/>
        </p:spPr>
        <p:txBody>
          <a:bodyPr wrap="square" lIns="0" tIns="0" rIns="0" bIns="0" rtlCol="0" anchor="t"/>
          <a:lstStyle/>
          <a:p>
            <a:pPr marL="0" indent="0" algn="l">
              <a:lnSpc>
                <a:spcPts val="1800"/>
              </a:lnSpc>
              <a:buNone/>
            </a:pPr>
            <a:r>
              <a:rPr lang="en-US" sz="1125" dirty="0">
                <a:solidFill>
                  <a:srgbClr val="334155"/>
                </a:solidFill>
                <a:latin typeface="Carlito" pitchFamily="34" charset="0"/>
                <a:ea typeface="Carlito" pitchFamily="34" charset="-122"/>
                <a:cs typeface="Carlito" pitchFamily="34" charset="-120"/>
              </a:rPr>
              <a:t>Adaptive Boosting — The Pioneer of Boosting Algorithms</a:t>
            </a:r>
            <a:endParaRPr lang="en-US" sz="1125" dirty="0"/>
          </a:p>
        </p:txBody>
      </p:sp>
      <p:sp>
        <p:nvSpPr>
          <p:cNvPr id="6" name="Text 4"/>
          <p:cNvSpPr/>
          <p:nvPr/>
        </p:nvSpPr>
        <p:spPr>
          <a:xfrm>
            <a:off x="1000125" y="2912418"/>
            <a:ext cx="40005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7" name="Text 5"/>
          <p:cNvSpPr/>
          <p:nvPr/>
        </p:nvSpPr>
        <p:spPr>
          <a:xfrm>
            <a:off x="977265" y="3063922"/>
            <a:ext cx="1696708" cy="250631"/>
          </a:xfrm>
          <a:prstGeom prst="roundRect">
            <a:avLst>
              <a:gd name="adj" fmla="val 76008"/>
            </a:avLst>
          </a:prstGeom>
          <a:solidFill>
            <a:srgbClr val="E0F2FE"/>
          </a:solidFill>
          <a:ln/>
        </p:spPr>
        <p:txBody>
          <a:bodyPr wrap="square" rtlCol="0" anchor="ctr"/>
          <a:lstStyle/>
          <a:p>
            <a:pPr marL="0" indent="0">
              <a:buNone/>
            </a:pPr>
            <a:endParaRPr lang="en-US" dirty="0"/>
          </a:p>
        </p:txBody>
      </p:sp>
      <p:sp>
        <p:nvSpPr>
          <p:cNvPr id="8" name="Text 6"/>
          <p:cNvSpPr/>
          <p:nvPr/>
        </p:nvSpPr>
        <p:spPr>
          <a:xfrm>
            <a:off x="1000125" y="3076724"/>
            <a:ext cx="1650988" cy="225028"/>
          </a:xfrm>
          <a:prstGeom prst="rect">
            <a:avLst/>
          </a:prstGeom>
          <a:noFill/>
          <a:ln/>
        </p:spPr>
        <p:txBody>
          <a:bodyPr wrap="none" lIns="114300" tIns="42863" rIns="114300" bIns="42863" rtlCol="0" anchor="ctr"/>
          <a:lstStyle/>
          <a:p>
            <a:pPr marL="0" indent="0" algn="ctr">
              <a:lnSpc>
                <a:spcPts val="1097"/>
              </a:lnSpc>
              <a:buNone/>
            </a:pPr>
            <a:r>
              <a:rPr lang="en-US" sz="800" kern="0" spc="28" dirty="0">
                <a:solidFill>
                  <a:srgbClr val="0284C7"/>
                </a:solidFill>
                <a:latin typeface="Liberation Sans Narrow" pitchFamily="34" charset="0"/>
                <a:ea typeface="Liberation Sans Narrow" pitchFamily="34" charset="-122"/>
                <a:cs typeface="Liberation Sans Narrow" pitchFamily="34" charset="-120"/>
              </a:rPr>
              <a:t>1995 — FREUND &amp; SCHAPIRE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8636000" cy="240619"/>
          </a:xfrm>
          <a:prstGeom prst="rect">
            <a:avLst/>
          </a:prstGeom>
          <a:noFill/>
          <a:ln/>
        </p:spPr>
        <p:txBody>
          <a:bodyPr wrap="non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What is AdaBoost?</a:t>
            </a:r>
            <a:endParaRPr lang="en-US" sz="1350" dirty="0"/>
          </a:p>
        </p:txBody>
      </p:sp>
      <p:sp>
        <p:nvSpPr>
          <p:cNvPr id="3" name="Text 1"/>
          <p:cNvSpPr/>
          <p:nvPr/>
        </p:nvSpPr>
        <p:spPr>
          <a:xfrm>
            <a:off x="1059619" y="826443"/>
            <a:ext cx="2850356" cy="2150269"/>
          </a:xfrm>
          <a:prstGeom prst="roundRect">
            <a:avLst>
              <a:gd name="adj" fmla="val 5316"/>
            </a:avLst>
          </a:prstGeom>
          <a:solidFill>
            <a:srgbClr val="F8FAFC"/>
          </a:solidFill>
          <a:ln w="7144">
            <a:solidFill>
              <a:srgbClr val="E2E8F0"/>
            </a:solidFill>
            <a:prstDash val="solid"/>
          </a:ln>
          <a:effectLst>
            <a:outerShdw blurRad="28575" dist="9525" dir="5400000" algn="bl" rotWithShape="0">
              <a:srgbClr val="000000">
                <a:alpha val="6000"/>
              </a:srgbClr>
            </a:outerShdw>
          </a:effectLst>
        </p:spPr>
        <p:txBody>
          <a:bodyPr wrap="square" rtlCol="0" anchor="ctr"/>
          <a:lstStyle/>
          <a:p>
            <a:pPr marL="0" indent="0">
              <a:buNone/>
            </a:pPr>
            <a:endParaRPr lang="en-US" dirty="0"/>
          </a:p>
        </p:txBody>
      </p:sp>
      <p:pic>
        <p:nvPicPr>
          <p:cNvPr id="4" name="Image 0" descr="/tmp/h2p-fit-1783264334764-83u62c.png"/>
          <p:cNvPicPr>
            <a:picLocks noChangeAspect="1"/>
          </p:cNvPicPr>
          <p:nvPr/>
        </p:nvPicPr>
        <p:blipFill>
          <a:blip r:embed="rId3"/>
          <a:stretch>
            <a:fillRect/>
          </a:stretch>
        </p:blipFill>
        <p:spPr>
          <a:xfrm>
            <a:off x="1134628" y="901452"/>
            <a:ext cx="2700338" cy="2000250"/>
          </a:xfrm>
          <a:prstGeom prst="rect">
            <a:avLst/>
          </a:prstGeom>
        </p:spPr>
      </p:pic>
      <p:sp>
        <p:nvSpPr>
          <p:cNvPr id="5" name="Text 2"/>
          <p:cNvSpPr/>
          <p:nvPr/>
        </p:nvSpPr>
        <p:spPr>
          <a:xfrm>
            <a:off x="4170722" y="794296"/>
            <a:ext cx="4773141" cy="419517"/>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AdaBoost (Adaptive Boosting) was the first successful boosting algorithm, introduced in 1995 by Yoav Freund and Robert Schapire. It won the Gödel Prize for its theoretical significance.</a:t>
            </a:r>
            <a:endParaRPr lang="en-US" sz="900" dirty="0"/>
          </a:p>
        </p:txBody>
      </p:sp>
      <p:sp>
        <p:nvSpPr>
          <p:cNvPr id="6" name="Text 3"/>
          <p:cNvSpPr/>
          <p:nvPr/>
        </p:nvSpPr>
        <p:spPr>
          <a:xfrm>
            <a:off x="4170722" y="1282750"/>
            <a:ext cx="4773141" cy="629275"/>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The core mechanism: after each weak learner is trained, AdaBoost increases the weights of misclassified training samples and decreases the weights of correctly classified ones. The next weak learner then focuses more on the hard examples.</a:t>
            </a:r>
            <a:endParaRPr lang="en-US" sz="900" dirty="0"/>
          </a:p>
        </p:txBody>
      </p:sp>
      <p:sp>
        <p:nvSpPr>
          <p:cNvPr id="7" name="Text 4"/>
          <p:cNvSpPr/>
          <p:nvPr/>
        </p:nvSpPr>
        <p:spPr>
          <a:xfrm>
            <a:off x="4170722" y="1965424"/>
            <a:ext cx="4773141" cy="629275"/>
          </a:xfrm>
          <a:prstGeom prst="rect">
            <a:avLst/>
          </a:prstGeom>
          <a:noFill/>
          <a:ln/>
        </p:spPr>
        <p:txBody>
          <a:bodyPr wrap="square" lIns="0" tIns="0" rIns="0" bIns="0" rtlCol="0" anchor="t"/>
          <a:lstStyle/>
          <a:p>
            <a:pPr marL="0" indent="0" algn="l">
              <a:lnSpc>
                <a:spcPts val="1530"/>
              </a:lnSpc>
              <a:buNone/>
            </a:pPr>
            <a:r>
              <a:rPr lang="en-US" sz="900" dirty="0">
                <a:solidFill>
                  <a:srgbClr val="0F172A"/>
                </a:solidFill>
                <a:latin typeface="Carlito" pitchFamily="34" charset="0"/>
                <a:ea typeface="Carlito" pitchFamily="34" charset="-122"/>
                <a:cs typeface="Carlito" pitchFamily="34" charset="-120"/>
              </a:rPr>
              <a:t>Each weak learner is assigned a weight (alpha) based on its accuracy. More accurate learners get higher weights in the final vote. The final prediction is a weighted majority vote of all weak learners.</a:t>
            </a:r>
            <a:endParaRPr lang="en-US" sz="900" dirty="0"/>
          </a:p>
        </p:txBody>
      </p:sp>
      <p:sp>
        <p:nvSpPr>
          <p:cNvPr id="8" name="Text 5"/>
          <p:cNvSpPr/>
          <p:nvPr/>
        </p:nvSpPr>
        <p:spPr>
          <a:xfrm>
            <a:off x="4170722" y="2648099"/>
            <a:ext cx="4773141" cy="419517"/>
          </a:xfrm>
          <a:prstGeom prst="rect">
            <a:avLst/>
          </a:prstGeom>
          <a:noFill/>
          <a:ln/>
        </p:spPr>
        <p:txBody>
          <a:bodyPr wrap="square" lIns="0" tIns="0" rIns="0" bIns="0" rtlCol="0" anchor="t"/>
          <a:lstStyle/>
          <a:p>
            <a:pPr marL="0" indent="0" algn="l">
              <a:lnSpc>
                <a:spcPts val="1530"/>
              </a:lnSpc>
              <a:buNone/>
            </a:pPr>
            <a:r>
              <a:rPr lang="en-US" sz="900" b="1" dirty="0">
                <a:solidFill>
                  <a:srgbClr val="0F172A"/>
                </a:solidFill>
                <a:latin typeface="Carlito" pitchFamily="34" charset="0"/>
                <a:ea typeface="Carlito" pitchFamily="34" charset="-122"/>
                <a:cs typeface="Carlito" pitchFamily="34" charset="-120"/>
              </a:rPr>
              <a:t>Base model:</a:t>
            </a:r>
            <a:r>
              <a:rPr lang="en-US" sz="900" dirty="0">
                <a:solidFill>
                  <a:srgbClr val="334155"/>
                </a:solidFill>
                <a:latin typeface="Carlito" pitchFamily="34" charset="0"/>
                <a:ea typeface="Carlito" pitchFamily="34" charset="-122"/>
                <a:cs typeface="Carlito" pitchFamily="34" charset="-120"/>
              </a:rPr>
              <a:t> Decision stumps (trees with a single split) are the default and work surprisingly well.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5775" y="233742"/>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How AdaBoost Works — The Complete Loop</a:t>
            </a:r>
            <a:endParaRPr lang="en-US" sz="1800" dirty="0"/>
          </a:p>
        </p:txBody>
      </p:sp>
      <p:sp>
        <p:nvSpPr>
          <p:cNvPr id="3" name="Text 1"/>
          <p:cNvSpPr/>
          <p:nvPr/>
        </p:nvSpPr>
        <p:spPr>
          <a:xfrm>
            <a:off x="457200" y="49261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592931" y="971244"/>
            <a:ext cx="14288" cy="57150"/>
          </a:xfrm>
          <a:prstGeom prst="rect">
            <a:avLst/>
          </a:prstGeom>
          <a:solidFill>
            <a:srgbClr val="E2E8F0"/>
          </a:solidFill>
          <a:ln/>
        </p:spPr>
        <p:txBody>
          <a:bodyPr wrap="square" rtlCol="0" anchor="ctr"/>
          <a:lstStyle/>
          <a:p>
            <a:pPr marL="0" indent="0">
              <a:buNone/>
            </a:pPr>
            <a:endParaRPr lang="en-US" dirty="0"/>
          </a:p>
        </p:txBody>
      </p:sp>
      <p:sp>
        <p:nvSpPr>
          <p:cNvPr id="5" name="Text 3"/>
          <p:cNvSpPr/>
          <p:nvPr/>
        </p:nvSpPr>
        <p:spPr>
          <a:xfrm>
            <a:off x="889397" y="582441"/>
            <a:ext cx="7937119" cy="803672"/>
          </a:xfrm>
          <a:prstGeom prst="roundRect">
            <a:avLst>
              <a:gd name="adj" fmla="val 1422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6" name="Text 4"/>
          <p:cNvSpPr/>
          <p:nvPr/>
        </p:nvSpPr>
        <p:spPr>
          <a:xfrm>
            <a:off x="1035843" y="714601"/>
            <a:ext cx="708639" cy="257175"/>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7" name="Text 5"/>
          <p:cNvSpPr/>
          <p:nvPr/>
        </p:nvSpPr>
        <p:spPr>
          <a:xfrm>
            <a:off x="1831702" y="700313"/>
            <a:ext cx="6828351"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56" dirty="0">
                <a:solidFill>
                  <a:srgbClr val="0EA5E9"/>
                </a:solidFill>
                <a:latin typeface="Liberation Sans Narrow" pitchFamily="34" charset="0"/>
                <a:ea typeface="Liberation Sans Narrow" pitchFamily="34" charset="-122"/>
                <a:cs typeface="Liberation Sans Narrow" pitchFamily="34" charset="-120"/>
              </a:rPr>
              <a:t>STEP 1</a:t>
            </a:r>
            <a:endParaRPr lang="en-US" sz="800" dirty="0"/>
          </a:p>
        </p:txBody>
      </p:sp>
      <p:sp>
        <p:nvSpPr>
          <p:cNvPr id="8" name="Text 6"/>
          <p:cNvSpPr/>
          <p:nvPr/>
        </p:nvSpPr>
        <p:spPr>
          <a:xfrm>
            <a:off x="1831701" y="853904"/>
            <a:ext cx="5492565" cy="215456"/>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Initialize Equal Weights</a:t>
            </a:r>
            <a:endParaRPr lang="en-US" sz="1125" dirty="0"/>
          </a:p>
        </p:txBody>
      </p:sp>
      <p:sp>
        <p:nvSpPr>
          <p:cNvPr id="9" name="Text 7"/>
          <p:cNvSpPr/>
          <p:nvPr/>
        </p:nvSpPr>
        <p:spPr>
          <a:xfrm>
            <a:off x="1831702" y="1096791"/>
            <a:ext cx="6152238" cy="171450"/>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All training samples start with equal weight: w_i = 1/N. Every sample matters equally at the beginning.</a:t>
            </a:r>
            <a:endParaRPr lang="en-US" sz="900" dirty="0"/>
          </a:p>
        </p:txBody>
      </p:sp>
      <p:sp>
        <p:nvSpPr>
          <p:cNvPr id="10" name="Text 8"/>
          <p:cNvSpPr/>
          <p:nvPr/>
        </p:nvSpPr>
        <p:spPr>
          <a:xfrm>
            <a:off x="592931" y="1853497"/>
            <a:ext cx="14288" cy="57150"/>
          </a:xfrm>
          <a:prstGeom prst="rect">
            <a:avLst/>
          </a:prstGeom>
          <a:solidFill>
            <a:srgbClr val="E2E8F0"/>
          </a:solidFill>
          <a:ln/>
        </p:spPr>
        <p:txBody>
          <a:bodyPr wrap="square" rtlCol="0" anchor="ctr"/>
          <a:lstStyle/>
          <a:p>
            <a:pPr marL="0" indent="0">
              <a:buNone/>
            </a:pPr>
            <a:endParaRPr lang="en-US" dirty="0"/>
          </a:p>
        </p:txBody>
      </p:sp>
      <p:sp>
        <p:nvSpPr>
          <p:cNvPr id="11" name="Text 9"/>
          <p:cNvSpPr/>
          <p:nvPr/>
        </p:nvSpPr>
        <p:spPr>
          <a:xfrm>
            <a:off x="889397" y="1512460"/>
            <a:ext cx="7922831" cy="765901"/>
          </a:xfrm>
          <a:prstGeom prst="roundRect">
            <a:avLst>
              <a:gd name="adj" fmla="val 1422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2" name="Text 10"/>
          <p:cNvSpPr/>
          <p:nvPr/>
        </p:nvSpPr>
        <p:spPr>
          <a:xfrm>
            <a:off x="896541" y="1630723"/>
            <a:ext cx="991307" cy="257175"/>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13" name="Text 11"/>
          <p:cNvSpPr/>
          <p:nvPr/>
        </p:nvSpPr>
        <p:spPr>
          <a:xfrm>
            <a:off x="1826912" y="1596213"/>
            <a:ext cx="6409618"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56" dirty="0">
                <a:solidFill>
                  <a:srgbClr val="0EA5E9"/>
                </a:solidFill>
                <a:latin typeface="Liberation Sans Narrow" pitchFamily="34" charset="0"/>
                <a:ea typeface="Liberation Sans Narrow" pitchFamily="34" charset="-122"/>
                <a:cs typeface="Liberation Sans Narrow" pitchFamily="34" charset="-120"/>
              </a:rPr>
              <a:t>STEP 2</a:t>
            </a:r>
            <a:endParaRPr lang="en-US" sz="800" dirty="0"/>
          </a:p>
        </p:txBody>
      </p:sp>
      <p:sp>
        <p:nvSpPr>
          <p:cNvPr id="14" name="Text 12"/>
          <p:cNvSpPr/>
          <p:nvPr/>
        </p:nvSpPr>
        <p:spPr>
          <a:xfrm>
            <a:off x="1826912" y="1749804"/>
            <a:ext cx="6082205" cy="215456"/>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Train Weak Learner</a:t>
            </a:r>
            <a:endParaRPr lang="en-US" sz="1125" dirty="0"/>
          </a:p>
        </p:txBody>
      </p:sp>
      <p:sp>
        <p:nvSpPr>
          <p:cNvPr id="15" name="Text 13"/>
          <p:cNvSpPr/>
          <p:nvPr/>
        </p:nvSpPr>
        <p:spPr>
          <a:xfrm>
            <a:off x="1826912" y="1992691"/>
            <a:ext cx="5792577" cy="171450"/>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Fit a decision stump to the weighted training data. The stump finds the single best feature and threshold to split on</a:t>
            </a:r>
            <a:endParaRPr lang="en-US" sz="900" dirty="0"/>
          </a:p>
        </p:txBody>
      </p:sp>
      <p:sp>
        <p:nvSpPr>
          <p:cNvPr id="16" name="Text 14"/>
          <p:cNvSpPr/>
          <p:nvPr/>
        </p:nvSpPr>
        <p:spPr>
          <a:xfrm>
            <a:off x="592931" y="2735751"/>
            <a:ext cx="14288" cy="57150"/>
          </a:xfrm>
          <a:prstGeom prst="rect">
            <a:avLst/>
          </a:prstGeom>
          <a:solidFill>
            <a:srgbClr val="E2E8F0"/>
          </a:solidFill>
          <a:ln/>
        </p:spPr>
        <p:txBody>
          <a:bodyPr wrap="square" rtlCol="0" anchor="ctr"/>
          <a:lstStyle/>
          <a:p>
            <a:pPr marL="0" indent="0">
              <a:buNone/>
            </a:pPr>
            <a:endParaRPr lang="en-US" dirty="0"/>
          </a:p>
        </p:txBody>
      </p:sp>
      <p:sp>
        <p:nvSpPr>
          <p:cNvPr id="17" name="Text 15"/>
          <p:cNvSpPr/>
          <p:nvPr/>
        </p:nvSpPr>
        <p:spPr>
          <a:xfrm>
            <a:off x="889397" y="2320510"/>
            <a:ext cx="7922831" cy="803672"/>
          </a:xfrm>
          <a:prstGeom prst="roundRect">
            <a:avLst>
              <a:gd name="adj" fmla="val 1422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18" name="Text 16"/>
          <p:cNvSpPr/>
          <p:nvPr/>
        </p:nvSpPr>
        <p:spPr>
          <a:xfrm>
            <a:off x="939488" y="2499578"/>
            <a:ext cx="962620" cy="257175"/>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1818693" y="2403402"/>
            <a:ext cx="6438305"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56" dirty="0">
                <a:solidFill>
                  <a:srgbClr val="0EA5E9"/>
                </a:solidFill>
                <a:latin typeface="Liberation Sans Narrow" pitchFamily="34" charset="0"/>
                <a:ea typeface="Liberation Sans Narrow" pitchFamily="34" charset="-122"/>
                <a:cs typeface="Liberation Sans Narrow" pitchFamily="34" charset="-120"/>
              </a:rPr>
              <a:t>STEP 3</a:t>
            </a:r>
            <a:endParaRPr lang="en-US" sz="800" dirty="0"/>
          </a:p>
        </p:txBody>
      </p:sp>
      <p:sp>
        <p:nvSpPr>
          <p:cNvPr id="20" name="Text 18"/>
          <p:cNvSpPr/>
          <p:nvPr/>
        </p:nvSpPr>
        <p:spPr>
          <a:xfrm>
            <a:off x="1818693" y="2556993"/>
            <a:ext cx="6270549" cy="215456"/>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Calculate Error &amp; Alpha</a:t>
            </a:r>
            <a:endParaRPr lang="en-US" sz="1125" dirty="0"/>
          </a:p>
        </p:txBody>
      </p:sp>
      <p:sp>
        <p:nvSpPr>
          <p:cNvPr id="21" name="Text 19"/>
          <p:cNvSpPr/>
          <p:nvPr/>
        </p:nvSpPr>
        <p:spPr>
          <a:xfrm>
            <a:off x="1818693" y="2799880"/>
            <a:ext cx="5971952" cy="171450"/>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Compute weighted error rate. Calculate alpha (model weight): lower error = higher alpha. If error &gt; 0.5, flip predictions.</a:t>
            </a:r>
            <a:endParaRPr lang="en-US" sz="900" dirty="0"/>
          </a:p>
        </p:txBody>
      </p:sp>
      <p:sp>
        <p:nvSpPr>
          <p:cNvPr id="22" name="Text 20"/>
          <p:cNvSpPr/>
          <p:nvPr/>
        </p:nvSpPr>
        <p:spPr>
          <a:xfrm>
            <a:off x="592931" y="3618004"/>
            <a:ext cx="14288" cy="57150"/>
          </a:xfrm>
          <a:prstGeom prst="rect">
            <a:avLst/>
          </a:prstGeom>
          <a:solidFill>
            <a:srgbClr val="E2E8F0"/>
          </a:solidFill>
          <a:ln/>
        </p:spPr>
        <p:txBody>
          <a:bodyPr wrap="square" rtlCol="0" anchor="ctr"/>
          <a:lstStyle/>
          <a:p>
            <a:pPr marL="0" indent="0">
              <a:buNone/>
            </a:pPr>
            <a:endParaRPr lang="en-US" dirty="0"/>
          </a:p>
        </p:txBody>
      </p:sp>
      <p:sp>
        <p:nvSpPr>
          <p:cNvPr id="23" name="Text 21"/>
          <p:cNvSpPr/>
          <p:nvPr/>
        </p:nvSpPr>
        <p:spPr>
          <a:xfrm>
            <a:off x="885825" y="3187593"/>
            <a:ext cx="7922831" cy="884492"/>
          </a:xfrm>
          <a:prstGeom prst="roundRect">
            <a:avLst>
              <a:gd name="adj" fmla="val 11722"/>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24" name="Text 22"/>
          <p:cNvSpPr/>
          <p:nvPr/>
        </p:nvSpPr>
        <p:spPr>
          <a:xfrm>
            <a:off x="1000430" y="3369787"/>
            <a:ext cx="781459" cy="257175"/>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25" name="Text 23"/>
          <p:cNvSpPr/>
          <p:nvPr/>
        </p:nvSpPr>
        <p:spPr>
          <a:xfrm>
            <a:off x="1808132" y="3258194"/>
            <a:ext cx="6619466"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56" dirty="0">
                <a:solidFill>
                  <a:srgbClr val="0EA5E9"/>
                </a:solidFill>
                <a:latin typeface="Liberation Sans Narrow" pitchFamily="34" charset="0"/>
                <a:ea typeface="Liberation Sans Narrow" pitchFamily="34" charset="-122"/>
                <a:cs typeface="Liberation Sans Narrow" pitchFamily="34" charset="-120"/>
              </a:rPr>
              <a:t>STEP 4</a:t>
            </a:r>
            <a:endParaRPr lang="en-US" sz="800" dirty="0"/>
          </a:p>
        </p:txBody>
      </p:sp>
      <p:sp>
        <p:nvSpPr>
          <p:cNvPr id="26" name="Text 24"/>
          <p:cNvSpPr/>
          <p:nvPr/>
        </p:nvSpPr>
        <p:spPr>
          <a:xfrm>
            <a:off x="1828955" y="3393020"/>
            <a:ext cx="6619466" cy="215456"/>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Update Sample Weights</a:t>
            </a:r>
            <a:endParaRPr lang="en-US" sz="1125" dirty="0"/>
          </a:p>
        </p:txBody>
      </p:sp>
      <p:sp>
        <p:nvSpPr>
          <p:cNvPr id="27" name="Text 25"/>
          <p:cNvSpPr/>
          <p:nvPr/>
        </p:nvSpPr>
        <p:spPr>
          <a:xfrm>
            <a:off x="1822419" y="3635743"/>
            <a:ext cx="6619466" cy="342900"/>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Increase weights for misclassified samples, decrease for correct ones. Normalize weights so they sum to 1. This makes the next learner focus on hard examples.</a:t>
            </a:r>
            <a:endParaRPr lang="en-US" sz="900" dirty="0"/>
          </a:p>
        </p:txBody>
      </p:sp>
      <p:sp>
        <p:nvSpPr>
          <p:cNvPr id="28" name="Text 26"/>
          <p:cNvSpPr/>
          <p:nvPr/>
        </p:nvSpPr>
        <p:spPr>
          <a:xfrm>
            <a:off x="939488" y="4134456"/>
            <a:ext cx="7926403" cy="833390"/>
          </a:xfrm>
          <a:prstGeom prst="roundRect">
            <a:avLst>
              <a:gd name="adj" fmla="val 11636"/>
            </a:avLst>
          </a:prstGeom>
          <a:solidFill>
            <a:srgbClr val="F8FAFC"/>
          </a:solidFill>
          <a:ln/>
        </p:spPr>
        <p:txBody>
          <a:bodyPr wrap="square" rtlCol="0" anchor="ctr"/>
          <a:lstStyle/>
          <a:p>
            <a:pPr marL="0" indent="0">
              <a:buNone/>
            </a:pPr>
            <a:endParaRPr lang="en-US" dirty="0"/>
          </a:p>
        </p:txBody>
      </p:sp>
      <p:sp>
        <p:nvSpPr>
          <p:cNvPr id="29" name="Shape 27"/>
          <p:cNvSpPr/>
          <p:nvPr/>
        </p:nvSpPr>
        <p:spPr>
          <a:xfrm>
            <a:off x="885825" y="3996294"/>
            <a:ext cx="7940691" cy="36911"/>
          </a:xfrm>
          <a:prstGeom prst="line">
            <a:avLst/>
          </a:prstGeom>
          <a:noFill/>
          <a:ln w="7144">
            <a:solidFill>
              <a:srgbClr val="E2E8F0"/>
            </a:solidFill>
            <a:prstDash val="solid"/>
          </a:ln>
        </p:spPr>
        <p:txBody>
          <a:bodyPr/>
          <a:lstStyle/>
          <a:p>
            <a:endParaRPr lang="en-IN"/>
          </a:p>
        </p:txBody>
      </p:sp>
      <p:sp>
        <p:nvSpPr>
          <p:cNvPr id="30" name="Shape 28"/>
          <p:cNvSpPr/>
          <p:nvPr/>
        </p:nvSpPr>
        <p:spPr>
          <a:xfrm>
            <a:off x="8683228" y="3992723"/>
            <a:ext cx="0" cy="982266"/>
          </a:xfrm>
          <a:prstGeom prst="line">
            <a:avLst/>
          </a:prstGeom>
          <a:noFill/>
          <a:ln w="7144">
            <a:solidFill>
              <a:srgbClr val="E2E8F0"/>
            </a:solidFill>
            <a:prstDash val="solid"/>
          </a:ln>
        </p:spPr>
        <p:txBody>
          <a:bodyPr/>
          <a:lstStyle/>
          <a:p>
            <a:endParaRPr lang="en-IN"/>
          </a:p>
        </p:txBody>
      </p:sp>
      <p:sp>
        <p:nvSpPr>
          <p:cNvPr id="31" name="Shape 29"/>
          <p:cNvSpPr/>
          <p:nvPr/>
        </p:nvSpPr>
        <p:spPr>
          <a:xfrm>
            <a:off x="885825" y="4971417"/>
            <a:ext cx="7926403" cy="0"/>
          </a:xfrm>
          <a:prstGeom prst="line">
            <a:avLst/>
          </a:prstGeom>
          <a:noFill/>
          <a:ln w="7144">
            <a:solidFill>
              <a:srgbClr val="E2E8F0"/>
            </a:solidFill>
            <a:prstDash val="solid"/>
          </a:ln>
        </p:spPr>
        <p:txBody>
          <a:bodyPr/>
          <a:lstStyle/>
          <a:p>
            <a:endParaRPr lang="en-IN"/>
          </a:p>
        </p:txBody>
      </p:sp>
      <p:sp>
        <p:nvSpPr>
          <p:cNvPr id="32" name="Shape 30"/>
          <p:cNvSpPr/>
          <p:nvPr/>
        </p:nvSpPr>
        <p:spPr>
          <a:xfrm>
            <a:off x="896541" y="3992723"/>
            <a:ext cx="0" cy="982266"/>
          </a:xfrm>
          <a:prstGeom prst="line">
            <a:avLst/>
          </a:prstGeom>
          <a:noFill/>
          <a:ln w="21431">
            <a:solidFill>
              <a:srgbClr val="0EA5E9"/>
            </a:solidFill>
            <a:prstDash val="solid"/>
          </a:ln>
        </p:spPr>
        <p:txBody>
          <a:bodyPr/>
          <a:lstStyle/>
          <a:p>
            <a:endParaRPr lang="en-IN"/>
          </a:p>
        </p:txBody>
      </p:sp>
      <p:sp>
        <p:nvSpPr>
          <p:cNvPr id="33" name="Text 31"/>
          <p:cNvSpPr/>
          <p:nvPr/>
        </p:nvSpPr>
        <p:spPr>
          <a:xfrm>
            <a:off x="1120853" y="4114167"/>
            <a:ext cx="494039" cy="257175"/>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34" name="Text 32"/>
          <p:cNvSpPr/>
          <p:nvPr/>
        </p:nvSpPr>
        <p:spPr>
          <a:xfrm>
            <a:off x="1813789" y="4114167"/>
            <a:ext cx="7011364"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56" dirty="0">
                <a:solidFill>
                  <a:srgbClr val="0EA5E9"/>
                </a:solidFill>
                <a:latin typeface="Liberation Sans Narrow" pitchFamily="34" charset="0"/>
                <a:ea typeface="Liberation Sans Narrow" pitchFamily="34" charset="-122"/>
                <a:cs typeface="Liberation Sans Narrow" pitchFamily="34" charset="-120"/>
              </a:rPr>
              <a:t>STEP 5</a:t>
            </a:r>
            <a:endParaRPr lang="en-US" sz="800" dirty="0"/>
          </a:p>
        </p:txBody>
      </p:sp>
      <p:sp>
        <p:nvSpPr>
          <p:cNvPr id="35" name="Text 33"/>
          <p:cNvSpPr/>
          <p:nvPr/>
        </p:nvSpPr>
        <p:spPr>
          <a:xfrm>
            <a:off x="1813789" y="4267757"/>
            <a:ext cx="7011364" cy="186519"/>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Repeat &amp; Combine</a:t>
            </a:r>
            <a:endParaRPr lang="en-US" sz="1125" dirty="0"/>
          </a:p>
        </p:txBody>
      </p:sp>
      <p:sp>
        <p:nvSpPr>
          <p:cNvPr id="36" name="Text 34"/>
          <p:cNvSpPr/>
          <p:nvPr/>
        </p:nvSpPr>
        <p:spPr>
          <a:xfrm>
            <a:off x="1813789" y="4510645"/>
            <a:ext cx="7011364" cy="91440"/>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Repeat steps 2–4 for T rounds (typically 50–500). Final prediction = sign of weighted sum of all weak learners' predictions. Each learner's vote is weighted by its alpha.</a:t>
            </a:r>
            <a:endParaRPr lang="en-US" sz="900" dirty="0"/>
          </a:p>
        </p:txBody>
      </p:sp>
      <p:sp>
        <p:nvSpPr>
          <p:cNvPr id="37" name="Text 35"/>
          <p:cNvSpPr/>
          <p:nvPr/>
        </p:nvSpPr>
        <p:spPr>
          <a:xfrm>
            <a:off x="485775" y="742644"/>
            <a:ext cx="228600" cy="228600"/>
          </a:xfrm>
          <a:prstGeom prst="ellipse">
            <a:avLst/>
          </a:prstGeom>
          <a:solidFill>
            <a:srgbClr val="0EA5E9"/>
          </a:solidFill>
          <a:ln/>
        </p:spPr>
        <p:txBody>
          <a:bodyPr wrap="square" rtlCol="0" anchor="ctr"/>
          <a:lstStyle/>
          <a:p>
            <a:pPr marL="0" indent="0">
              <a:buNone/>
            </a:pPr>
            <a:endParaRPr lang="en-US" dirty="0"/>
          </a:p>
        </p:txBody>
      </p:sp>
      <p:sp>
        <p:nvSpPr>
          <p:cNvPr id="38" name="Text 36"/>
          <p:cNvSpPr/>
          <p:nvPr/>
        </p:nvSpPr>
        <p:spPr>
          <a:xfrm>
            <a:off x="485775" y="742644"/>
            <a:ext cx="228600"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39" name="Text 37"/>
          <p:cNvSpPr/>
          <p:nvPr/>
        </p:nvSpPr>
        <p:spPr>
          <a:xfrm>
            <a:off x="485775" y="1624897"/>
            <a:ext cx="228600" cy="228600"/>
          </a:xfrm>
          <a:prstGeom prst="ellipse">
            <a:avLst/>
          </a:prstGeom>
          <a:solidFill>
            <a:srgbClr val="0EA5E9"/>
          </a:solidFill>
          <a:ln/>
        </p:spPr>
        <p:txBody>
          <a:bodyPr wrap="square" rtlCol="0" anchor="ctr"/>
          <a:lstStyle/>
          <a:p>
            <a:pPr marL="0" indent="0">
              <a:buNone/>
            </a:pPr>
            <a:endParaRPr lang="en-US" dirty="0"/>
          </a:p>
        </p:txBody>
      </p:sp>
      <p:sp>
        <p:nvSpPr>
          <p:cNvPr id="40" name="Text 38"/>
          <p:cNvSpPr/>
          <p:nvPr/>
        </p:nvSpPr>
        <p:spPr>
          <a:xfrm>
            <a:off x="485775" y="1624897"/>
            <a:ext cx="228600"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41" name="Text 39"/>
          <p:cNvSpPr/>
          <p:nvPr/>
        </p:nvSpPr>
        <p:spPr>
          <a:xfrm>
            <a:off x="485775" y="2507151"/>
            <a:ext cx="228600" cy="228600"/>
          </a:xfrm>
          <a:prstGeom prst="ellipse">
            <a:avLst/>
          </a:prstGeom>
          <a:solidFill>
            <a:srgbClr val="0EA5E9"/>
          </a:solidFill>
          <a:ln/>
        </p:spPr>
        <p:txBody>
          <a:bodyPr wrap="square" rtlCol="0" anchor="ctr"/>
          <a:lstStyle/>
          <a:p>
            <a:pPr marL="0" indent="0">
              <a:buNone/>
            </a:pPr>
            <a:endParaRPr lang="en-US" dirty="0"/>
          </a:p>
        </p:txBody>
      </p:sp>
      <p:sp>
        <p:nvSpPr>
          <p:cNvPr id="42" name="Text 40"/>
          <p:cNvSpPr/>
          <p:nvPr/>
        </p:nvSpPr>
        <p:spPr>
          <a:xfrm>
            <a:off x="485775" y="2507151"/>
            <a:ext cx="228600"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43" name="Text 41"/>
          <p:cNvSpPr/>
          <p:nvPr/>
        </p:nvSpPr>
        <p:spPr>
          <a:xfrm>
            <a:off x="485775" y="3389404"/>
            <a:ext cx="228600" cy="228600"/>
          </a:xfrm>
          <a:prstGeom prst="ellipse">
            <a:avLst/>
          </a:prstGeom>
          <a:solidFill>
            <a:srgbClr val="0EA5E9"/>
          </a:solidFill>
          <a:ln/>
        </p:spPr>
        <p:txBody>
          <a:bodyPr wrap="square" rtlCol="0" anchor="ctr"/>
          <a:lstStyle/>
          <a:p>
            <a:pPr marL="0" indent="0">
              <a:buNone/>
            </a:pPr>
            <a:endParaRPr lang="en-US" dirty="0"/>
          </a:p>
        </p:txBody>
      </p:sp>
      <p:sp>
        <p:nvSpPr>
          <p:cNvPr id="44" name="Text 42"/>
          <p:cNvSpPr/>
          <p:nvPr/>
        </p:nvSpPr>
        <p:spPr>
          <a:xfrm>
            <a:off x="485775" y="3389404"/>
            <a:ext cx="228600"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45" name="Text 43"/>
          <p:cNvSpPr/>
          <p:nvPr/>
        </p:nvSpPr>
        <p:spPr>
          <a:xfrm>
            <a:off x="485775" y="4443107"/>
            <a:ext cx="228600" cy="228600"/>
          </a:xfrm>
          <a:prstGeom prst="ellipse">
            <a:avLst/>
          </a:prstGeom>
          <a:solidFill>
            <a:srgbClr val="0EA5E9"/>
          </a:solidFill>
          <a:ln/>
        </p:spPr>
        <p:txBody>
          <a:bodyPr wrap="square" rtlCol="0" anchor="ctr"/>
          <a:lstStyle/>
          <a:p>
            <a:pPr marL="0" indent="0">
              <a:buNone/>
            </a:pPr>
            <a:endParaRPr lang="en-US" dirty="0"/>
          </a:p>
        </p:txBody>
      </p:sp>
      <p:sp>
        <p:nvSpPr>
          <p:cNvPr id="46" name="Text 44"/>
          <p:cNvSpPr/>
          <p:nvPr/>
        </p:nvSpPr>
        <p:spPr>
          <a:xfrm>
            <a:off x="485775" y="4443107"/>
            <a:ext cx="228600" cy="22860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AdaBoost — Cheat Sheet</a:t>
            </a:r>
            <a:endParaRPr lang="en-US" sz="1800" dirty="0"/>
          </a:p>
        </p:txBody>
      </p:sp>
      <p:sp>
        <p:nvSpPr>
          <p:cNvPr id="3" name="Text 1"/>
          <p:cNvSpPr/>
          <p:nvPr/>
        </p:nvSpPr>
        <p:spPr>
          <a:xfrm>
            <a:off x="457200" y="73145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57200" y="952909"/>
            <a:ext cx="2628900" cy="3786188"/>
          </a:xfrm>
          <a:prstGeom prst="roundRect">
            <a:avLst>
              <a:gd name="adj" fmla="val 4348"/>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956481"/>
            <a:ext cx="2628900" cy="0"/>
          </a:xfrm>
          <a:prstGeom prst="line">
            <a:avLst/>
          </a:prstGeom>
          <a:noFill/>
          <a:ln w="7144">
            <a:solidFill>
              <a:srgbClr val="E2E8F0"/>
            </a:solidFill>
            <a:prstDash val="solid"/>
          </a:ln>
        </p:spPr>
        <p:txBody>
          <a:bodyPr/>
          <a:lstStyle/>
          <a:p>
            <a:endParaRPr lang="en-IN"/>
          </a:p>
        </p:txBody>
      </p:sp>
      <p:sp>
        <p:nvSpPr>
          <p:cNvPr id="6" name="Shape 4"/>
          <p:cNvSpPr/>
          <p:nvPr/>
        </p:nvSpPr>
        <p:spPr>
          <a:xfrm>
            <a:off x="3082528" y="952909"/>
            <a:ext cx="0" cy="3786188"/>
          </a:xfrm>
          <a:prstGeom prst="line">
            <a:avLst/>
          </a:prstGeom>
          <a:noFill/>
          <a:ln w="7144">
            <a:solidFill>
              <a:srgbClr val="E2E8F0"/>
            </a:solidFill>
            <a:prstDash val="solid"/>
          </a:ln>
        </p:spPr>
        <p:txBody>
          <a:bodyPr/>
          <a:lstStyle/>
          <a:p>
            <a:endParaRPr lang="en-IN"/>
          </a:p>
        </p:txBody>
      </p:sp>
      <p:sp>
        <p:nvSpPr>
          <p:cNvPr id="7" name="Shape 5"/>
          <p:cNvSpPr/>
          <p:nvPr/>
        </p:nvSpPr>
        <p:spPr>
          <a:xfrm>
            <a:off x="457200" y="4735525"/>
            <a:ext cx="2628900" cy="0"/>
          </a:xfrm>
          <a:prstGeom prst="line">
            <a:avLst/>
          </a:prstGeom>
          <a:noFill/>
          <a:ln w="7144">
            <a:solidFill>
              <a:srgbClr val="E2E8F0"/>
            </a:solidFill>
            <a:prstDash val="solid"/>
          </a:ln>
        </p:spPr>
        <p:txBody>
          <a:bodyPr/>
          <a:lstStyle/>
          <a:p>
            <a:endParaRPr lang="en-IN"/>
          </a:p>
        </p:txBody>
      </p:sp>
      <p:sp>
        <p:nvSpPr>
          <p:cNvPr id="8" name="Shape 6"/>
          <p:cNvSpPr/>
          <p:nvPr/>
        </p:nvSpPr>
        <p:spPr>
          <a:xfrm>
            <a:off x="471488" y="952909"/>
            <a:ext cx="0" cy="3786188"/>
          </a:xfrm>
          <a:prstGeom prst="line">
            <a:avLst/>
          </a:prstGeom>
          <a:noFill/>
          <a:ln w="28575">
            <a:solidFill>
              <a:srgbClr val="0EA5E9"/>
            </a:solidFill>
            <a:prstDash val="solid"/>
          </a:ln>
        </p:spPr>
        <p:txBody>
          <a:bodyPr/>
          <a:lstStyle/>
          <a:p>
            <a:endParaRPr lang="en-IN"/>
          </a:p>
        </p:txBody>
      </p:sp>
      <p:sp>
        <p:nvSpPr>
          <p:cNvPr id="9" name="Text 7"/>
          <p:cNvSpPr/>
          <p:nvPr/>
        </p:nvSpPr>
        <p:spPr>
          <a:xfrm>
            <a:off x="1017650" y="1142219"/>
            <a:ext cx="1846492" cy="169736"/>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Key Hyperparameters</a:t>
            </a:r>
            <a:endParaRPr lang="en-US" sz="1125" dirty="0"/>
          </a:p>
        </p:txBody>
      </p:sp>
      <p:sp>
        <p:nvSpPr>
          <p:cNvPr id="10" name="Text 8"/>
          <p:cNvSpPr/>
          <p:nvPr/>
        </p:nvSpPr>
        <p:spPr>
          <a:xfrm>
            <a:off x="628650" y="1438684"/>
            <a:ext cx="2307431" cy="147590"/>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n_estimators</a:t>
            </a:r>
            <a:endParaRPr lang="en-US" sz="800" dirty="0"/>
          </a:p>
        </p:txBody>
      </p:sp>
      <p:sp>
        <p:nvSpPr>
          <p:cNvPr id="11" name="Text 9"/>
          <p:cNvSpPr/>
          <p:nvPr/>
        </p:nvSpPr>
        <p:spPr>
          <a:xfrm>
            <a:off x="628650" y="1613706"/>
            <a:ext cx="2210767" cy="31632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Number of weak learners (default 50). More = better but risk overfitting.</a:t>
            </a:r>
            <a:endParaRPr lang="en-US" sz="900" dirty="0"/>
          </a:p>
        </p:txBody>
      </p:sp>
      <p:sp>
        <p:nvSpPr>
          <p:cNvPr id="12" name="Text 10"/>
          <p:cNvSpPr/>
          <p:nvPr/>
        </p:nvSpPr>
        <p:spPr>
          <a:xfrm>
            <a:off x="628650" y="2020900"/>
            <a:ext cx="2307431" cy="147590"/>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learning_rate</a:t>
            </a:r>
            <a:endParaRPr lang="en-US" sz="800" dirty="0"/>
          </a:p>
        </p:txBody>
      </p:sp>
      <p:sp>
        <p:nvSpPr>
          <p:cNvPr id="13" name="Text 11"/>
          <p:cNvSpPr/>
          <p:nvPr/>
        </p:nvSpPr>
        <p:spPr>
          <a:xfrm>
            <a:off x="628650" y="2195922"/>
            <a:ext cx="2162994" cy="501491"/>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Shrinks each learner's contribution (default 1.0). Lower = more robust, needs more estimators.</a:t>
            </a:r>
            <a:endParaRPr lang="en-US" sz="900" dirty="0"/>
          </a:p>
        </p:txBody>
      </p:sp>
      <p:sp>
        <p:nvSpPr>
          <p:cNvPr id="14" name="Text 12"/>
          <p:cNvSpPr/>
          <p:nvPr/>
        </p:nvSpPr>
        <p:spPr>
          <a:xfrm>
            <a:off x="628650" y="2774566"/>
            <a:ext cx="2307431" cy="147590"/>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base_estimator</a:t>
            </a:r>
            <a:endParaRPr lang="en-US" sz="800" dirty="0"/>
          </a:p>
        </p:txBody>
      </p:sp>
      <p:sp>
        <p:nvSpPr>
          <p:cNvPr id="15" name="Text 13"/>
          <p:cNvSpPr/>
          <p:nvPr/>
        </p:nvSpPr>
        <p:spPr>
          <a:xfrm>
            <a:off x="628650" y="2949587"/>
            <a:ext cx="2171588" cy="31632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The weak learner type (default DecisionTreeClassifier with max_depth=1).</a:t>
            </a:r>
            <a:endParaRPr lang="en-US" sz="900" dirty="0"/>
          </a:p>
        </p:txBody>
      </p:sp>
      <p:sp>
        <p:nvSpPr>
          <p:cNvPr id="16" name="Text 14"/>
          <p:cNvSpPr/>
          <p:nvPr/>
        </p:nvSpPr>
        <p:spPr>
          <a:xfrm>
            <a:off x="628650" y="3356781"/>
            <a:ext cx="2307431" cy="147590"/>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algorithm</a:t>
            </a:r>
            <a:endParaRPr lang="en-US" sz="800" dirty="0"/>
          </a:p>
        </p:txBody>
      </p:sp>
      <p:sp>
        <p:nvSpPr>
          <p:cNvPr id="17" name="Text 15"/>
          <p:cNvSpPr/>
          <p:nvPr/>
        </p:nvSpPr>
        <p:spPr>
          <a:xfrm>
            <a:off x="628650" y="3531803"/>
            <a:ext cx="2108746" cy="501491"/>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SAMME.R (real-valued) vs SAMME (discrete). Use SAMME.R for probabilistic outputs.</a:t>
            </a:r>
            <a:endParaRPr lang="en-US" sz="900" dirty="0"/>
          </a:p>
        </p:txBody>
      </p:sp>
      <p:sp>
        <p:nvSpPr>
          <p:cNvPr id="18" name="Text 16"/>
          <p:cNvSpPr/>
          <p:nvPr/>
        </p:nvSpPr>
        <p:spPr>
          <a:xfrm>
            <a:off x="3257550" y="952909"/>
            <a:ext cx="2628900" cy="3786188"/>
          </a:xfrm>
          <a:prstGeom prst="roundRect">
            <a:avLst>
              <a:gd name="adj" fmla="val 4348"/>
            </a:avLst>
          </a:prstGeom>
          <a:solidFill>
            <a:srgbClr val="F8FAFC"/>
          </a:solidFill>
          <a:ln/>
        </p:spPr>
        <p:txBody>
          <a:bodyPr wrap="square" rtlCol="0" anchor="ctr"/>
          <a:lstStyle/>
          <a:p>
            <a:pPr marL="0" indent="0">
              <a:buNone/>
            </a:pPr>
            <a:endParaRPr lang="en-US" dirty="0"/>
          </a:p>
        </p:txBody>
      </p:sp>
      <p:sp>
        <p:nvSpPr>
          <p:cNvPr id="19" name="Shape 17"/>
          <p:cNvSpPr/>
          <p:nvPr/>
        </p:nvSpPr>
        <p:spPr>
          <a:xfrm>
            <a:off x="3257550" y="956481"/>
            <a:ext cx="2628900" cy="0"/>
          </a:xfrm>
          <a:prstGeom prst="line">
            <a:avLst/>
          </a:prstGeom>
          <a:noFill/>
          <a:ln w="7144">
            <a:solidFill>
              <a:srgbClr val="E2E8F0"/>
            </a:solidFill>
            <a:prstDash val="solid"/>
          </a:ln>
        </p:spPr>
        <p:txBody>
          <a:bodyPr/>
          <a:lstStyle/>
          <a:p>
            <a:endParaRPr lang="en-IN"/>
          </a:p>
        </p:txBody>
      </p:sp>
      <p:sp>
        <p:nvSpPr>
          <p:cNvPr id="20" name="Shape 18"/>
          <p:cNvSpPr/>
          <p:nvPr/>
        </p:nvSpPr>
        <p:spPr>
          <a:xfrm>
            <a:off x="5882878" y="952909"/>
            <a:ext cx="0" cy="3786188"/>
          </a:xfrm>
          <a:prstGeom prst="line">
            <a:avLst/>
          </a:prstGeom>
          <a:noFill/>
          <a:ln w="7144">
            <a:solidFill>
              <a:srgbClr val="E2E8F0"/>
            </a:solidFill>
            <a:prstDash val="solid"/>
          </a:ln>
        </p:spPr>
        <p:txBody>
          <a:bodyPr/>
          <a:lstStyle/>
          <a:p>
            <a:endParaRPr lang="en-IN"/>
          </a:p>
        </p:txBody>
      </p:sp>
      <p:sp>
        <p:nvSpPr>
          <p:cNvPr id="21" name="Shape 19"/>
          <p:cNvSpPr/>
          <p:nvPr/>
        </p:nvSpPr>
        <p:spPr>
          <a:xfrm>
            <a:off x="3257550" y="4735525"/>
            <a:ext cx="2628900" cy="0"/>
          </a:xfrm>
          <a:prstGeom prst="line">
            <a:avLst/>
          </a:prstGeom>
          <a:noFill/>
          <a:ln w="7144">
            <a:solidFill>
              <a:srgbClr val="E2E8F0"/>
            </a:solidFill>
            <a:prstDash val="solid"/>
          </a:ln>
        </p:spPr>
        <p:txBody>
          <a:bodyPr/>
          <a:lstStyle/>
          <a:p>
            <a:endParaRPr lang="en-IN"/>
          </a:p>
        </p:txBody>
      </p:sp>
      <p:sp>
        <p:nvSpPr>
          <p:cNvPr id="22" name="Shape 20"/>
          <p:cNvSpPr/>
          <p:nvPr/>
        </p:nvSpPr>
        <p:spPr>
          <a:xfrm>
            <a:off x="3271838" y="952909"/>
            <a:ext cx="0" cy="3786188"/>
          </a:xfrm>
          <a:prstGeom prst="line">
            <a:avLst/>
          </a:prstGeom>
          <a:noFill/>
          <a:ln w="28575">
            <a:solidFill>
              <a:srgbClr val="10B981"/>
            </a:solidFill>
            <a:prstDash val="solid"/>
          </a:ln>
        </p:spPr>
        <p:txBody>
          <a:bodyPr/>
          <a:lstStyle/>
          <a:p>
            <a:endParaRPr lang="en-IN"/>
          </a:p>
        </p:txBody>
      </p:sp>
      <p:sp>
        <p:nvSpPr>
          <p:cNvPr id="23" name="Text 21"/>
          <p:cNvSpPr/>
          <p:nvPr/>
        </p:nvSpPr>
        <p:spPr>
          <a:xfrm>
            <a:off x="4429906" y="1131503"/>
            <a:ext cx="865287" cy="401193"/>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When to Use AdaBoost</a:t>
            </a:r>
            <a:endParaRPr lang="en-US" sz="1125" dirty="0"/>
          </a:p>
        </p:txBody>
      </p:sp>
      <p:sp>
        <p:nvSpPr>
          <p:cNvPr id="24" name="Text 22"/>
          <p:cNvSpPr/>
          <p:nvPr/>
        </p:nvSpPr>
        <p:spPr>
          <a:xfrm>
            <a:off x="3429000" y="1681572"/>
            <a:ext cx="42863" cy="42863"/>
          </a:xfrm>
          <a:prstGeom prst="ellipse">
            <a:avLst/>
          </a:prstGeom>
          <a:solidFill>
            <a:srgbClr val="10B981"/>
          </a:solidFill>
          <a:ln/>
        </p:spPr>
        <p:txBody>
          <a:bodyPr wrap="square" rtlCol="0" anchor="ctr"/>
          <a:lstStyle/>
          <a:p>
            <a:pPr marL="0" indent="0">
              <a:buNone/>
            </a:pPr>
            <a:endParaRPr lang="en-US" dirty="0"/>
          </a:p>
        </p:txBody>
      </p:sp>
      <p:sp>
        <p:nvSpPr>
          <p:cNvPr id="25" name="Text 23"/>
          <p:cNvSpPr/>
          <p:nvPr/>
        </p:nvSpPr>
        <p:spPr>
          <a:xfrm>
            <a:off x="3529013" y="1631566"/>
            <a:ext cx="2317147" cy="178897"/>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Binary or multiclass classification problems.</a:t>
            </a:r>
            <a:endParaRPr lang="en-US" sz="900" dirty="0"/>
          </a:p>
        </p:txBody>
      </p:sp>
      <p:sp>
        <p:nvSpPr>
          <p:cNvPr id="26" name="Text 24"/>
          <p:cNvSpPr/>
          <p:nvPr/>
        </p:nvSpPr>
        <p:spPr>
          <a:xfrm>
            <a:off x="3429000" y="1918655"/>
            <a:ext cx="42863" cy="42863"/>
          </a:xfrm>
          <a:prstGeom prst="ellipse">
            <a:avLst/>
          </a:prstGeom>
          <a:solidFill>
            <a:srgbClr val="10B981"/>
          </a:solidFill>
          <a:ln/>
        </p:spPr>
        <p:txBody>
          <a:bodyPr wrap="square" rtlCol="0" anchor="ctr"/>
          <a:lstStyle/>
          <a:p>
            <a:pPr marL="0" indent="0">
              <a:buNone/>
            </a:pPr>
            <a:endParaRPr lang="en-US" dirty="0"/>
          </a:p>
        </p:txBody>
      </p:sp>
      <p:sp>
        <p:nvSpPr>
          <p:cNvPr id="27" name="Text 25"/>
          <p:cNvSpPr/>
          <p:nvPr/>
        </p:nvSpPr>
        <p:spPr>
          <a:xfrm>
            <a:off x="3529013" y="1868649"/>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When you want a simple, interpretable boosting baseline.</a:t>
            </a:r>
            <a:endParaRPr lang="en-US" sz="900" dirty="0"/>
          </a:p>
        </p:txBody>
      </p:sp>
      <p:sp>
        <p:nvSpPr>
          <p:cNvPr id="28" name="Text 26"/>
          <p:cNvSpPr/>
          <p:nvPr/>
        </p:nvSpPr>
        <p:spPr>
          <a:xfrm>
            <a:off x="3429000" y="2321384"/>
            <a:ext cx="42863" cy="42863"/>
          </a:xfrm>
          <a:prstGeom prst="ellipse">
            <a:avLst/>
          </a:prstGeom>
          <a:solidFill>
            <a:srgbClr val="10B981"/>
          </a:solidFill>
          <a:ln/>
        </p:spPr>
        <p:txBody>
          <a:bodyPr wrap="square" rtlCol="0" anchor="ctr"/>
          <a:lstStyle/>
          <a:p>
            <a:pPr marL="0" indent="0">
              <a:buNone/>
            </a:pPr>
            <a:endParaRPr lang="en-US" dirty="0"/>
          </a:p>
        </p:txBody>
      </p:sp>
      <p:sp>
        <p:nvSpPr>
          <p:cNvPr id="29" name="Text 27"/>
          <p:cNvSpPr/>
          <p:nvPr/>
        </p:nvSpPr>
        <p:spPr>
          <a:xfrm>
            <a:off x="3529013" y="2271378"/>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When the data is relatively clean (low noise).</a:t>
            </a:r>
            <a:endParaRPr lang="en-US" sz="900" dirty="0"/>
          </a:p>
        </p:txBody>
      </p:sp>
      <p:sp>
        <p:nvSpPr>
          <p:cNvPr id="30" name="Text 28"/>
          <p:cNvSpPr/>
          <p:nvPr/>
        </p:nvSpPr>
        <p:spPr>
          <a:xfrm>
            <a:off x="3429000" y="2724113"/>
            <a:ext cx="42863" cy="42863"/>
          </a:xfrm>
          <a:prstGeom prst="ellipse">
            <a:avLst/>
          </a:prstGeom>
          <a:solidFill>
            <a:srgbClr val="10B981"/>
          </a:solidFill>
          <a:ln/>
        </p:spPr>
        <p:txBody>
          <a:bodyPr wrap="square" rtlCol="0" anchor="ctr"/>
          <a:lstStyle/>
          <a:p>
            <a:pPr marL="0" indent="0">
              <a:buNone/>
            </a:pPr>
            <a:endParaRPr lang="en-US" dirty="0"/>
          </a:p>
        </p:txBody>
      </p:sp>
      <p:sp>
        <p:nvSpPr>
          <p:cNvPr id="31" name="Text 29"/>
          <p:cNvSpPr/>
          <p:nvPr/>
        </p:nvSpPr>
        <p:spPr>
          <a:xfrm>
            <a:off x="3529013" y="2674107"/>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When model interpretability matters (stumps are easy to explain).</a:t>
            </a:r>
            <a:endParaRPr lang="en-US" sz="900" dirty="0"/>
          </a:p>
        </p:txBody>
      </p:sp>
      <p:sp>
        <p:nvSpPr>
          <p:cNvPr id="32" name="Text 30"/>
          <p:cNvSpPr/>
          <p:nvPr/>
        </p:nvSpPr>
        <p:spPr>
          <a:xfrm>
            <a:off x="6057900" y="952909"/>
            <a:ext cx="2628900" cy="3786188"/>
          </a:xfrm>
          <a:prstGeom prst="roundRect">
            <a:avLst>
              <a:gd name="adj" fmla="val 4348"/>
            </a:avLst>
          </a:prstGeom>
          <a:solidFill>
            <a:srgbClr val="F8FAFC"/>
          </a:solidFill>
          <a:ln/>
        </p:spPr>
        <p:txBody>
          <a:bodyPr wrap="square" rtlCol="0" anchor="ctr"/>
          <a:lstStyle/>
          <a:p>
            <a:pPr marL="0" indent="0">
              <a:buNone/>
            </a:pPr>
            <a:endParaRPr lang="en-US" dirty="0"/>
          </a:p>
        </p:txBody>
      </p:sp>
      <p:sp>
        <p:nvSpPr>
          <p:cNvPr id="33" name="Shape 31"/>
          <p:cNvSpPr/>
          <p:nvPr/>
        </p:nvSpPr>
        <p:spPr>
          <a:xfrm>
            <a:off x="6057900" y="956481"/>
            <a:ext cx="2628900" cy="0"/>
          </a:xfrm>
          <a:prstGeom prst="line">
            <a:avLst/>
          </a:prstGeom>
          <a:noFill/>
          <a:ln w="7144">
            <a:solidFill>
              <a:srgbClr val="E2E8F0"/>
            </a:solidFill>
            <a:prstDash val="solid"/>
          </a:ln>
        </p:spPr>
        <p:txBody>
          <a:bodyPr/>
          <a:lstStyle/>
          <a:p>
            <a:endParaRPr lang="en-IN"/>
          </a:p>
        </p:txBody>
      </p:sp>
      <p:sp>
        <p:nvSpPr>
          <p:cNvPr id="34" name="Shape 32"/>
          <p:cNvSpPr/>
          <p:nvPr/>
        </p:nvSpPr>
        <p:spPr>
          <a:xfrm>
            <a:off x="8683228" y="952909"/>
            <a:ext cx="0" cy="3786188"/>
          </a:xfrm>
          <a:prstGeom prst="line">
            <a:avLst/>
          </a:prstGeom>
          <a:noFill/>
          <a:ln w="7144">
            <a:solidFill>
              <a:srgbClr val="E2E8F0"/>
            </a:solidFill>
            <a:prstDash val="solid"/>
          </a:ln>
        </p:spPr>
        <p:txBody>
          <a:bodyPr/>
          <a:lstStyle/>
          <a:p>
            <a:endParaRPr lang="en-IN"/>
          </a:p>
        </p:txBody>
      </p:sp>
      <p:sp>
        <p:nvSpPr>
          <p:cNvPr id="35" name="Shape 33"/>
          <p:cNvSpPr/>
          <p:nvPr/>
        </p:nvSpPr>
        <p:spPr>
          <a:xfrm>
            <a:off x="6057900" y="4735525"/>
            <a:ext cx="2628900" cy="0"/>
          </a:xfrm>
          <a:prstGeom prst="line">
            <a:avLst/>
          </a:prstGeom>
          <a:noFill/>
          <a:ln w="7144">
            <a:solidFill>
              <a:srgbClr val="E2E8F0"/>
            </a:solidFill>
            <a:prstDash val="solid"/>
          </a:ln>
        </p:spPr>
        <p:txBody>
          <a:bodyPr/>
          <a:lstStyle/>
          <a:p>
            <a:endParaRPr lang="en-IN"/>
          </a:p>
        </p:txBody>
      </p:sp>
      <p:sp>
        <p:nvSpPr>
          <p:cNvPr id="36" name="Shape 34"/>
          <p:cNvSpPr/>
          <p:nvPr/>
        </p:nvSpPr>
        <p:spPr>
          <a:xfrm>
            <a:off x="6072188" y="952909"/>
            <a:ext cx="0" cy="3786188"/>
          </a:xfrm>
          <a:prstGeom prst="line">
            <a:avLst/>
          </a:prstGeom>
          <a:noFill/>
          <a:ln w="28575">
            <a:solidFill>
              <a:srgbClr val="EF4444"/>
            </a:solidFill>
            <a:prstDash val="solid"/>
          </a:ln>
        </p:spPr>
        <p:txBody>
          <a:bodyPr/>
          <a:lstStyle/>
          <a:p>
            <a:endParaRPr lang="en-IN"/>
          </a:p>
        </p:txBody>
      </p:sp>
      <p:sp>
        <p:nvSpPr>
          <p:cNvPr id="37" name="Text 35"/>
          <p:cNvSpPr/>
          <p:nvPr/>
        </p:nvSpPr>
        <p:spPr>
          <a:xfrm>
            <a:off x="6775847" y="1142219"/>
            <a:ext cx="1508141" cy="169736"/>
          </a:xfrm>
          <a:prstGeom prst="rect">
            <a:avLst/>
          </a:prstGeom>
          <a:noFill/>
          <a:ln/>
        </p:spPr>
        <p:txBody>
          <a:bodyPr wrap="none" lIns="0" tIns="0" rIns="0" bIns="0" rtlCol="0" anchor="t"/>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When NOT to Use</a:t>
            </a:r>
            <a:endParaRPr lang="en-US" sz="1125" dirty="0"/>
          </a:p>
        </p:txBody>
      </p:sp>
      <p:sp>
        <p:nvSpPr>
          <p:cNvPr id="38" name="Text 36"/>
          <p:cNvSpPr/>
          <p:nvPr/>
        </p:nvSpPr>
        <p:spPr>
          <a:xfrm>
            <a:off x="6229350" y="1488691"/>
            <a:ext cx="42863" cy="42863"/>
          </a:xfrm>
          <a:prstGeom prst="ellipse">
            <a:avLst/>
          </a:prstGeom>
          <a:solidFill>
            <a:srgbClr val="EF4444"/>
          </a:solidFill>
          <a:ln/>
        </p:spPr>
        <p:txBody>
          <a:bodyPr wrap="square" rtlCol="0" anchor="ctr"/>
          <a:lstStyle/>
          <a:p>
            <a:pPr marL="0" indent="0">
              <a:buNone/>
            </a:pPr>
            <a:endParaRPr lang="en-US" dirty="0"/>
          </a:p>
        </p:txBody>
      </p:sp>
      <p:sp>
        <p:nvSpPr>
          <p:cNvPr id="39" name="Text 37"/>
          <p:cNvSpPr/>
          <p:nvPr/>
        </p:nvSpPr>
        <p:spPr>
          <a:xfrm>
            <a:off x="6329363" y="1438684"/>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Highly noisy data — AdaBoost will overfit to noise.</a:t>
            </a:r>
            <a:endParaRPr lang="en-US" sz="900" dirty="0"/>
          </a:p>
        </p:txBody>
      </p:sp>
      <p:sp>
        <p:nvSpPr>
          <p:cNvPr id="40" name="Text 38"/>
          <p:cNvSpPr/>
          <p:nvPr/>
        </p:nvSpPr>
        <p:spPr>
          <a:xfrm>
            <a:off x="6229350" y="1891419"/>
            <a:ext cx="42863" cy="42863"/>
          </a:xfrm>
          <a:prstGeom prst="ellipse">
            <a:avLst/>
          </a:prstGeom>
          <a:solidFill>
            <a:srgbClr val="EF4444"/>
          </a:solidFill>
          <a:ln/>
        </p:spPr>
        <p:txBody>
          <a:bodyPr wrap="square" rtlCol="0" anchor="ctr"/>
          <a:lstStyle/>
          <a:p>
            <a:pPr marL="0" indent="0">
              <a:buNone/>
            </a:pPr>
            <a:endParaRPr lang="en-US" dirty="0"/>
          </a:p>
        </p:txBody>
      </p:sp>
      <p:sp>
        <p:nvSpPr>
          <p:cNvPr id="41" name="Text 39"/>
          <p:cNvSpPr/>
          <p:nvPr/>
        </p:nvSpPr>
        <p:spPr>
          <a:xfrm>
            <a:off x="6329363" y="1841413"/>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Very large datasets — training is sequential and slow.</a:t>
            </a:r>
            <a:endParaRPr lang="en-US" sz="900" dirty="0"/>
          </a:p>
        </p:txBody>
      </p:sp>
      <p:sp>
        <p:nvSpPr>
          <p:cNvPr id="42" name="Text 40"/>
          <p:cNvSpPr/>
          <p:nvPr/>
        </p:nvSpPr>
        <p:spPr>
          <a:xfrm>
            <a:off x="6229350" y="2294148"/>
            <a:ext cx="42863" cy="42863"/>
          </a:xfrm>
          <a:prstGeom prst="ellipse">
            <a:avLst/>
          </a:prstGeom>
          <a:solidFill>
            <a:srgbClr val="EF4444"/>
          </a:solidFill>
          <a:ln/>
        </p:spPr>
        <p:txBody>
          <a:bodyPr wrap="square" rtlCol="0" anchor="ctr"/>
          <a:lstStyle/>
          <a:p>
            <a:pPr marL="0" indent="0">
              <a:buNone/>
            </a:pPr>
            <a:endParaRPr lang="en-US" dirty="0"/>
          </a:p>
        </p:txBody>
      </p:sp>
      <p:sp>
        <p:nvSpPr>
          <p:cNvPr id="43" name="Text 41"/>
          <p:cNvSpPr/>
          <p:nvPr/>
        </p:nvSpPr>
        <p:spPr>
          <a:xfrm>
            <a:off x="6329363" y="2244142"/>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When you need feature importance or custom loss functions.</a:t>
            </a:r>
            <a:endParaRPr lang="en-US" sz="900" dirty="0"/>
          </a:p>
        </p:txBody>
      </p:sp>
      <p:sp>
        <p:nvSpPr>
          <p:cNvPr id="44" name="Text 42"/>
          <p:cNvSpPr/>
          <p:nvPr/>
        </p:nvSpPr>
        <p:spPr>
          <a:xfrm>
            <a:off x="6229350" y="2696877"/>
            <a:ext cx="42863" cy="42863"/>
          </a:xfrm>
          <a:prstGeom prst="ellipse">
            <a:avLst/>
          </a:prstGeom>
          <a:solidFill>
            <a:srgbClr val="EF4444"/>
          </a:solidFill>
          <a:ln/>
        </p:spPr>
        <p:txBody>
          <a:bodyPr wrap="square" rtlCol="0" anchor="ctr"/>
          <a:lstStyle/>
          <a:p>
            <a:pPr marL="0" indent="0">
              <a:buNone/>
            </a:pPr>
            <a:endParaRPr lang="en-US" dirty="0"/>
          </a:p>
        </p:txBody>
      </p:sp>
      <p:sp>
        <p:nvSpPr>
          <p:cNvPr id="45" name="Text 43"/>
          <p:cNvSpPr/>
          <p:nvPr/>
        </p:nvSpPr>
        <p:spPr>
          <a:xfrm>
            <a:off x="6329363" y="2646871"/>
            <a:ext cx="2207419"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Regression tasks — limited support compared to XGBoost/LightGBM.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AdaBoost — Strengths &amp; Limitations</a:t>
            </a:r>
            <a:endParaRPr lang="en-US" sz="1800" dirty="0"/>
          </a:p>
        </p:txBody>
      </p:sp>
      <p:sp>
        <p:nvSpPr>
          <p:cNvPr id="3" name="Text 1"/>
          <p:cNvSpPr/>
          <p:nvPr/>
        </p:nvSpPr>
        <p:spPr>
          <a:xfrm>
            <a:off x="457200" y="73145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60772" y="1042206"/>
            <a:ext cx="3993356" cy="3184103"/>
          </a:xfrm>
          <a:prstGeom prst="roundRect">
            <a:avLst>
              <a:gd name="adj" fmla="val 3590"/>
            </a:avLst>
          </a:prstGeom>
          <a:solidFill>
            <a:srgbClr val="F0FDF4"/>
          </a:solidFill>
          <a:ln w="7144">
            <a:solidFill>
              <a:srgbClr val="BBF7D0"/>
            </a:solidFill>
            <a:prstDash val="solid"/>
          </a:ln>
        </p:spPr>
        <p:txBody>
          <a:bodyPr wrap="square" rtlCol="0" anchor="ctr"/>
          <a:lstStyle/>
          <a:p>
            <a:pPr marL="0" indent="0">
              <a:buNone/>
            </a:pPr>
            <a:endParaRPr lang="en-US" dirty="0"/>
          </a:p>
        </p:txBody>
      </p:sp>
      <p:sp>
        <p:nvSpPr>
          <p:cNvPr id="5" name="Shape 3"/>
          <p:cNvSpPr/>
          <p:nvPr/>
        </p:nvSpPr>
        <p:spPr>
          <a:xfrm>
            <a:off x="635794" y="1638709"/>
            <a:ext cx="3643313" cy="0"/>
          </a:xfrm>
          <a:prstGeom prst="line">
            <a:avLst/>
          </a:prstGeom>
          <a:noFill/>
          <a:ln w="14288">
            <a:solidFill>
              <a:srgbClr val="86EFAC"/>
            </a:solidFill>
            <a:prstDash val="solid"/>
          </a:ln>
        </p:spPr>
        <p:txBody>
          <a:bodyPr/>
          <a:lstStyle/>
          <a:p>
            <a:endParaRPr lang="en-IN"/>
          </a:p>
        </p:txBody>
      </p:sp>
      <p:sp>
        <p:nvSpPr>
          <p:cNvPr id="6" name="Text 4"/>
          <p:cNvSpPr/>
          <p:nvPr/>
        </p:nvSpPr>
        <p:spPr>
          <a:xfrm>
            <a:off x="635794" y="1217228"/>
            <a:ext cx="889732" cy="300038"/>
          </a:xfrm>
          <a:prstGeom prst="rect">
            <a:avLst/>
          </a:prstGeom>
          <a:noFill/>
          <a:ln/>
        </p:spPr>
        <p:txBody>
          <a:bodyPr wrap="none" lIns="0" tIns="0" rIns="0" bIns="0" rtlCol="0" anchor="ctr"/>
          <a:lstStyle/>
          <a:p>
            <a:pPr marL="0" indent="0" algn="ctr">
              <a:buNone/>
            </a:pPr>
            <a:r>
              <a:rPr lang="en-US" sz="1969" dirty="0">
                <a:solidFill>
                  <a:srgbClr val="10B981"/>
                </a:solidFill>
                <a:latin typeface="Segoe UI Symbol" pitchFamily="34" charset="0"/>
                <a:ea typeface="Segoe UI Symbol" pitchFamily="34" charset="-122"/>
                <a:cs typeface="Segoe UI Symbol" pitchFamily="34" charset="-120"/>
              </a:rPr>
              <a:t>👍</a:t>
            </a:r>
            <a:endParaRPr lang="en-US" sz="1969" dirty="0"/>
          </a:p>
        </p:txBody>
      </p:sp>
      <p:sp>
        <p:nvSpPr>
          <p:cNvPr id="7" name="Text 5"/>
          <p:cNvSpPr/>
          <p:nvPr/>
        </p:nvSpPr>
        <p:spPr>
          <a:xfrm>
            <a:off x="1596963" y="1238659"/>
            <a:ext cx="2682143" cy="277749"/>
          </a:xfrm>
          <a:prstGeom prst="rect">
            <a:avLst/>
          </a:prstGeom>
          <a:noFill/>
          <a:ln/>
        </p:spPr>
        <p:txBody>
          <a:bodyPr wrap="none" lIns="0" tIns="0" rIns="0" bIns="0" rtlCol="0" anchor="t"/>
          <a:lstStyle/>
          <a:p>
            <a:pPr marL="0" indent="0" algn="l">
              <a:lnSpc>
                <a:spcPts val="2025"/>
              </a:lnSpc>
              <a:buNone/>
            </a:pPr>
            <a:r>
              <a:rPr lang="en-US" sz="1350" b="1" dirty="0">
                <a:solidFill>
                  <a:srgbClr val="065F46"/>
                </a:solidFill>
                <a:latin typeface="Carlito" pitchFamily="34" charset="0"/>
                <a:ea typeface="Carlito" pitchFamily="34" charset="-122"/>
                <a:cs typeface="Carlito" pitchFamily="34" charset="-120"/>
              </a:rPr>
              <a:t>Strengths</a:t>
            </a:r>
            <a:endParaRPr lang="en-US" sz="1350" dirty="0"/>
          </a:p>
        </p:txBody>
      </p:sp>
      <p:sp>
        <p:nvSpPr>
          <p:cNvPr id="8" name="Text 6"/>
          <p:cNvSpPr/>
          <p:nvPr/>
        </p:nvSpPr>
        <p:spPr>
          <a:xfrm>
            <a:off x="635794" y="1774441"/>
            <a:ext cx="335979" cy="192881"/>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9" name="Text 7"/>
          <p:cNvSpPr/>
          <p:nvPr/>
        </p:nvSpPr>
        <p:spPr>
          <a:xfrm>
            <a:off x="1043211" y="1760153"/>
            <a:ext cx="3235896"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Simple to understand and implement</a:t>
            </a:r>
            <a:endParaRPr lang="en-US" sz="900" dirty="0"/>
          </a:p>
        </p:txBody>
      </p:sp>
      <p:sp>
        <p:nvSpPr>
          <p:cNvPr id="10" name="Text 8"/>
          <p:cNvSpPr/>
          <p:nvPr/>
        </p:nvSpPr>
        <p:spPr>
          <a:xfrm>
            <a:off x="635794" y="2217353"/>
            <a:ext cx="335979" cy="192881"/>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11" name="Text 9"/>
          <p:cNvSpPr/>
          <p:nvPr/>
        </p:nvSpPr>
        <p:spPr>
          <a:xfrm>
            <a:off x="1043211" y="2203066"/>
            <a:ext cx="3235896"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No hyperparameter tuning needed to get decent results (works well out of the box).</a:t>
            </a:r>
            <a:endParaRPr lang="en-US" sz="900" dirty="0"/>
          </a:p>
        </p:txBody>
      </p:sp>
      <p:sp>
        <p:nvSpPr>
          <p:cNvPr id="12" name="Text 10"/>
          <p:cNvSpPr/>
          <p:nvPr/>
        </p:nvSpPr>
        <p:spPr>
          <a:xfrm>
            <a:off x="635794" y="2660266"/>
            <a:ext cx="335979" cy="192881"/>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13" name="Text 11"/>
          <p:cNvSpPr/>
          <p:nvPr/>
        </p:nvSpPr>
        <p:spPr>
          <a:xfrm>
            <a:off x="1043211" y="2645978"/>
            <a:ext cx="3235896"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Theoretically grounded — strong mathematical guarantees on training error.</a:t>
            </a:r>
            <a:endParaRPr lang="en-US" sz="900" dirty="0"/>
          </a:p>
        </p:txBody>
      </p:sp>
      <p:sp>
        <p:nvSpPr>
          <p:cNvPr id="14" name="Text 12"/>
          <p:cNvSpPr/>
          <p:nvPr/>
        </p:nvSpPr>
        <p:spPr>
          <a:xfrm>
            <a:off x="635794" y="3103178"/>
            <a:ext cx="335979" cy="192881"/>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1043211" y="3088891"/>
            <a:ext cx="3235896"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Versatile — works with any weak learner, not just decision stumps.</a:t>
            </a:r>
            <a:endParaRPr lang="en-US" sz="900" dirty="0"/>
          </a:p>
        </p:txBody>
      </p:sp>
      <p:sp>
        <p:nvSpPr>
          <p:cNvPr id="16" name="Text 14"/>
          <p:cNvSpPr/>
          <p:nvPr/>
        </p:nvSpPr>
        <p:spPr>
          <a:xfrm>
            <a:off x="635794" y="3546091"/>
            <a:ext cx="335979" cy="192881"/>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17" name="Text 15"/>
          <p:cNvSpPr/>
          <p:nvPr/>
        </p:nvSpPr>
        <p:spPr>
          <a:xfrm>
            <a:off x="1043211" y="3531803"/>
            <a:ext cx="3235896"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Built-in feature selection — misclassified samples guide focus, indirectly weighting important features.</a:t>
            </a:r>
            <a:endParaRPr lang="en-US" sz="900" dirty="0"/>
          </a:p>
        </p:txBody>
      </p:sp>
      <p:sp>
        <p:nvSpPr>
          <p:cNvPr id="18" name="Text 16"/>
          <p:cNvSpPr/>
          <p:nvPr/>
        </p:nvSpPr>
        <p:spPr>
          <a:xfrm>
            <a:off x="4689872" y="1042206"/>
            <a:ext cx="3993356" cy="3184103"/>
          </a:xfrm>
          <a:prstGeom prst="roundRect">
            <a:avLst>
              <a:gd name="adj" fmla="val 3590"/>
            </a:avLst>
          </a:prstGeom>
          <a:solidFill>
            <a:srgbClr val="FEF2F2"/>
          </a:solidFill>
          <a:ln w="7144">
            <a:solidFill>
              <a:srgbClr val="FECACA"/>
            </a:solidFill>
            <a:prstDash val="solid"/>
          </a:ln>
        </p:spPr>
        <p:txBody>
          <a:bodyPr wrap="square" rtlCol="0" anchor="ctr"/>
          <a:lstStyle/>
          <a:p>
            <a:pPr marL="0" indent="0">
              <a:buNone/>
            </a:pPr>
            <a:endParaRPr lang="en-US" dirty="0"/>
          </a:p>
        </p:txBody>
      </p:sp>
      <p:sp>
        <p:nvSpPr>
          <p:cNvPr id="19" name="Shape 17"/>
          <p:cNvSpPr/>
          <p:nvPr/>
        </p:nvSpPr>
        <p:spPr>
          <a:xfrm>
            <a:off x="4864894" y="1638709"/>
            <a:ext cx="3643313" cy="0"/>
          </a:xfrm>
          <a:prstGeom prst="line">
            <a:avLst/>
          </a:prstGeom>
          <a:noFill/>
          <a:ln w="14288">
            <a:solidFill>
              <a:srgbClr val="FCA5A5"/>
            </a:solidFill>
            <a:prstDash val="solid"/>
          </a:ln>
        </p:spPr>
        <p:txBody>
          <a:bodyPr/>
          <a:lstStyle/>
          <a:p>
            <a:endParaRPr lang="en-IN"/>
          </a:p>
        </p:txBody>
      </p:sp>
      <p:sp>
        <p:nvSpPr>
          <p:cNvPr id="20" name="Text 18"/>
          <p:cNvSpPr/>
          <p:nvPr/>
        </p:nvSpPr>
        <p:spPr>
          <a:xfrm>
            <a:off x="4864894" y="1217228"/>
            <a:ext cx="1145456" cy="300038"/>
          </a:xfrm>
          <a:prstGeom prst="rect">
            <a:avLst/>
          </a:prstGeom>
          <a:noFill/>
          <a:ln/>
        </p:spPr>
        <p:txBody>
          <a:bodyPr wrap="none" lIns="0" tIns="0" rIns="0" bIns="0" rtlCol="0" anchor="ctr"/>
          <a:lstStyle/>
          <a:p>
            <a:pPr marL="0" indent="0" algn="ctr">
              <a:buNone/>
            </a:pPr>
            <a:r>
              <a:rPr lang="en-US" sz="1969" dirty="0">
                <a:solidFill>
                  <a:srgbClr val="EF4444"/>
                </a:solidFill>
                <a:latin typeface="Segoe UI Symbol" pitchFamily="34" charset="0"/>
                <a:ea typeface="Segoe UI Symbol" pitchFamily="34" charset="-122"/>
                <a:cs typeface="Segoe UI Symbol" pitchFamily="34" charset="-120"/>
              </a:rPr>
              <a:t>👎</a:t>
            </a:r>
            <a:endParaRPr lang="en-US" sz="1969" dirty="0"/>
          </a:p>
        </p:txBody>
      </p:sp>
      <p:sp>
        <p:nvSpPr>
          <p:cNvPr id="21" name="Text 19"/>
          <p:cNvSpPr/>
          <p:nvPr/>
        </p:nvSpPr>
        <p:spPr>
          <a:xfrm>
            <a:off x="6081787" y="1238659"/>
            <a:ext cx="2426419" cy="277749"/>
          </a:xfrm>
          <a:prstGeom prst="rect">
            <a:avLst/>
          </a:prstGeom>
          <a:noFill/>
          <a:ln/>
        </p:spPr>
        <p:txBody>
          <a:bodyPr wrap="none" lIns="0" tIns="0" rIns="0" bIns="0" rtlCol="0" anchor="t"/>
          <a:lstStyle/>
          <a:p>
            <a:pPr marL="0" indent="0" algn="l">
              <a:lnSpc>
                <a:spcPts val="2025"/>
              </a:lnSpc>
              <a:buNone/>
            </a:pPr>
            <a:r>
              <a:rPr lang="en-US" sz="1350" b="1" dirty="0">
                <a:solidFill>
                  <a:srgbClr val="991B1B"/>
                </a:solidFill>
                <a:latin typeface="Carlito" pitchFamily="34" charset="0"/>
                <a:ea typeface="Carlito" pitchFamily="34" charset="-122"/>
                <a:cs typeface="Carlito" pitchFamily="34" charset="-120"/>
              </a:rPr>
              <a:t>Limitations</a:t>
            </a:r>
            <a:endParaRPr lang="en-US" sz="1350" dirty="0"/>
          </a:p>
        </p:txBody>
      </p:sp>
      <p:sp>
        <p:nvSpPr>
          <p:cNvPr id="22" name="Text 20"/>
          <p:cNvSpPr/>
          <p:nvPr/>
        </p:nvSpPr>
        <p:spPr>
          <a:xfrm>
            <a:off x="4864894" y="1774441"/>
            <a:ext cx="300261" cy="192881"/>
          </a:xfrm>
          <a:prstGeom prst="rect">
            <a:avLst/>
          </a:prstGeom>
          <a:noFill/>
          <a:ln/>
        </p:spPr>
        <p:txBody>
          <a:bodyPr wrap="none" lIns="0" tIns="0" rIns="0" bIns="0" rtlCol="0" anchor="ctr"/>
          <a:lstStyle/>
          <a:p>
            <a:pPr marL="0" indent="0" algn="ctr">
              <a:buNone/>
            </a:pPr>
            <a:r>
              <a:rPr lang="en-US" sz="1266" dirty="0">
                <a:solidFill>
                  <a:srgbClr val="EF4444"/>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5236592" y="1760153"/>
            <a:ext cx="3271614"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Highly sensitive to noisy data and outliers (they get maximum weight).</a:t>
            </a:r>
            <a:endParaRPr lang="en-US" sz="900" dirty="0"/>
          </a:p>
        </p:txBody>
      </p:sp>
      <p:sp>
        <p:nvSpPr>
          <p:cNvPr id="24" name="Text 22"/>
          <p:cNvSpPr/>
          <p:nvPr/>
        </p:nvSpPr>
        <p:spPr>
          <a:xfrm>
            <a:off x="4864894" y="2217353"/>
            <a:ext cx="300261" cy="192881"/>
          </a:xfrm>
          <a:prstGeom prst="rect">
            <a:avLst/>
          </a:prstGeom>
          <a:noFill/>
          <a:ln/>
        </p:spPr>
        <p:txBody>
          <a:bodyPr wrap="none" lIns="0" tIns="0" rIns="0" bIns="0" rtlCol="0" anchor="ctr"/>
          <a:lstStyle/>
          <a:p>
            <a:pPr marL="0" indent="0" algn="ctr">
              <a:buNone/>
            </a:pPr>
            <a:r>
              <a:rPr lang="en-US" sz="1266" dirty="0">
                <a:solidFill>
                  <a:srgbClr val="EF4444"/>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5236592" y="2203066"/>
            <a:ext cx="3271614"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Sequential training makes it slow — cannot be parallelized like Random Forest.</a:t>
            </a:r>
            <a:endParaRPr lang="en-US" sz="900" dirty="0"/>
          </a:p>
        </p:txBody>
      </p:sp>
      <p:sp>
        <p:nvSpPr>
          <p:cNvPr id="26" name="Text 24"/>
          <p:cNvSpPr/>
          <p:nvPr/>
        </p:nvSpPr>
        <p:spPr>
          <a:xfrm>
            <a:off x="4864894" y="2660266"/>
            <a:ext cx="300261" cy="192881"/>
          </a:xfrm>
          <a:prstGeom prst="rect">
            <a:avLst/>
          </a:prstGeom>
          <a:noFill/>
          <a:ln/>
        </p:spPr>
        <p:txBody>
          <a:bodyPr wrap="none" lIns="0" tIns="0" rIns="0" bIns="0" rtlCol="0" anchor="ctr"/>
          <a:lstStyle/>
          <a:p>
            <a:pPr marL="0" indent="0" algn="ctr">
              <a:buNone/>
            </a:pPr>
            <a:r>
              <a:rPr lang="en-US" sz="1266" dirty="0">
                <a:solidFill>
                  <a:srgbClr val="EF4444"/>
                </a:solidFill>
                <a:latin typeface="Segoe UI Symbol" pitchFamily="34" charset="0"/>
                <a:ea typeface="Segoe UI Symbol" pitchFamily="34" charset="-122"/>
                <a:cs typeface="Segoe UI Symbol" pitchFamily="34" charset="-120"/>
              </a:rPr>
              <a:t>✕</a:t>
            </a:r>
            <a:endParaRPr lang="en-US" sz="1266" dirty="0"/>
          </a:p>
        </p:txBody>
      </p:sp>
      <p:sp>
        <p:nvSpPr>
          <p:cNvPr id="27" name="Text 25"/>
          <p:cNvSpPr/>
          <p:nvPr/>
        </p:nvSpPr>
        <p:spPr>
          <a:xfrm>
            <a:off x="5236592" y="2645978"/>
            <a:ext cx="3271614"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Can be outperformed by gradient-based methods (XGBoost, LightGBM) on most tasks.</a:t>
            </a:r>
            <a:endParaRPr lang="en-US" sz="900" dirty="0"/>
          </a:p>
        </p:txBody>
      </p:sp>
      <p:sp>
        <p:nvSpPr>
          <p:cNvPr id="28" name="Text 26"/>
          <p:cNvSpPr/>
          <p:nvPr/>
        </p:nvSpPr>
        <p:spPr>
          <a:xfrm>
            <a:off x="4864894" y="3103178"/>
            <a:ext cx="300261" cy="192881"/>
          </a:xfrm>
          <a:prstGeom prst="rect">
            <a:avLst/>
          </a:prstGeom>
          <a:noFill/>
          <a:ln/>
        </p:spPr>
        <p:txBody>
          <a:bodyPr wrap="none" lIns="0" tIns="0" rIns="0" bIns="0" rtlCol="0" anchor="ctr"/>
          <a:lstStyle/>
          <a:p>
            <a:pPr marL="0" indent="0" algn="ctr">
              <a:buNone/>
            </a:pPr>
            <a:r>
              <a:rPr lang="en-US" sz="1266" dirty="0">
                <a:solidFill>
                  <a:srgbClr val="EF4444"/>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5236592" y="3088891"/>
            <a:ext cx="3271614"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Limited loss function support — only exponential loss for classification.</a:t>
            </a:r>
            <a:endParaRPr lang="en-US" sz="900" dirty="0"/>
          </a:p>
        </p:txBody>
      </p:sp>
      <p:sp>
        <p:nvSpPr>
          <p:cNvPr id="30" name="Text 28"/>
          <p:cNvSpPr/>
          <p:nvPr/>
        </p:nvSpPr>
        <p:spPr>
          <a:xfrm>
            <a:off x="4864894" y="3546091"/>
            <a:ext cx="300261" cy="192881"/>
          </a:xfrm>
          <a:prstGeom prst="rect">
            <a:avLst/>
          </a:prstGeom>
          <a:noFill/>
          <a:ln/>
        </p:spPr>
        <p:txBody>
          <a:bodyPr wrap="none" lIns="0" tIns="0" rIns="0" bIns="0" rtlCol="0" anchor="ctr"/>
          <a:lstStyle/>
          <a:p>
            <a:pPr marL="0" indent="0" algn="ctr">
              <a:buNone/>
            </a:pPr>
            <a:r>
              <a:rPr lang="en-US" sz="1266" dirty="0">
                <a:solidFill>
                  <a:srgbClr val="EF4444"/>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5236592" y="3531803"/>
            <a:ext cx="3271614" cy="370332"/>
          </a:xfrm>
          <a:prstGeom prst="rect">
            <a:avLst/>
          </a:prstGeom>
          <a:noFill/>
          <a:ln/>
        </p:spPr>
        <p:txBody>
          <a:bodyPr wrap="square" lIns="0" tIns="0" rIns="0" bIns="0" rtlCol="0" anchor="t"/>
          <a:lstStyle/>
          <a:p>
            <a:pPr marL="0" indent="0" algn="l">
              <a:lnSpc>
                <a:spcPts val="1350"/>
              </a:lnSpc>
              <a:buNone/>
            </a:pPr>
            <a:r>
              <a:rPr lang="en-US" sz="900" dirty="0">
                <a:solidFill>
                  <a:srgbClr val="334155"/>
                </a:solidFill>
                <a:latin typeface="Carlito" pitchFamily="34" charset="0"/>
                <a:ea typeface="Carlito" pitchFamily="34" charset="-122"/>
                <a:cs typeface="Carlito" pitchFamily="34" charset="-120"/>
              </a:rPr>
              <a:t>Does not handle missing values natively — requires preprocessing.</a:t>
            </a:r>
            <a:endParaRPr lang="en-US" sz="900" dirty="0"/>
          </a:p>
        </p:txBody>
      </p:sp>
      <p:sp>
        <p:nvSpPr>
          <p:cNvPr id="32" name="Text 30"/>
          <p:cNvSpPr/>
          <p:nvPr/>
        </p:nvSpPr>
        <p:spPr>
          <a:xfrm>
            <a:off x="457200" y="4372756"/>
            <a:ext cx="8229600" cy="427844"/>
          </a:xfrm>
          <a:prstGeom prst="roundRect">
            <a:avLst>
              <a:gd name="adj" fmla="val 17810"/>
            </a:avLst>
          </a:prstGeom>
          <a:solidFill>
            <a:srgbClr val="E0F2FE"/>
          </a:solidFill>
          <a:ln/>
        </p:spPr>
        <p:txBody>
          <a:bodyPr wrap="square" rtlCol="0" anchor="ctr"/>
          <a:lstStyle/>
          <a:p>
            <a:pPr marL="0" indent="0">
              <a:buNone/>
            </a:pPr>
            <a:endParaRPr lang="en-US" dirty="0"/>
          </a:p>
        </p:txBody>
      </p:sp>
      <p:sp>
        <p:nvSpPr>
          <p:cNvPr id="33" name="Text 31"/>
          <p:cNvSpPr/>
          <p:nvPr/>
        </p:nvSpPr>
        <p:spPr>
          <a:xfrm>
            <a:off x="600075" y="4472769"/>
            <a:ext cx="585453" cy="227819"/>
          </a:xfrm>
          <a:prstGeom prst="rect">
            <a:avLst/>
          </a:prstGeom>
          <a:noFill/>
          <a:ln/>
        </p:spPr>
        <p:txBody>
          <a:bodyPr wrap="none" lIns="0" tIns="0" rIns="0" bIns="0" rtlCol="0" anchor="ctr"/>
          <a:lstStyle/>
          <a:p>
            <a:pPr marL="0" indent="0" algn="ctr">
              <a:buNone/>
            </a:pPr>
            <a:r>
              <a:rPr lang="en-US" sz="1547" dirty="0">
                <a:solidFill>
                  <a:srgbClr val="0284C7"/>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1256965" y="4503800"/>
            <a:ext cx="7286960" cy="178897"/>
          </a:xfrm>
          <a:prstGeom prst="rect">
            <a:avLst/>
          </a:prstGeom>
          <a:noFill/>
          <a:ln/>
        </p:spPr>
        <p:txBody>
          <a:bodyPr wrap="square" lIns="0" tIns="0" rIns="0" bIns="0" rtlCol="0" anchor="t"/>
          <a:lstStyle/>
          <a:p>
            <a:pPr marL="0" indent="0" algn="l">
              <a:lnSpc>
                <a:spcPts val="1305"/>
              </a:lnSpc>
              <a:buNone/>
            </a:pPr>
            <a:r>
              <a:rPr lang="en-US" sz="900" dirty="0">
                <a:solidFill>
                  <a:srgbClr val="0F172A"/>
                </a:solidFill>
                <a:latin typeface="Carlito" pitchFamily="34" charset="0"/>
                <a:ea typeface="Carlito" pitchFamily="34" charset="-122"/>
                <a:cs typeface="Carlito" pitchFamily="34" charset="-120"/>
              </a:rPr>
              <a:t>Key answer: AdaBoost is the foundation — explain it first, then contrast with XGBoost to show depth.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85750" y="2000250"/>
            <a:ext cx="1828800" cy="1234440"/>
          </a:xfrm>
          <a:prstGeom prst="rect">
            <a:avLst/>
          </a:prstGeom>
          <a:noFill/>
          <a:ln/>
        </p:spPr>
        <p:txBody>
          <a:bodyPr wrap="square" lIns="0" tIns="0" rIns="0" bIns="0" rtlCol="0" anchor="t"/>
          <a:lstStyle/>
          <a:p>
            <a:pPr marL="0" indent="0" algn="l">
              <a:lnSpc>
                <a:spcPts val="9000"/>
              </a:lnSpc>
              <a:buNone/>
            </a:pPr>
            <a:r>
              <a:rPr lang="en-US" sz="9000" b="1" dirty="0">
                <a:solidFill>
                  <a:srgbClr val="0EA5E9">
                    <a:alpha val="12000"/>
                  </a:srgbClr>
                </a:solidFill>
                <a:latin typeface="Liberation Sans Narrow" pitchFamily="34" charset="0"/>
                <a:ea typeface="Liberation Sans Narrow" pitchFamily="34" charset="-122"/>
                <a:cs typeface="Liberation Sans Narrow" pitchFamily="34" charset="-120"/>
              </a:rPr>
              <a:t>03</a:t>
            </a:r>
            <a:endParaRPr lang="en-US" sz="9000" dirty="0"/>
          </a:p>
        </p:txBody>
      </p:sp>
      <p:sp>
        <p:nvSpPr>
          <p:cNvPr id="3" name="Text 1"/>
          <p:cNvSpPr/>
          <p:nvPr/>
        </p:nvSpPr>
        <p:spPr>
          <a:xfrm>
            <a:off x="1285875" y="1870993"/>
            <a:ext cx="4631104" cy="164592"/>
          </a:xfrm>
          <a:prstGeom prst="rect">
            <a:avLst/>
          </a:prstGeom>
          <a:noFill/>
          <a:ln/>
        </p:spPr>
        <p:txBody>
          <a:bodyPr wrap="none" lIns="0" tIns="0" rIns="0" bIns="0" rtlCol="0" anchor="t"/>
          <a:lstStyle/>
          <a:p>
            <a:pPr marL="0" indent="0" algn="l">
              <a:lnSpc>
                <a:spcPts val="1097"/>
              </a:lnSpc>
              <a:buNone/>
            </a:pPr>
            <a:r>
              <a:rPr lang="en-US" sz="800" kern="0" spc="169" dirty="0">
                <a:solidFill>
                  <a:srgbClr val="0EA5E9"/>
                </a:solidFill>
                <a:latin typeface="Liberation Sans Narrow" pitchFamily="34" charset="0"/>
                <a:ea typeface="Liberation Sans Narrow" pitchFamily="34" charset="-122"/>
                <a:cs typeface="Liberation Sans Narrow" pitchFamily="34" charset="-120"/>
              </a:rPr>
              <a:t>SECTION 03</a:t>
            </a:r>
            <a:endParaRPr lang="en-US" sz="800" dirty="0"/>
          </a:p>
        </p:txBody>
      </p:sp>
      <p:sp>
        <p:nvSpPr>
          <p:cNvPr id="4" name="Text 2"/>
          <p:cNvSpPr/>
          <p:nvPr/>
        </p:nvSpPr>
        <p:spPr>
          <a:xfrm>
            <a:off x="1285875" y="2124596"/>
            <a:ext cx="4286393" cy="356348"/>
          </a:xfrm>
          <a:prstGeom prst="rect">
            <a:avLst/>
          </a:prstGeom>
          <a:noFill/>
          <a:ln/>
        </p:spPr>
        <p:txBody>
          <a:bodyPr wrap="non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XGBoost</a:t>
            </a:r>
            <a:endParaRPr lang="en-US" sz="2363" dirty="0"/>
          </a:p>
        </p:txBody>
      </p:sp>
      <p:sp>
        <p:nvSpPr>
          <p:cNvPr id="5" name="Text 3"/>
          <p:cNvSpPr/>
          <p:nvPr/>
        </p:nvSpPr>
        <p:spPr>
          <a:xfrm>
            <a:off x="1285875" y="2540273"/>
            <a:ext cx="3348744" cy="216027"/>
          </a:xfrm>
          <a:prstGeom prst="rect">
            <a:avLst/>
          </a:prstGeom>
          <a:noFill/>
          <a:ln/>
        </p:spPr>
        <p:txBody>
          <a:bodyPr wrap="square" lIns="0" tIns="0" rIns="0" bIns="0" rtlCol="0" anchor="t"/>
          <a:lstStyle/>
          <a:p>
            <a:pPr marL="0" indent="0" algn="l">
              <a:lnSpc>
                <a:spcPts val="1575"/>
              </a:lnSpc>
              <a:buNone/>
            </a:pPr>
            <a:r>
              <a:rPr lang="en-US" sz="1125" dirty="0">
                <a:solidFill>
                  <a:srgbClr val="334155"/>
                </a:solidFill>
                <a:latin typeface="Carlito" pitchFamily="34" charset="0"/>
                <a:ea typeface="Carlito" pitchFamily="34" charset="-122"/>
                <a:cs typeface="Carlito" pitchFamily="34" charset="-120"/>
              </a:rPr>
              <a:t>Extreme Gradient Boosting — The Industry Standard</a:t>
            </a:r>
            <a:endParaRPr lang="en-US" sz="1125" dirty="0"/>
          </a:p>
        </p:txBody>
      </p:sp>
      <p:sp>
        <p:nvSpPr>
          <p:cNvPr id="6" name="Text 4"/>
          <p:cNvSpPr/>
          <p:nvPr/>
        </p:nvSpPr>
        <p:spPr>
          <a:xfrm>
            <a:off x="1285875" y="2883173"/>
            <a:ext cx="4572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7" name="Text 5"/>
          <p:cNvSpPr/>
          <p:nvPr/>
        </p:nvSpPr>
        <p:spPr>
          <a:xfrm>
            <a:off x="1263015" y="3034678"/>
            <a:ext cx="1293421" cy="250631"/>
          </a:xfrm>
          <a:prstGeom prst="roundRect">
            <a:avLst>
              <a:gd name="adj" fmla="val 76008"/>
            </a:avLst>
          </a:prstGeom>
          <a:solidFill>
            <a:srgbClr val="E0F2FE"/>
          </a:solidFill>
          <a:ln/>
        </p:spPr>
        <p:txBody>
          <a:bodyPr wrap="square" rtlCol="0" anchor="ctr"/>
          <a:lstStyle/>
          <a:p>
            <a:pPr marL="0" indent="0">
              <a:buNone/>
            </a:pPr>
            <a:endParaRPr lang="en-US" dirty="0"/>
          </a:p>
        </p:txBody>
      </p:sp>
      <p:sp>
        <p:nvSpPr>
          <p:cNvPr id="8" name="Text 6"/>
          <p:cNvSpPr/>
          <p:nvPr/>
        </p:nvSpPr>
        <p:spPr>
          <a:xfrm>
            <a:off x="1285875" y="3047479"/>
            <a:ext cx="1247701" cy="225028"/>
          </a:xfrm>
          <a:prstGeom prst="rect">
            <a:avLst/>
          </a:prstGeom>
          <a:noFill/>
          <a:ln/>
        </p:spPr>
        <p:txBody>
          <a:bodyPr wrap="none" lIns="114300" tIns="42863" rIns="114300" bIns="42863" rtlCol="0" anchor="ctr"/>
          <a:lstStyle/>
          <a:p>
            <a:pPr marL="0" indent="0" algn="ctr">
              <a:lnSpc>
                <a:spcPts val="1097"/>
              </a:lnSpc>
              <a:buNone/>
            </a:pPr>
            <a:r>
              <a:rPr lang="en-US" sz="800" kern="0" spc="28" dirty="0">
                <a:solidFill>
                  <a:srgbClr val="0284C7"/>
                </a:solidFill>
                <a:latin typeface="Liberation Sans Narrow" pitchFamily="34" charset="0"/>
                <a:ea typeface="Liberation Sans Narrow" pitchFamily="34" charset="-122"/>
                <a:cs typeface="Liberation Sans Narrow" pitchFamily="34" charset="-120"/>
              </a:rPr>
              <a:t>2014 — TIANQI CHEN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non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What is XGBoost?</a:t>
            </a:r>
            <a:endParaRPr lang="en-US" sz="1800" dirty="0"/>
          </a:p>
        </p:txBody>
      </p:sp>
      <p:sp>
        <p:nvSpPr>
          <p:cNvPr id="3" name="Text 1"/>
          <p:cNvSpPr/>
          <p:nvPr/>
        </p:nvSpPr>
        <p:spPr>
          <a:xfrm>
            <a:off x="457200" y="73145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57200" y="1038634"/>
            <a:ext cx="4526235"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XGBoost (Extreme Gradient Boosting) is an optimized, distributed gradient boosting library designed for efficiency, flexibility, and portability. It has been the go-to algorithm for structured/tabular data since 2014.</a:t>
            </a:r>
            <a:endParaRPr lang="en-US" sz="900" dirty="0"/>
          </a:p>
        </p:txBody>
      </p:sp>
      <p:sp>
        <p:nvSpPr>
          <p:cNvPr id="5" name="Text 3"/>
          <p:cNvSpPr/>
          <p:nvPr/>
        </p:nvSpPr>
        <p:spPr>
          <a:xfrm>
            <a:off x="457200" y="1732806"/>
            <a:ext cx="4526235"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Unlike AdaBoost which uses exponential loss, XGBoost uses gradient boosting: each new tree is fit to the negative gradient (residuals) of the loss function. This makes it compatible with any differentiable loss — MSE, log loss, custom losses.</a:t>
            </a:r>
            <a:endParaRPr lang="en-US" sz="900" dirty="0"/>
          </a:p>
        </p:txBody>
      </p:sp>
      <p:sp>
        <p:nvSpPr>
          <p:cNvPr id="6" name="Text 4"/>
          <p:cNvSpPr/>
          <p:nvPr/>
        </p:nvSpPr>
        <p:spPr>
          <a:xfrm>
            <a:off x="457200" y="2426977"/>
            <a:ext cx="4526235" cy="61083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XGBoost introduced several key innovations that made it dramatically faster and more accurate than previous boosting implementations: L1/L2 regularization, tree pruning, sparsity-aware learning, and hardware-level optimization.</a:t>
            </a:r>
            <a:endParaRPr lang="en-US" sz="900" dirty="0"/>
          </a:p>
        </p:txBody>
      </p:sp>
      <p:sp>
        <p:nvSpPr>
          <p:cNvPr id="7" name="Text 5"/>
          <p:cNvSpPr/>
          <p:nvPr/>
        </p:nvSpPr>
        <p:spPr>
          <a:xfrm>
            <a:off x="457200" y="3121149"/>
            <a:ext cx="4526235" cy="407221"/>
          </a:xfrm>
          <a:prstGeom prst="rect">
            <a:avLst/>
          </a:prstGeom>
          <a:noFill/>
          <a:ln/>
        </p:spPr>
        <p:txBody>
          <a:bodyPr wrap="square" lIns="0" tIns="0" rIns="0" bIns="0" rtlCol="0" anchor="t"/>
          <a:lstStyle/>
          <a:p>
            <a:pPr marL="0" indent="0" algn="l">
              <a:lnSpc>
                <a:spcPts val="1485"/>
              </a:lnSpc>
              <a:buNone/>
            </a:pPr>
            <a:r>
              <a:rPr lang="en-US" sz="900" dirty="0">
                <a:solidFill>
                  <a:srgbClr val="334155"/>
                </a:solidFill>
                <a:latin typeface="Carlito" pitchFamily="34" charset="0"/>
                <a:ea typeface="Carlito" pitchFamily="34" charset="-122"/>
                <a:cs typeface="Carlito" pitchFamily="34" charset="-120"/>
              </a:rPr>
              <a:t>It supports parallelization at the feature level (not the tree level), making it significantly faster than AdaBoost while being more robust to overfitting.</a:t>
            </a:r>
            <a:endParaRPr lang="en-US" sz="900" dirty="0"/>
          </a:p>
        </p:txBody>
      </p:sp>
      <p:sp>
        <p:nvSpPr>
          <p:cNvPr id="8" name="Text 6"/>
          <p:cNvSpPr/>
          <p:nvPr/>
        </p:nvSpPr>
        <p:spPr>
          <a:xfrm>
            <a:off x="5272757" y="1042206"/>
            <a:ext cx="3696109" cy="3278981"/>
          </a:xfrm>
          <a:prstGeom prst="roundRect">
            <a:avLst>
              <a:gd name="adj" fmla="val 3486"/>
            </a:avLst>
          </a:prstGeom>
          <a:noFill/>
          <a:ln w="7144">
            <a:solidFill>
              <a:srgbClr val="E2E8F0"/>
            </a:solidFill>
            <a:prstDash val="solid"/>
          </a:ln>
          <a:effectLst>
            <a:outerShdw blurRad="228600" dist="38100" dir="5400000" algn="bl" rotWithShape="0">
              <a:srgbClr val="0F172A">
                <a:alpha val="8000"/>
              </a:srgbClr>
            </a:outerShdw>
          </a:effectLst>
        </p:spPr>
        <p:txBody>
          <a:bodyPr wrap="square" rtlCol="0" anchor="ctr"/>
          <a:lstStyle/>
          <a:p>
            <a:pPr marL="0" indent="0">
              <a:buNone/>
            </a:pPr>
            <a:endParaRPr lang="en-US" dirty="0"/>
          </a:p>
        </p:txBody>
      </p:sp>
      <p:pic>
        <p:nvPicPr>
          <p:cNvPr id="9" name="Image 0" descr="/tmp/h2p-fit-1783264346359-icwe2g.png"/>
          <p:cNvPicPr>
            <a:picLocks noChangeAspect="1"/>
          </p:cNvPicPr>
          <p:nvPr/>
        </p:nvPicPr>
        <p:blipFill>
          <a:blip r:embed="rId3"/>
          <a:stretch>
            <a:fillRect/>
          </a:stretch>
        </p:blipFill>
        <p:spPr>
          <a:xfrm>
            <a:off x="5276329" y="1045778"/>
            <a:ext cx="3688966" cy="32718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Key Innovations That Made XGBoost Dominant</a:t>
            </a:r>
            <a:endParaRPr lang="en-US" sz="1800" dirty="0"/>
          </a:p>
        </p:txBody>
      </p:sp>
      <p:sp>
        <p:nvSpPr>
          <p:cNvPr id="3" name="Text 1"/>
          <p:cNvSpPr/>
          <p:nvPr/>
        </p:nvSpPr>
        <p:spPr>
          <a:xfrm>
            <a:off x="457200" y="73145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57200" y="1024347"/>
            <a:ext cx="2666963" cy="1830921"/>
          </a:xfrm>
          <a:prstGeom prst="roundRect">
            <a:avLst>
              <a:gd name="adj" fmla="val 6243"/>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1027919"/>
            <a:ext cx="2666963" cy="0"/>
          </a:xfrm>
          <a:prstGeom prst="line">
            <a:avLst/>
          </a:prstGeom>
          <a:noFill/>
          <a:ln w="7144">
            <a:solidFill>
              <a:srgbClr val="E2E8F0"/>
            </a:solidFill>
            <a:prstDash val="solid"/>
          </a:ln>
        </p:spPr>
        <p:txBody>
          <a:bodyPr/>
          <a:lstStyle/>
          <a:p>
            <a:endParaRPr lang="en-IN"/>
          </a:p>
        </p:txBody>
      </p:sp>
      <p:sp>
        <p:nvSpPr>
          <p:cNvPr id="6" name="Shape 4"/>
          <p:cNvSpPr/>
          <p:nvPr/>
        </p:nvSpPr>
        <p:spPr>
          <a:xfrm>
            <a:off x="3120591" y="1024347"/>
            <a:ext cx="0" cy="1830921"/>
          </a:xfrm>
          <a:prstGeom prst="line">
            <a:avLst/>
          </a:prstGeom>
          <a:noFill/>
          <a:ln w="7144">
            <a:solidFill>
              <a:srgbClr val="E2E8F0"/>
            </a:solidFill>
            <a:prstDash val="solid"/>
          </a:ln>
        </p:spPr>
        <p:txBody>
          <a:bodyPr/>
          <a:lstStyle/>
          <a:p>
            <a:endParaRPr lang="en-IN"/>
          </a:p>
        </p:txBody>
      </p:sp>
      <p:sp>
        <p:nvSpPr>
          <p:cNvPr id="7" name="Shape 5"/>
          <p:cNvSpPr/>
          <p:nvPr/>
        </p:nvSpPr>
        <p:spPr>
          <a:xfrm>
            <a:off x="457200" y="2851696"/>
            <a:ext cx="2666963" cy="0"/>
          </a:xfrm>
          <a:prstGeom prst="line">
            <a:avLst/>
          </a:prstGeom>
          <a:noFill/>
          <a:ln w="7144">
            <a:solidFill>
              <a:srgbClr val="E2E8F0"/>
            </a:solidFill>
            <a:prstDash val="solid"/>
          </a:ln>
        </p:spPr>
        <p:txBody>
          <a:bodyPr/>
          <a:lstStyle/>
          <a:p>
            <a:endParaRPr lang="en-IN"/>
          </a:p>
        </p:txBody>
      </p:sp>
      <p:sp>
        <p:nvSpPr>
          <p:cNvPr id="8" name="Shape 6"/>
          <p:cNvSpPr/>
          <p:nvPr/>
        </p:nvSpPr>
        <p:spPr>
          <a:xfrm>
            <a:off x="471488" y="1024347"/>
            <a:ext cx="0" cy="1830921"/>
          </a:xfrm>
          <a:prstGeom prst="line">
            <a:avLst/>
          </a:prstGeom>
          <a:noFill/>
          <a:ln w="28575">
            <a:solidFill>
              <a:srgbClr val="0EA5E9"/>
            </a:solidFill>
            <a:prstDash val="solid"/>
          </a:ln>
        </p:spPr>
        <p:txBody>
          <a:bodyPr/>
          <a:lstStyle/>
          <a:p>
            <a:endParaRPr lang="en-IN"/>
          </a:p>
        </p:txBody>
      </p:sp>
      <p:sp>
        <p:nvSpPr>
          <p:cNvPr id="9" name="Text 7"/>
          <p:cNvSpPr/>
          <p:nvPr/>
        </p:nvSpPr>
        <p:spPr>
          <a:xfrm>
            <a:off x="628650" y="1160078"/>
            <a:ext cx="629096" cy="235744"/>
          </a:xfrm>
          <a:prstGeom prst="rect">
            <a:avLst/>
          </a:prstGeom>
          <a:noFill/>
          <a:ln/>
        </p:spPr>
        <p:txBody>
          <a:bodyPr wrap="none" lIns="0" tIns="0" rIns="0" bIns="0" rtlCol="0" anchor="ctr"/>
          <a:lstStyle/>
          <a:p>
            <a:pPr marL="0" indent="0" algn="ctr">
              <a:buNone/>
            </a:pPr>
            <a:r>
              <a:rPr lang="en-US" sz="1547" dirty="0">
                <a:solidFill>
                  <a:srgbClr val="0EA5E9"/>
                </a:solidFill>
                <a:latin typeface="Segoe UI Symbol" pitchFamily="34" charset="0"/>
                <a:ea typeface="Segoe UI Symbol" pitchFamily="34" charset="-122"/>
                <a:cs typeface="Segoe UI Symbol" pitchFamily="34" charset="-120"/>
              </a:rPr>
              <a:t>✦</a:t>
            </a:r>
            <a:endParaRPr lang="en-US" sz="1547" dirty="0"/>
          </a:p>
        </p:txBody>
      </p:sp>
      <p:sp>
        <p:nvSpPr>
          <p:cNvPr id="10" name="Text 8"/>
          <p:cNvSpPr/>
          <p:nvPr/>
        </p:nvSpPr>
        <p:spPr>
          <a:xfrm>
            <a:off x="1329184" y="1185081"/>
            <a:ext cx="1644960" cy="200597"/>
          </a:xfrm>
          <a:prstGeom prst="rect">
            <a:avLst/>
          </a:prstGeom>
          <a:noFill/>
          <a:ln/>
        </p:spPr>
        <p:txBody>
          <a:bodyPr wrap="none" lIns="0" tIns="0" rIns="0" bIns="0" rtlCol="0" anchor="t"/>
          <a:lstStyle/>
          <a:p>
            <a:pPr marL="0" indent="0" algn="l">
              <a:lnSpc>
                <a:spcPts val="1463"/>
              </a:lnSpc>
              <a:buNone/>
            </a:pPr>
            <a:r>
              <a:rPr lang="en-US" sz="1125" b="1" dirty="0">
                <a:solidFill>
                  <a:srgbClr val="0F172A"/>
                </a:solidFill>
                <a:latin typeface="Liberation Sans Narrow" pitchFamily="34" charset="0"/>
                <a:ea typeface="Liberation Sans Narrow" pitchFamily="34" charset="-122"/>
                <a:cs typeface="Liberation Sans Narrow" pitchFamily="34" charset="-120"/>
              </a:rPr>
              <a:t>Regularization (L1 + L2)</a:t>
            </a:r>
            <a:endParaRPr lang="en-US" sz="1125" dirty="0"/>
          </a:p>
        </p:txBody>
      </p:sp>
      <p:sp>
        <p:nvSpPr>
          <p:cNvPr id="11" name="Text 9"/>
          <p:cNvSpPr/>
          <p:nvPr/>
        </p:nvSpPr>
        <p:spPr>
          <a:xfrm>
            <a:off x="628650" y="1452972"/>
            <a:ext cx="2345494" cy="658368"/>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XGBoost adds L1 (lasso) and L2 (ridge) penalty terms to the objective function, penalizing complex trees. This prevents overfitting — a major weakness of earlier boosting methods.</a:t>
            </a:r>
            <a:endParaRPr lang="en-US" sz="800" dirty="0"/>
          </a:p>
        </p:txBody>
      </p:sp>
      <p:sp>
        <p:nvSpPr>
          <p:cNvPr id="12" name="Text 10"/>
          <p:cNvSpPr/>
          <p:nvPr/>
        </p:nvSpPr>
        <p:spPr>
          <a:xfrm>
            <a:off x="3238463" y="1024347"/>
            <a:ext cx="2666963" cy="1830921"/>
          </a:xfrm>
          <a:prstGeom prst="roundRect">
            <a:avLst>
              <a:gd name="adj" fmla="val 6243"/>
            </a:avLst>
          </a:prstGeom>
          <a:solidFill>
            <a:srgbClr val="F8FAFC"/>
          </a:solidFill>
          <a:ln/>
        </p:spPr>
        <p:txBody>
          <a:bodyPr wrap="square" rtlCol="0" anchor="ctr"/>
          <a:lstStyle/>
          <a:p>
            <a:pPr marL="0" indent="0">
              <a:buNone/>
            </a:pPr>
            <a:endParaRPr lang="en-US" dirty="0"/>
          </a:p>
        </p:txBody>
      </p:sp>
      <p:sp>
        <p:nvSpPr>
          <p:cNvPr id="13" name="Shape 11"/>
          <p:cNvSpPr/>
          <p:nvPr/>
        </p:nvSpPr>
        <p:spPr>
          <a:xfrm>
            <a:off x="3238463" y="1027919"/>
            <a:ext cx="2666963" cy="0"/>
          </a:xfrm>
          <a:prstGeom prst="line">
            <a:avLst/>
          </a:prstGeom>
          <a:noFill/>
          <a:ln w="7144">
            <a:solidFill>
              <a:srgbClr val="E2E8F0"/>
            </a:solidFill>
            <a:prstDash val="solid"/>
          </a:ln>
        </p:spPr>
        <p:txBody>
          <a:bodyPr/>
          <a:lstStyle/>
          <a:p>
            <a:endParaRPr lang="en-IN"/>
          </a:p>
        </p:txBody>
      </p:sp>
      <p:sp>
        <p:nvSpPr>
          <p:cNvPr id="14" name="Shape 12"/>
          <p:cNvSpPr/>
          <p:nvPr/>
        </p:nvSpPr>
        <p:spPr>
          <a:xfrm>
            <a:off x="5901854" y="1024347"/>
            <a:ext cx="0" cy="1830921"/>
          </a:xfrm>
          <a:prstGeom prst="line">
            <a:avLst/>
          </a:prstGeom>
          <a:noFill/>
          <a:ln w="7144">
            <a:solidFill>
              <a:srgbClr val="E2E8F0"/>
            </a:solidFill>
            <a:prstDash val="solid"/>
          </a:ln>
        </p:spPr>
        <p:txBody>
          <a:bodyPr/>
          <a:lstStyle/>
          <a:p>
            <a:endParaRPr lang="en-IN"/>
          </a:p>
        </p:txBody>
      </p:sp>
      <p:sp>
        <p:nvSpPr>
          <p:cNvPr id="15" name="Shape 13"/>
          <p:cNvSpPr/>
          <p:nvPr/>
        </p:nvSpPr>
        <p:spPr>
          <a:xfrm>
            <a:off x="3238463" y="2851696"/>
            <a:ext cx="2666963" cy="0"/>
          </a:xfrm>
          <a:prstGeom prst="line">
            <a:avLst/>
          </a:prstGeom>
          <a:noFill/>
          <a:ln w="7144">
            <a:solidFill>
              <a:srgbClr val="E2E8F0"/>
            </a:solidFill>
            <a:prstDash val="solid"/>
          </a:ln>
        </p:spPr>
        <p:txBody>
          <a:bodyPr/>
          <a:lstStyle/>
          <a:p>
            <a:endParaRPr lang="en-IN"/>
          </a:p>
        </p:txBody>
      </p:sp>
      <p:sp>
        <p:nvSpPr>
          <p:cNvPr id="16" name="Shape 14"/>
          <p:cNvSpPr/>
          <p:nvPr/>
        </p:nvSpPr>
        <p:spPr>
          <a:xfrm>
            <a:off x="3252750" y="1024347"/>
            <a:ext cx="0" cy="1830921"/>
          </a:xfrm>
          <a:prstGeom prst="line">
            <a:avLst/>
          </a:prstGeom>
          <a:noFill/>
          <a:ln w="28575">
            <a:solidFill>
              <a:srgbClr val="10B981"/>
            </a:solidFill>
            <a:prstDash val="solid"/>
          </a:ln>
        </p:spPr>
        <p:txBody>
          <a:bodyPr/>
          <a:lstStyle/>
          <a:p>
            <a:endParaRPr lang="en-IN"/>
          </a:p>
        </p:txBody>
      </p:sp>
      <p:sp>
        <p:nvSpPr>
          <p:cNvPr id="17" name="Text 15"/>
          <p:cNvSpPr/>
          <p:nvPr/>
        </p:nvSpPr>
        <p:spPr>
          <a:xfrm>
            <a:off x="3409913" y="1227944"/>
            <a:ext cx="812602" cy="235744"/>
          </a:xfrm>
          <a:prstGeom prst="rect">
            <a:avLst/>
          </a:prstGeom>
          <a:noFill/>
          <a:ln/>
        </p:spPr>
        <p:txBody>
          <a:bodyPr wrap="none" lIns="0" tIns="0" rIns="0" bIns="0" rtlCol="0" anchor="ctr"/>
          <a:lstStyle/>
          <a:p>
            <a:pPr marL="0" indent="0" algn="ctr">
              <a:buNone/>
            </a:pPr>
            <a:r>
              <a:rPr lang="en-US" sz="1547" dirty="0">
                <a:solidFill>
                  <a:srgbClr val="10B981"/>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4293952" y="1160078"/>
            <a:ext cx="1461455" cy="401193"/>
          </a:xfrm>
          <a:prstGeom prst="rect">
            <a:avLst/>
          </a:prstGeom>
          <a:noFill/>
          <a:ln/>
        </p:spPr>
        <p:txBody>
          <a:bodyPr wrap="square" lIns="0" tIns="0" rIns="0" bIns="0" rtlCol="0" anchor="t"/>
          <a:lstStyle/>
          <a:p>
            <a:pPr marL="0" indent="0" algn="l">
              <a:lnSpc>
                <a:spcPts val="1463"/>
              </a:lnSpc>
              <a:buNone/>
            </a:pPr>
            <a:r>
              <a:rPr lang="en-US" sz="1125" b="1" dirty="0">
                <a:solidFill>
                  <a:srgbClr val="0F172A"/>
                </a:solidFill>
                <a:latin typeface="Carlito" pitchFamily="34" charset="0"/>
                <a:ea typeface="Carlito" pitchFamily="34" charset="-122"/>
                <a:cs typeface="Carlito" pitchFamily="34" charset="-120"/>
              </a:rPr>
              <a:t>Tree Pruning (max_depth)</a:t>
            </a:r>
            <a:endParaRPr lang="en-US" sz="1125" dirty="0"/>
          </a:p>
        </p:txBody>
      </p:sp>
      <p:sp>
        <p:nvSpPr>
          <p:cNvPr id="19" name="Text 17"/>
          <p:cNvSpPr/>
          <p:nvPr/>
        </p:nvSpPr>
        <p:spPr>
          <a:xfrm>
            <a:off x="3409913" y="1588703"/>
            <a:ext cx="2345494" cy="658368"/>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Uses a depth-first approach with a post-pruning strategy. Grows trees to max depth then prunes backward. The gamma parameter controls the minimum loss reduction required for a split.</a:t>
            </a:r>
            <a:endParaRPr lang="en-US" sz="800" dirty="0"/>
          </a:p>
        </p:txBody>
      </p:sp>
      <p:sp>
        <p:nvSpPr>
          <p:cNvPr id="20" name="Text 18"/>
          <p:cNvSpPr/>
          <p:nvPr/>
        </p:nvSpPr>
        <p:spPr>
          <a:xfrm>
            <a:off x="6019726" y="1024347"/>
            <a:ext cx="2667074" cy="1830921"/>
          </a:xfrm>
          <a:prstGeom prst="roundRect">
            <a:avLst>
              <a:gd name="adj" fmla="val 6243"/>
            </a:avLst>
          </a:prstGeom>
          <a:solidFill>
            <a:srgbClr val="F8FAFC"/>
          </a:solidFill>
          <a:ln/>
        </p:spPr>
        <p:txBody>
          <a:bodyPr wrap="square" rtlCol="0" anchor="ctr"/>
          <a:lstStyle/>
          <a:p>
            <a:pPr marL="0" indent="0">
              <a:buNone/>
            </a:pPr>
            <a:endParaRPr lang="en-US" dirty="0"/>
          </a:p>
        </p:txBody>
      </p:sp>
      <p:sp>
        <p:nvSpPr>
          <p:cNvPr id="21" name="Shape 19"/>
          <p:cNvSpPr/>
          <p:nvPr/>
        </p:nvSpPr>
        <p:spPr>
          <a:xfrm>
            <a:off x="6019726" y="1027919"/>
            <a:ext cx="2667074" cy="0"/>
          </a:xfrm>
          <a:prstGeom prst="line">
            <a:avLst/>
          </a:prstGeom>
          <a:noFill/>
          <a:ln w="7144">
            <a:solidFill>
              <a:srgbClr val="E2E8F0"/>
            </a:solidFill>
            <a:prstDash val="solid"/>
          </a:ln>
        </p:spPr>
        <p:txBody>
          <a:bodyPr/>
          <a:lstStyle/>
          <a:p>
            <a:endParaRPr lang="en-IN"/>
          </a:p>
        </p:txBody>
      </p:sp>
      <p:sp>
        <p:nvSpPr>
          <p:cNvPr id="22" name="Shape 20"/>
          <p:cNvSpPr/>
          <p:nvPr/>
        </p:nvSpPr>
        <p:spPr>
          <a:xfrm>
            <a:off x="8683228" y="1024347"/>
            <a:ext cx="0" cy="1830921"/>
          </a:xfrm>
          <a:prstGeom prst="line">
            <a:avLst/>
          </a:prstGeom>
          <a:noFill/>
          <a:ln w="7144">
            <a:solidFill>
              <a:srgbClr val="E2E8F0"/>
            </a:solidFill>
            <a:prstDash val="solid"/>
          </a:ln>
        </p:spPr>
        <p:txBody>
          <a:bodyPr/>
          <a:lstStyle/>
          <a:p>
            <a:endParaRPr lang="en-IN"/>
          </a:p>
        </p:txBody>
      </p:sp>
      <p:sp>
        <p:nvSpPr>
          <p:cNvPr id="23" name="Shape 21"/>
          <p:cNvSpPr/>
          <p:nvPr/>
        </p:nvSpPr>
        <p:spPr>
          <a:xfrm>
            <a:off x="6019726" y="2851696"/>
            <a:ext cx="2667074" cy="0"/>
          </a:xfrm>
          <a:prstGeom prst="line">
            <a:avLst/>
          </a:prstGeom>
          <a:noFill/>
          <a:ln w="7144">
            <a:solidFill>
              <a:srgbClr val="E2E8F0"/>
            </a:solidFill>
            <a:prstDash val="solid"/>
          </a:ln>
        </p:spPr>
        <p:txBody>
          <a:bodyPr/>
          <a:lstStyle/>
          <a:p>
            <a:endParaRPr lang="en-IN"/>
          </a:p>
        </p:txBody>
      </p:sp>
      <p:sp>
        <p:nvSpPr>
          <p:cNvPr id="24" name="Shape 22"/>
          <p:cNvSpPr/>
          <p:nvPr/>
        </p:nvSpPr>
        <p:spPr>
          <a:xfrm>
            <a:off x="6034013" y="1024347"/>
            <a:ext cx="0" cy="1830921"/>
          </a:xfrm>
          <a:prstGeom prst="line">
            <a:avLst/>
          </a:prstGeom>
          <a:noFill/>
          <a:ln w="28575">
            <a:solidFill>
              <a:srgbClr val="F59E0B"/>
            </a:solidFill>
            <a:prstDash val="solid"/>
          </a:ln>
        </p:spPr>
        <p:txBody>
          <a:bodyPr/>
          <a:lstStyle/>
          <a:p>
            <a:endParaRPr lang="en-IN"/>
          </a:p>
        </p:txBody>
      </p:sp>
      <p:sp>
        <p:nvSpPr>
          <p:cNvPr id="25" name="Text 23"/>
          <p:cNvSpPr/>
          <p:nvPr/>
        </p:nvSpPr>
        <p:spPr>
          <a:xfrm>
            <a:off x="6191176" y="1160078"/>
            <a:ext cx="567593" cy="235744"/>
          </a:xfrm>
          <a:prstGeom prst="rect">
            <a:avLst/>
          </a:prstGeom>
          <a:noFill/>
          <a:ln/>
        </p:spPr>
        <p:txBody>
          <a:bodyPr wrap="none" lIns="0" tIns="0" rIns="0" bIns="0" rtlCol="0" anchor="ctr"/>
          <a:lstStyle/>
          <a:p>
            <a:pPr marL="0" indent="0" algn="ctr">
              <a:buNone/>
            </a:pPr>
            <a:r>
              <a:rPr lang="en-US" sz="1547" dirty="0">
                <a:solidFill>
                  <a:srgbClr val="F59E0B"/>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6830206" y="1185081"/>
            <a:ext cx="1706575" cy="200597"/>
          </a:xfrm>
          <a:prstGeom prst="rect">
            <a:avLst/>
          </a:prstGeom>
          <a:noFill/>
          <a:ln/>
        </p:spPr>
        <p:txBody>
          <a:bodyPr wrap="none" lIns="0" tIns="0" rIns="0" bIns="0" rtlCol="0" anchor="t"/>
          <a:lstStyle/>
          <a:p>
            <a:pPr marL="0" indent="0" algn="l">
              <a:lnSpc>
                <a:spcPts val="1463"/>
              </a:lnSpc>
              <a:buNone/>
            </a:pPr>
            <a:r>
              <a:rPr lang="en-US" sz="1125" b="1" dirty="0">
                <a:solidFill>
                  <a:srgbClr val="0F172A"/>
                </a:solidFill>
                <a:latin typeface="Carlito" pitchFamily="34" charset="0"/>
                <a:ea typeface="Carlito" pitchFamily="34" charset="-122"/>
                <a:cs typeface="Carlito" pitchFamily="34" charset="-120"/>
              </a:rPr>
              <a:t>Sparsity-Aware Learning</a:t>
            </a:r>
            <a:endParaRPr lang="en-US" sz="1125" dirty="0"/>
          </a:p>
        </p:txBody>
      </p:sp>
      <p:sp>
        <p:nvSpPr>
          <p:cNvPr id="27" name="Text 25"/>
          <p:cNvSpPr/>
          <p:nvPr/>
        </p:nvSpPr>
        <p:spPr>
          <a:xfrm>
            <a:off x="6191176" y="1452972"/>
            <a:ext cx="2345606" cy="658368"/>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Natively handles missing values and sparse data. Learns the default direction for missing values during training. No imputation needed — a huge practical advantage.</a:t>
            </a:r>
            <a:endParaRPr lang="en-US" sz="800" dirty="0"/>
          </a:p>
        </p:txBody>
      </p:sp>
      <p:sp>
        <p:nvSpPr>
          <p:cNvPr id="28" name="Text 26"/>
          <p:cNvSpPr/>
          <p:nvPr/>
        </p:nvSpPr>
        <p:spPr>
          <a:xfrm>
            <a:off x="457200" y="2969568"/>
            <a:ext cx="2666963" cy="1831032"/>
          </a:xfrm>
          <a:prstGeom prst="roundRect">
            <a:avLst>
              <a:gd name="adj" fmla="val 6242"/>
            </a:avLst>
          </a:prstGeom>
          <a:solidFill>
            <a:srgbClr val="F8FAFC"/>
          </a:solidFill>
          <a:ln/>
        </p:spPr>
        <p:txBody>
          <a:bodyPr wrap="square" rtlCol="0" anchor="ctr"/>
          <a:lstStyle/>
          <a:p>
            <a:pPr marL="0" indent="0">
              <a:buNone/>
            </a:pPr>
            <a:endParaRPr lang="en-US" dirty="0"/>
          </a:p>
        </p:txBody>
      </p:sp>
      <p:sp>
        <p:nvSpPr>
          <p:cNvPr id="29" name="Shape 27"/>
          <p:cNvSpPr/>
          <p:nvPr/>
        </p:nvSpPr>
        <p:spPr>
          <a:xfrm>
            <a:off x="457200" y="2973139"/>
            <a:ext cx="2666963" cy="0"/>
          </a:xfrm>
          <a:prstGeom prst="line">
            <a:avLst/>
          </a:prstGeom>
          <a:noFill/>
          <a:ln w="7144">
            <a:solidFill>
              <a:srgbClr val="E2E8F0"/>
            </a:solidFill>
            <a:prstDash val="solid"/>
          </a:ln>
        </p:spPr>
        <p:txBody>
          <a:bodyPr/>
          <a:lstStyle/>
          <a:p>
            <a:endParaRPr lang="en-IN"/>
          </a:p>
        </p:txBody>
      </p:sp>
      <p:sp>
        <p:nvSpPr>
          <p:cNvPr id="30" name="Shape 28"/>
          <p:cNvSpPr/>
          <p:nvPr/>
        </p:nvSpPr>
        <p:spPr>
          <a:xfrm>
            <a:off x="3120591" y="2969568"/>
            <a:ext cx="0" cy="1831032"/>
          </a:xfrm>
          <a:prstGeom prst="line">
            <a:avLst/>
          </a:prstGeom>
          <a:noFill/>
          <a:ln w="7144">
            <a:solidFill>
              <a:srgbClr val="E2E8F0"/>
            </a:solidFill>
            <a:prstDash val="solid"/>
          </a:ln>
        </p:spPr>
        <p:txBody>
          <a:bodyPr/>
          <a:lstStyle/>
          <a:p>
            <a:endParaRPr lang="en-IN"/>
          </a:p>
        </p:txBody>
      </p:sp>
      <p:sp>
        <p:nvSpPr>
          <p:cNvPr id="31" name="Shape 29"/>
          <p:cNvSpPr/>
          <p:nvPr/>
        </p:nvSpPr>
        <p:spPr>
          <a:xfrm>
            <a:off x="457200" y="4797028"/>
            <a:ext cx="2666963" cy="0"/>
          </a:xfrm>
          <a:prstGeom prst="line">
            <a:avLst/>
          </a:prstGeom>
          <a:noFill/>
          <a:ln w="7144">
            <a:solidFill>
              <a:srgbClr val="E2E8F0"/>
            </a:solidFill>
            <a:prstDash val="solid"/>
          </a:ln>
        </p:spPr>
        <p:txBody>
          <a:bodyPr/>
          <a:lstStyle/>
          <a:p>
            <a:endParaRPr lang="en-IN"/>
          </a:p>
        </p:txBody>
      </p:sp>
      <p:sp>
        <p:nvSpPr>
          <p:cNvPr id="32" name="Shape 30"/>
          <p:cNvSpPr/>
          <p:nvPr/>
        </p:nvSpPr>
        <p:spPr>
          <a:xfrm>
            <a:off x="471488" y="2969568"/>
            <a:ext cx="0" cy="1831032"/>
          </a:xfrm>
          <a:prstGeom prst="line">
            <a:avLst/>
          </a:prstGeom>
          <a:noFill/>
          <a:ln w="28575">
            <a:solidFill>
              <a:srgbClr val="8B5CF6"/>
            </a:solidFill>
            <a:prstDash val="solid"/>
          </a:ln>
        </p:spPr>
        <p:txBody>
          <a:bodyPr/>
          <a:lstStyle/>
          <a:p>
            <a:endParaRPr lang="en-IN"/>
          </a:p>
        </p:txBody>
      </p:sp>
      <p:sp>
        <p:nvSpPr>
          <p:cNvPr id="33" name="Text 31"/>
          <p:cNvSpPr/>
          <p:nvPr/>
        </p:nvSpPr>
        <p:spPr>
          <a:xfrm>
            <a:off x="628650" y="3105299"/>
            <a:ext cx="428290" cy="235744"/>
          </a:xfrm>
          <a:prstGeom prst="rect">
            <a:avLst/>
          </a:prstGeom>
          <a:noFill/>
          <a:ln/>
        </p:spPr>
        <p:txBody>
          <a:bodyPr wrap="none" lIns="0" tIns="0" rIns="0" bIns="0" rtlCol="0" anchor="ctr"/>
          <a:lstStyle/>
          <a:p>
            <a:pPr marL="0" indent="0" algn="ctr">
              <a:buNone/>
            </a:pPr>
            <a:r>
              <a:rPr lang="en-US" sz="1547" dirty="0">
                <a:solidFill>
                  <a:srgbClr val="8B5CF6"/>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1128378" y="3130302"/>
            <a:ext cx="1845766" cy="200597"/>
          </a:xfrm>
          <a:prstGeom prst="rect">
            <a:avLst/>
          </a:prstGeom>
          <a:noFill/>
          <a:ln/>
        </p:spPr>
        <p:txBody>
          <a:bodyPr wrap="none" lIns="0" tIns="0" rIns="0" bIns="0" rtlCol="0" anchor="t"/>
          <a:lstStyle/>
          <a:p>
            <a:pPr marL="0" indent="0" algn="l">
              <a:lnSpc>
                <a:spcPts val="1463"/>
              </a:lnSpc>
              <a:buNone/>
            </a:pPr>
            <a:r>
              <a:rPr lang="en-US" sz="1125" b="1" dirty="0">
                <a:solidFill>
                  <a:srgbClr val="0F172A"/>
                </a:solidFill>
                <a:latin typeface="Carlito" pitchFamily="34" charset="0"/>
                <a:ea typeface="Carlito" pitchFamily="34" charset="-122"/>
                <a:cs typeface="Carlito" pitchFamily="34" charset="-120"/>
              </a:rPr>
              <a:t>Hardware Optimization</a:t>
            </a:r>
            <a:endParaRPr lang="en-US" sz="1125" dirty="0"/>
          </a:p>
        </p:txBody>
      </p:sp>
      <p:sp>
        <p:nvSpPr>
          <p:cNvPr id="35" name="Text 33"/>
          <p:cNvSpPr/>
          <p:nvPr/>
        </p:nvSpPr>
        <p:spPr>
          <a:xfrm>
            <a:off x="628650" y="3398193"/>
            <a:ext cx="2345494" cy="658368"/>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Cache-aware access patterns, out-of-core computation for datasets larger than RAM, and parallelization across CPU cores at the feature-split level.</a:t>
            </a:r>
            <a:endParaRPr lang="en-US" sz="800" dirty="0"/>
          </a:p>
        </p:txBody>
      </p:sp>
      <p:sp>
        <p:nvSpPr>
          <p:cNvPr id="36" name="Text 34"/>
          <p:cNvSpPr/>
          <p:nvPr/>
        </p:nvSpPr>
        <p:spPr>
          <a:xfrm>
            <a:off x="3238463" y="2969568"/>
            <a:ext cx="2666963" cy="1831032"/>
          </a:xfrm>
          <a:prstGeom prst="roundRect">
            <a:avLst>
              <a:gd name="adj" fmla="val 6242"/>
            </a:avLst>
          </a:prstGeom>
          <a:solidFill>
            <a:srgbClr val="F8FAFC"/>
          </a:solidFill>
          <a:ln/>
        </p:spPr>
        <p:txBody>
          <a:bodyPr wrap="square" rtlCol="0" anchor="ctr"/>
          <a:lstStyle/>
          <a:p>
            <a:pPr marL="0" indent="0">
              <a:buNone/>
            </a:pPr>
            <a:endParaRPr lang="en-US" dirty="0"/>
          </a:p>
        </p:txBody>
      </p:sp>
      <p:sp>
        <p:nvSpPr>
          <p:cNvPr id="37" name="Shape 35"/>
          <p:cNvSpPr/>
          <p:nvPr/>
        </p:nvSpPr>
        <p:spPr>
          <a:xfrm>
            <a:off x="3238463" y="2973139"/>
            <a:ext cx="2666963" cy="0"/>
          </a:xfrm>
          <a:prstGeom prst="line">
            <a:avLst/>
          </a:prstGeom>
          <a:noFill/>
          <a:ln w="7144">
            <a:solidFill>
              <a:srgbClr val="E2E8F0"/>
            </a:solidFill>
            <a:prstDash val="solid"/>
          </a:ln>
        </p:spPr>
        <p:txBody>
          <a:bodyPr/>
          <a:lstStyle/>
          <a:p>
            <a:endParaRPr lang="en-IN"/>
          </a:p>
        </p:txBody>
      </p:sp>
      <p:sp>
        <p:nvSpPr>
          <p:cNvPr id="38" name="Shape 36"/>
          <p:cNvSpPr/>
          <p:nvPr/>
        </p:nvSpPr>
        <p:spPr>
          <a:xfrm>
            <a:off x="5901854" y="2969568"/>
            <a:ext cx="0" cy="1831032"/>
          </a:xfrm>
          <a:prstGeom prst="line">
            <a:avLst/>
          </a:prstGeom>
          <a:noFill/>
          <a:ln w="7144">
            <a:solidFill>
              <a:srgbClr val="E2E8F0"/>
            </a:solidFill>
            <a:prstDash val="solid"/>
          </a:ln>
        </p:spPr>
        <p:txBody>
          <a:bodyPr/>
          <a:lstStyle/>
          <a:p>
            <a:endParaRPr lang="en-IN"/>
          </a:p>
        </p:txBody>
      </p:sp>
      <p:sp>
        <p:nvSpPr>
          <p:cNvPr id="39" name="Shape 37"/>
          <p:cNvSpPr/>
          <p:nvPr/>
        </p:nvSpPr>
        <p:spPr>
          <a:xfrm>
            <a:off x="3238463" y="4797028"/>
            <a:ext cx="2666963" cy="0"/>
          </a:xfrm>
          <a:prstGeom prst="line">
            <a:avLst/>
          </a:prstGeom>
          <a:noFill/>
          <a:ln w="7144">
            <a:solidFill>
              <a:srgbClr val="E2E8F0"/>
            </a:solidFill>
            <a:prstDash val="solid"/>
          </a:ln>
        </p:spPr>
        <p:txBody>
          <a:bodyPr/>
          <a:lstStyle/>
          <a:p>
            <a:endParaRPr lang="en-IN"/>
          </a:p>
        </p:txBody>
      </p:sp>
      <p:sp>
        <p:nvSpPr>
          <p:cNvPr id="40" name="Shape 38"/>
          <p:cNvSpPr/>
          <p:nvPr/>
        </p:nvSpPr>
        <p:spPr>
          <a:xfrm>
            <a:off x="3252750" y="2969568"/>
            <a:ext cx="0" cy="1831032"/>
          </a:xfrm>
          <a:prstGeom prst="line">
            <a:avLst/>
          </a:prstGeom>
          <a:noFill/>
          <a:ln w="28575">
            <a:solidFill>
              <a:srgbClr val="0EA5E9"/>
            </a:solidFill>
            <a:prstDash val="solid"/>
          </a:ln>
        </p:spPr>
        <p:txBody>
          <a:bodyPr/>
          <a:lstStyle/>
          <a:p>
            <a:endParaRPr lang="en-IN"/>
          </a:p>
        </p:txBody>
      </p:sp>
      <p:sp>
        <p:nvSpPr>
          <p:cNvPr id="41" name="Text 39"/>
          <p:cNvSpPr/>
          <p:nvPr/>
        </p:nvSpPr>
        <p:spPr>
          <a:xfrm>
            <a:off x="3409913" y="3105299"/>
            <a:ext cx="305953" cy="235744"/>
          </a:xfrm>
          <a:prstGeom prst="rect">
            <a:avLst/>
          </a:prstGeom>
          <a:noFill/>
          <a:ln/>
        </p:spPr>
        <p:txBody>
          <a:bodyPr wrap="none" lIns="0" tIns="0" rIns="0" bIns="0" rtlCol="0" anchor="ctr"/>
          <a:lstStyle/>
          <a:p>
            <a:pPr marL="0" indent="0" algn="ctr">
              <a:buNone/>
            </a:pPr>
            <a:r>
              <a:rPr lang="en-US" sz="1547" dirty="0">
                <a:solidFill>
                  <a:srgbClr val="0EA5E9"/>
                </a:solidFill>
                <a:latin typeface="Segoe UI Symbol" pitchFamily="34" charset="0"/>
                <a:ea typeface="Segoe UI Symbol" pitchFamily="34" charset="-122"/>
                <a:cs typeface="Segoe UI Symbol" pitchFamily="34" charset="-120"/>
              </a:rPr>
              <a:t>⚙</a:t>
            </a:r>
            <a:endParaRPr lang="en-US" sz="1547" dirty="0"/>
          </a:p>
        </p:txBody>
      </p:sp>
      <p:sp>
        <p:nvSpPr>
          <p:cNvPr id="42" name="Text 40"/>
          <p:cNvSpPr/>
          <p:nvPr/>
        </p:nvSpPr>
        <p:spPr>
          <a:xfrm>
            <a:off x="3787304" y="3130302"/>
            <a:ext cx="1968103" cy="200597"/>
          </a:xfrm>
          <a:prstGeom prst="rect">
            <a:avLst/>
          </a:prstGeom>
          <a:noFill/>
          <a:ln/>
        </p:spPr>
        <p:txBody>
          <a:bodyPr wrap="none" lIns="0" tIns="0" rIns="0" bIns="0" rtlCol="0" anchor="t"/>
          <a:lstStyle/>
          <a:p>
            <a:pPr marL="0" indent="0" algn="l">
              <a:lnSpc>
                <a:spcPts val="1463"/>
              </a:lnSpc>
              <a:buNone/>
            </a:pPr>
            <a:r>
              <a:rPr lang="en-US" sz="1125" b="1" dirty="0">
                <a:solidFill>
                  <a:srgbClr val="0F172A"/>
                </a:solidFill>
                <a:latin typeface="Carlito" pitchFamily="34" charset="0"/>
                <a:ea typeface="Carlito" pitchFamily="34" charset="-122"/>
                <a:cs typeface="Carlito" pitchFamily="34" charset="-120"/>
              </a:rPr>
              <a:t>Custom Loss Functions</a:t>
            </a:r>
            <a:endParaRPr lang="en-US" sz="1125" dirty="0"/>
          </a:p>
        </p:txBody>
      </p:sp>
      <p:sp>
        <p:nvSpPr>
          <p:cNvPr id="43" name="Text 41"/>
          <p:cNvSpPr/>
          <p:nvPr/>
        </p:nvSpPr>
        <p:spPr>
          <a:xfrm>
            <a:off x="3409913" y="3398193"/>
            <a:ext cx="2345494" cy="493776"/>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Supports any differentiable loss function (logistic, squared error, Huber, custom). Pass your own gradient and hessian — unmatched flexibility.</a:t>
            </a:r>
            <a:endParaRPr lang="en-US" sz="800" dirty="0"/>
          </a:p>
        </p:txBody>
      </p:sp>
      <p:sp>
        <p:nvSpPr>
          <p:cNvPr id="44" name="Text 42"/>
          <p:cNvSpPr/>
          <p:nvPr/>
        </p:nvSpPr>
        <p:spPr>
          <a:xfrm>
            <a:off x="6019726" y="2969568"/>
            <a:ext cx="2667074" cy="1831032"/>
          </a:xfrm>
          <a:prstGeom prst="roundRect">
            <a:avLst>
              <a:gd name="adj" fmla="val 6242"/>
            </a:avLst>
          </a:prstGeom>
          <a:solidFill>
            <a:srgbClr val="F8FAFC"/>
          </a:solidFill>
          <a:ln/>
        </p:spPr>
        <p:txBody>
          <a:bodyPr wrap="square" rtlCol="0" anchor="ctr"/>
          <a:lstStyle/>
          <a:p>
            <a:pPr marL="0" indent="0">
              <a:buNone/>
            </a:pPr>
            <a:endParaRPr lang="en-US" dirty="0"/>
          </a:p>
        </p:txBody>
      </p:sp>
      <p:sp>
        <p:nvSpPr>
          <p:cNvPr id="45" name="Shape 43"/>
          <p:cNvSpPr/>
          <p:nvPr/>
        </p:nvSpPr>
        <p:spPr>
          <a:xfrm>
            <a:off x="6019726" y="2973139"/>
            <a:ext cx="2667074" cy="0"/>
          </a:xfrm>
          <a:prstGeom prst="line">
            <a:avLst/>
          </a:prstGeom>
          <a:noFill/>
          <a:ln w="7144">
            <a:solidFill>
              <a:srgbClr val="E2E8F0"/>
            </a:solidFill>
            <a:prstDash val="solid"/>
          </a:ln>
        </p:spPr>
        <p:txBody>
          <a:bodyPr/>
          <a:lstStyle/>
          <a:p>
            <a:endParaRPr lang="en-IN"/>
          </a:p>
        </p:txBody>
      </p:sp>
      <p:sp>
        <p:nvSpPr>
          <p:cNvPr id="46" name="Shape 44"/>
          <p:cNvSpPr/>
          <p:nvPr/>
        </p:nvSpPr>
        <p:spPr>
          <a:xfrm>
            <a:off x="8683228" y="2969568"/>
            <a:ext cx="0" cy="1831032"/>
          </a:xfrm>
          <a:prstGeom prst="line">
            <a:avLst/>
          </a:prstGeom>
          <a:noFill/>
          <a:ln w="7144">
            <a:solidFill>
              <a:srgbClr val="E2E8F0"/>
            </a:solidFill>
            <a:prstDash val="solid"/>
          </a:ln>
        </p:spPr>
        <p:txBody>
          <a:bodyPr/>
          <a:lstStyle/>
          <a:p>
            <a:endParaRPr lang="en-IN"/>
          </a:p>
        </p:txBody>
      </p:sp>
      <p:sp>
        <p:nvSpPr>
          <p:cNvPr id="47" name="Shape 45"/>
          <p:cNvSpPr/>
          <p:nvPr/>
        </p:nvSpPr>
        <p:spPr>
          <a:xfrm>
            <a:off x="6019726" y="4797028"/>
            <a:ext cx="2667074" cy="0"/>
          </a:xfrm>
          <a:prstGeom prst="line">
            <a:avLst/>
          </a:prstGeom>
          <a:noFill/>
          <a:ln w="7144">
            <a:solidFill>
              <a:srgbClr val="E2E8F0"/>
            </a:solidFill>
            <a:prstDash val="solid"/>
          </a:ln>
        </p:spPr>
        <p:txBody>
          <a:bodyPr/>
          <a:lstStyle/>
          <a:p>
            <a:endParaRPr lang="en-IN"/>
          </a:p>
        </p:txBody>
      </p:sp>
      <p:sp>
        <p:nvSpPr>
          <p:cNvPr id="48" name="Shape 46"/>
          <p:cNvSpPr/>
          <p:nvPr/>
        </p:nvSpPr>
        <p:spPr>
          <a:xfrm>
            <a:off x="6034013" y="2969568"/>
            <a:ext cx="0" cy="1831032"/>
          </a:xfrm>
          <a:prstGeom prst="line">
            <a:avLst/>
          </a:prstGeom>
          <a:noFill/>
          <a:ln w="28575">
            <a:solidFill>
              <a:srgbClr val="10B981"/>
            </a:solidFill>
            <a:prstDash val="solid"/>
          </a:ln>
        </p:spPr>
        <p:txBody>
          <a:bodyPr/>
          <a:lstStyle/>
          <a:p>
            <a:endParaRPr lang="en-IN"/>
          </a:p>
        </p:txBody>
      </p:sp>
      <p:sp>
        <p:nvSpPr>
          <p:cNvPr id="49" name="Text 47"/>
          <p:cNvSpPr/>
          <p:nvPr/>
        </p:nvSpPr>
        <p:spPr>
          <a:xfrm>
            <a:off x="6191176" y="3105299"/>
            <a:ext cx="410654" cy="235744"/>
          </a:xfrm>
          <a:prstGeom prst="rect">
            <a:avLst/>
          </a:prstGeom>
          <a:noFill/>
          <a:ln/>
        </p:spPr>
        <p:txBody>
          <a:bodyPr wrap="none" lIns="0" tIns="0" rIns="0" bIns="0" rtlCol="0" anchor="ctr"/>
          <a:lstStyle/>
          <a:p>
            <a:pPr marL="0" indent="0" algn="ctr">
              <a:buNone/>
            </a:pPr>
            <a:r>
              <a:rPr lang="en-US" sz="1547" dirty="0">
                <a:solidFill>
                  <a:srgbClr val="10B981"/>
                </a:solidFill>
                <a:latin typeface="Segoe UI Symbol" pitchFamily="34" charset="0"/>
                <a:ea typeface="Segoe UI Symbol" pitchFamily="34" charset="-122"/>
                <a:cs typeface="Segoe UI Symbol" pitchFamily="34" charset="-120"/>
              </a:rPr>
              <a:t>⛨</a:t>
            </a:r>
            <a:endParaRPr lang="en-US" sz="1547" dirty="0"/>
          </a:p>
        </p:txBody>
      </p:sp>
      <p:sp>
        <p:nvSpPr>
          <p:cNvPr id="50" name="Text 48"/>
          <p:cNvSpPr/>
          <p:nvPr/>
        </p:nvSpPr>
        <p:spPr>
          <a:xfrm>
            <a:off x="6673267" y="3130302"/>
            <a:ext cx="1863514" cy="200597"/>
          </a:xfrm>
          <a:prstGeom prst="rect">
            <a:avLst/>
          </a:prstGeom>
          <a:noFill/>
          <a:ln/>
        </p:spPr>
        <p:txBody>
          <a:bodyPr wrap="none" lIns="0" tIns="0" rIns="0" bIns="0" rtlCol="0" anchor="t"/>
          <a:lstStyle/>
          <a:p>
            <a:pPr marL="0" indent="0" algn="l">
              <a:lnSpc>
                <a:spcPts val="1463"/>
              </a:lnSpc>
              <a:buNone/>
            </a:pPr>
            <a:r>
              <a:rPr lang="en-US" sz="1125" b="1" dirty="0">
                <a:solidFill>
                  <a:srgbClr val="0F172A"/>
                </a:solidFill>
                <a:latin typeface="Carlito" pitchFamily="34" charset="0"/>
                <a:ea typeface="Carlito" pitchFamily="34" charset="-122"/>
                <a:cs typeface="Carlito" pitchFamily="34" charset="-120"/>
              </a:rPr>
              <a:t>Built-in Cross-Validation</a:t>
            </a:r>
            <a:endParaRPr lang="en-US" sz="1125" dirty="0"/>
          </a:p>
        </p:txBody>
      </p:sp>
      <p:sp>
        <p:nvSpPr>
          <p:cNvPr id="51" name="Text 49"/>
          <p:cNvSpPr/>
          <p:nvPr/>
        </p:nvSpPr>
        <p:spPr>
          <a:xfrm>
            <a:off x="6191176" y="3398193"/>
            <a:ext cx="2345606" cy="493776"/>
          </a:xfrm>
          <a:prstGeom prst="rect">
            <a:avLst/>
          </a:prstGeom>
          <a:noFill/>
          <a:ln/>
        </p:spPr>
        <p:txBody>
          <a:bodyPr wrap="square" lIns="0" tIns="0" rIns="0" bIns="0" rtlCol="0" anchor="t"/>
          <a:lstStyle/>
          <a:p>
            <a:pPr marL="0" indent="0" algn="l">
              <a:lnSpc>
                <a:spcPts val="1181"/>
              </a:lnSpc>
              <a:buNone/>
            </a:pPr>
            <a:r>
              <a:rPr lang="en-US" sz="800" dirty="0">
                <a:solidFill>
                  <a:srgbClr val="334155"/>
                </a:solidFill>
                <a:latin typeface="Carlito" pitchFamily="34" charset="0"/>
                <a:ea typeface="Carlito" pitchFamily="34" charset="-122"/>
                <a:cs typeface="Carlito" pitchFamily="34" charset="-120"/>
              </a:rPr>
              <a:t>cv() method allows early stopping based on validation performance. Prevents overfitting by finding optimal number of trees automatically.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Understanding the XGBoost Objective</a:t>
            </a:r>
            <a:endParaRPr lang="en-US" sz="1800" dirty="0"/>
          </a:p>
        </p:txBody>
      </p:sp>
      <p:sp>
        <p:nvSpPr>
          <p:cNvPr id="3" name="Text 1"/>
          <p:cNvSpPr/>
          <p:nvPr/>
        </p:nvSpPr>
        <p:spPr>
          <a:xfrm>
            <a:off x="457200" y="731453"/>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60772" y="1013631"/>
            <a:ext cx="8222456" cy="3840324"/>
          </a:xfrm>
          <a:prstGeom prst="roundRect">
            <a:avLst>
              <a:gd name="adj" fmla="val 2976"/>
            </a:avLst>
          </a:prstGeom>
          <a:solidFill>
            <a:srgbClr val="F8FAFC"/>
          </a:solidFill>
          <a:ln w="7144">
            <a:solidFill>
              <a:srgbClr val="E2E8F0"/>
            </a:solidFill>
            <a:prstDash val="solid"/>
          </a:ln>
        </p:spPr>
        <p:txBody>
          <a:bodyPr wrap="square" rtlCol="0" anchor="ctr"/>
          <a:lstStyle/>
          <a:p>
            <a:pPr marL="0" indent="0">
              <a:buNone/>
            </a:pPr>
            <a:endParaRPr lang="en-US" dirty="0"/>
          </a:p>
        </p:txBody>
      </p:sp>
      <p:sp>
        <p:nvSpPr>
          <p:cNvPr id="5" name="Text 3"/>
          <p:cNvSpPr/>
          <p:nvPr/>
        </p:nvSpPr>
        <p:spPr>
          <a:xfrm>
            <a:off x="721519" y="1245803"/>
            <a:ext cx="7810690" cy="277749"/>
          </a:xfrm>
          <a:prstGeom prst="rect">
            <a:avLst/>
          </a:prstGeom>
          <a:noFill/>
          <a:ln/>
        </p:spPr>
        <p:txBody>
          <a:bodyPr wrap="square" lIns="0" tIns="0" rIns="0" bIns="0" rtlCol="0" anchor="t"/>
          <a:lstStyle/>
          <a:p>
            <a:pPr marL="0" indent="0" algn="l">
              <a:lnSpc>
                <a:spcPts val="2025"/>
              </a:lnSpc>
              <a:buNone/>
            </a:pPr>
            <a:r>
              <a:rPr lang="en-US" sz="1350" b="1" dirty="0">
                <a:solidFill>
                  <a:srgbClr val="0F172A"/>
                </a:solidFill>
                <a:latin typeface="Carlito" pitchFamily="34" charset="0"/>
                <a:ea typeface="Carlito" pitchFamily="34" charset="-122"/>
                <a:cs typeface="Carlito" pitchFamily="34" charset="-120"/>
              </a:rPr>
              <a:t>The Training Objective Explained</a:t>
            </a:r>
            <a:endParaRPr lang="en-US" sz="1350" dirty="0"/>
          </a:p>
        </p:txBody>
      </p:sp>
      <p:sp>
        <p:nvSpPr>
          <p:cNvPr id="6" name="Text 4"/>
          <p:cNvSpPr/>
          <p:nvPr/>
        </p:nvSpPr>
        <p:spPr>
          <a:xfrm>
            <a:off x="721519" y="1645853"/>
            <a:ext cx="7700963" cy="191314"/>
          </a:xfrm>
          <a:prstGeom prst="rect">
            <a:avLst/>
          </a:prstGeom>
          <a:noFill/>
          <a:ln/>
        </p:spPr>
        <p:txBody>
          <a:bodyPr wrap="square" lIns="0" tIns="0" rIns="0" bIns="0" rtlCol="0" anchor="t"/>
          <a:lstStyle/>
          <a:p>
            <a:pPr marL="0" indent="0" algn="l">
              <a:lnSpc>
                <a:spcPts val="1395"/>
              </a:lnSpc>
              <a:buNone/>
            </a:pPr>
            <a:r>
              <a:rPr lang="en-US" sz="900" dirty="0">
                <a:solidFill>
                  <a:srgbClr val="334155"/>
                </a:solidFill>
                <a:latin typeface="Carlito" pitchFamily="34" charset="0"/>
                <a:ea typeface="Carlito" pitchFamily="34" charset="-122"/>
                <a:cs typeface="Carlito" pitchFamily="34" charset="-120"/>
              </a:rPr>
              <a:t>At its core, XGBoost minimizes a loss function plus a regularization penalty. The total objective at round t has two parts:</a:t>
            </a:r>
            <a:endParaRPr lang="en-US" sz="900" dirty="0"/>
          </a:p>
        </p:txBody>
      </p:sp>
      <p:sp>
        <p:nvSpPr>
          <p:cNvPr id="7" name="Text 5"/>
          <p:cNvSpPr/>
          <p:nvPr/>
        </p:nvSpPr>
        <p:spPr>
          <a:xfrm>
            <a:off x="725091" y="1955155"/>
            <a:ext cx="7693819" cy="1022226"/>
          </a:xfrm>
          <a:prstGeom prst="roundRect">
            <a:avLst>
              <a:gd name="adj" fmla="val 7454"/>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8" name="Text 6"/>
          <p:cNvSpPr/>
          <p:nvPr/>
        </p:nvSpPr>
        <p:spPr>
          <a:xfrm>
            <a:off x="857250" y="2058739"/>
            <a:ext cx="342900" cy="342900"/>
          </a:xfrm>
          <a:prstGeom prst="ellipse">
            <a:avLst/>
          </a:prstGeom>
          <a:solidFill>
            <a:srgbClr val="E0F2FE"/>
          </a:solidFill>
          <a:ln/>
        </p:spPr>
        <p:txBody>
          <a:bodyPr wrap="square" rtlCol="0" anchor="ctr"/>
          <a:lstStyle/>
          <a:p>
            <a:pPr marL="0" indent="0">
              <a:buNone/>
            </a:pPr>
            <a:endParaRPr lang="en-US" dirty="0"/>
          </a:p>
        </p:txBody>
      </p:sp>
      <p:sp>
        <p:nvSpPr>
          <p:cNvPr id="9" name="Text 7"/>
          <p:cNvSpPr/>
          <p:nvPr/>
        </p:nvSpPr>
        <p:spPr>
          <a:xfrm>
            <a:off x="904399" y="2105888"/>
            <a:ext cx="248602" cy="248602"/>
          </a:xfrm>
          <a:prstGeom prst="rect">
            <a:avLst/>
          </a:prstGeom>
          <a:noFill/>
          <a:ln/>
        </p:spPr>
        <p:txBody>
          <a:bodyPr wrap="none" lIns="0" tIns="0" rIns="0" bIns="0" rtlCol="0" anchor="ctr"/>
          <a:lstStyle/>
          <a:p>
            <a:pPr marL="0" indent="0" algn="ctr">
              <a:buNone/>
            </a:pPr>
            <a:r>
              <a:rPr lang="en-US" sz="1688" dirty="0">
                <a:solidFill>
                  <a:srgbClr val="0EA5E9"/>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1314450" y="2080171"/>
            <a:ext cx="482304" cy="154734"/>
          </a:xfrm>
          <a:prstGeom prst="rect">
            <a:avLst/>
          </a:prstGeom>
          <a:noFill/>
          <a:ln/>
        </p:spPr>
        <p:txBody>
          <a:bodyPr wrap="none" lIns="0" tIns="0" rIns="0" bIns="0" rtlCol="0" anchor="t">
            <a:normAutofit/>
          </a:bodyPr>
          <a:lstStyle/>
          <a:p>
            <a:pPr marL="0" indent="0" algn="l">
              <a:lnSpc>
                <a:spcPts val="1097"/>
              </a:lnSpc>
              <a:buNone/>
            </a:pPr>
            <a:r>
              <a:rPr lang="en-US" sz="800" b="1" kern="0" spc="56" dirty="0">
                <a:solidFill>
                  <a:srgbClr val="0284C7"/>
                </a:solidFill>
                <a:latin typeface="Liberation Sans Narrow" pitchFamily="34" charset="0"/>
                <a:ea typeface="Liberation Sans Narrow" pitchFamily="34" charset="-122"/>
                <a:cs typeface="Liberation Sans Narrow" pitchFamily="34" charset="-120"/>
              </a:rPr>
              <a:t>PART 1</a:t>
            </a:r>
            <a:endParaRPr lang="en-US" sz="800" dirty="0"/>
          </a:p>
        </p:txBody>
      </p:sp>
      <p:sp>
        <p:nvSpPr>
          <p:cNvPr id="11" name="Text 9"/>
          <p:cNvSpPr/>
          <p:nvPr/>
        </p:nvSpPr>
        <p:spPr>
          <a:xfrm>
            <a:off x="1314450" y="2262336"/>
            <a:ext cx="6972300" cy="229743"/>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Loss Function</a:t>
            </a:r>
            <a:endParaRPr lang="en-US" sz="1125" dirty="0"/>
          </a:p>
        </p:txBody>
      </p:sp>
      <p:sp>
        <p:nvSpPr>
          <p:cNvPr id="12" name="Text 10"/>
          <p:cNvSpPr/>
          <p:nvPr/>
        </p:nvSpPr>
        <p:spPr>
          <a:xfrm>
            <a:off x="1314450" y="2519511"/>
            <a:ext cx="6972300" cy="354285"/>
          </a:xfrm>
          <a:prstGeom prst="rect">
            <a:avLst/>
          </a:prstGeom>
          <a:noFill/>
          <a:ln/>
        </p:spPr>
        <p:txBody>
          <a:bodyPr wrap="square" lIns="0" tIns="0" rIns="0" bIns="0" rtlCol="0" anchor="t"/>
          <a:lstStyle/>
          <a:p>
            <a:pPr marL="0" indent="0" algn="l">
              <a:lnSpc>
                <a:spcPts val="1395"/>
              </a:lnSpc>
              <a:buNone/>
            </a:pPr>
            <a:r>
              <a:rPr lang="en-US" sz="900" dirty="0">
                <a:solidFill>
                  <a:srgbClr val="334155"/>
                </a:solidFill>
                <a:latin typeface="Carlito" pitchFamily="34" charset="0"/>
                <a:ea typeface="Carlito" pitchFamily="34" charset="-122"/>
                <a:cs typeface="Carlito" pitchFamily="34" charset="-120"/>
              </a:rPr>
              <a:t>Measures how wrong the current ensemble's predictions are. For regression, this is typically Mean Squared Error. For classification, it's log loss. The lower the loss, the better the predictions fit the training data.</a:t>
            </a:r>
            <a:endParaRPr lang="en-US" sz="900" dirty="0"/>
          </a:p>
        </p:txBody>
      </p:sp>
      <p:sp>
        <p:nvSpPr>
          <p:cNvPr id="13" name="Text 11"/>
          <p:cNvSpPr/>
          <p:nvPr/>
        </p:nvSpPr>
        <p:spPr>
          <a:xfrm>
            <a:off x="725091" y="3113112"/>
            <a:ext cx="7693819" cy="1022226"/>
          </a:xfrm>
          <a:prstGeom prst="roundRect">
            <a:avLst>
              <a:gd name="adj" fmla="val 7454"/>
            </a:avLst>
          </a:prstGeom>
          <a:solidFill>
            <a:srgbClr val="FFFFFF"/>
          </a:solidFill>
          <a:ln w="7144">
            <a:solidFill>
              <a:srgbClr val="E2E8F0"/>
            </a:solidFill>
            <a:prstDash val="solid"/>
          </a:ln>
        </p:spPr>
        <p:txBody>
          <a:bodyPr wrap="square" rtlCol="0" anchor="ctr"/>
          <a:lstStyle/>
          <a:p>
            <a:pPr marL="0" indent="0">
              <a:buNone/>
            </a:pPr>
            <a:endParaRPr lang="en-US" dirty="0"/>
          </a:p>
        </p:txBody>
      </p:sp>
      <p:sp>
        <p:nvSpPr>
          <p:cNvPr id="14" name="Text 12"/>
          <p:cNvSpPr/>
          <p:nvPr/>
        </p:nvSpPr>
        <p:spPr>
          <a:xfrm>
            <a:off x="857250" y="3216697"/>
            <a:ext cx="342900" cy="342900"/>
          </a:xfrm>
          <a:prstGeom prst="ellipse">
            <a:avLst/>
          </a:prstGeom>
          <a:solidFill>
            <a:srgbClr val="F3E8FF"/>
          </a:solidFill>
          <a:ln/>
        </p:spPr>
        <p:txBody>
          <a:bodyPr wrap="square" rtlCol="0" anchor="ctr"/>
          <a:lstStyle/>
          <a:p>
            <a:pPr marL="0" indent="0">
              <a:buNone/>
            </a:pPr>
            <a:endParaRPr lang="en-US" dirty="0"/>
          </a:p>
        </p:txBody>
      </p:sp>
      <p:sp>
        <p:nvSpPr>
          <p:cNvPr id="15" name="Text 13"/>
          <p:cNvSpPr/>
          <p:nvPr/>
        </p:nvSpPr>
        <p:spPr>
          <a:xfrm>
            <a:off x="904399" y="3263845"/>
            <a:ext cx="248602" cy="248602"/>
          </a:xfrm>
          <a:prstGeom prst="rect">
            <a:avLst/>
          </a:prstGeom>
          <a:noFill/>
          <a:ln/>
        </p:spPr>
        <p:txBody>
          <a:bodyPr wrap="none" lIns="0" tIns="0" rIns="0" bIns="0" rtlCol="0" anchor="ctr"/>
          <a:lstStyle/>
          <a:p>
            <a:pPr marL="0" indent="0" algn="ctr">
              <a:buNone/>
            </a:pPr>
            <a:r>
              <a:rPr lang="en-US" sz="1688" dirty="0">
                <a:solidFill>
                  <a:srgbClr val="8B5CF6"/>
                </a:solidFill>
                <a:latin typeface="Segoe UI Symbol" pitchFamily="34" charset="0"/>
                <a:ea typeface="Segoe UI Symbol" pitchFamily="34" charset="-122"/>
                <a:cs typeface="Segoe UI Symbol" pitchFamily="34" charset="-120"/>
              </a:rPr>
              <a:t>⊘</a:t>
            </a:r>
            <a:endParaRPr lang="en-US" sz="1688" dirty="0"/>
          </a:p>
        </p:txBody>
      </p:sp>
      <p:sp>
        <p:nvSpPr>
          <p:cNvPr id="16" name="Text 14"/>
          <p:cNvSpPr/>
          <p:nvPr/>
        </p:nvSpPr>
        <p:spPr>
          <a:xfrm>
            <a:off x="1314450" y="3238128"/>
            <a:ext cx="482304" cy="154734"/>
          </a:xfrm>
          <a:prstGeom prst="rect">
            <a:avLst/>
          </a:prstGeom>
          <a:noFill/>
          <a:ln/>
        </p:spPr>
        <p:txBody>
          <a:bodyPr wrap="none" lIns="0" tIns="0" rIns="0" bIns="0" rtlCol="0" anchor="t">
            <a:normAutofit/>
          </a:bodyPr>
          <a:lstStyle/>
          <a:p>
            <a:pPr marL="0" indent="0" algn="l">
              <a:lnSpc>
                <a:spcPts val="1097"/>
              </a:lnSpc>
              <a:buNone/>
            </a:pPr>
            <a:r>
              <a:rPr lang="en-US" sz="800" b="1" kern="0" spc="56" dirty="0">
                <a:solidFill>
                  <a:srgbClr val="8B5CF6"/>
                </a:solidFill>
                <a:latin typeface="Liberation Sans Narrow" pitchFamily="34" charset="0"/>
                <a:ea typeface="Liberation Sans Narrow" pitchFamily="34" charset="-122"/>
                <a:cs typeface="Liberation Sans Narrow" pitchFamily="34" charset="-120"/>
              </a:rPr>
              <a:t>PART 2</a:t>
            </a:r>
            <a:endParaRPr lang="en-US" sz="800" dirty="0"/>
          </a:p>
        </p:txBody>
      </p:sp>
      <p:sp>
        <p:nvSpPr>
          <p:cNvPr id="17" name="Text 15"/>
          <p:cNvSpPr/>
          <p:nvPr/>
        </p:nvSpPr>
        <p:spPr>
          <a:xfrm>
            <a:off x="1314450" y="3420294"/>
            <a:ext cx="6972300" cy="229743"/>
          </a:xfrm>
          <a:prstGeom prst="rect">
            <a:avLst/>
          </a:prstGeom>
          <a:noFill/>
          <a:ln/>
        </p:spPr>
        <p:txBody>
          <a:bodyPr wrap="none" lIns="0" tIns="0" rIns="0" bIns="0" rtlCol="0" anchor="t">
            <a:normAutofit/>
          </a:bodyPr>
          <a:lstStyle/>
          <a:p>
            <a:pPr marL="0" indent="0" algn="l">
              <a:lnSpc>
                <a:spcPts val="1688"/>
              </a:lnSpc>
              <a:buNone/>
            </a:pPr>
            <a:r>
              <a:rPr lang="en-US" sz="1125" b="1" dirty="0">
                <a:solidFill>
                  <a:srgbClr val="0F172A"/>
                </a:solidFill>
                <a:latin typeface="Carlito" pitchFamily="34" charset="0"/>
                <a:ea typeface="Carlito" pitchFamily="34" charset="-122"/>
                <a:cs typeface="Carlito" pitchFamily="34" charset="-120"/>
              </a:rPr>
              <a:t>Regularization Term</a:t>
            </a:r>
            <a:endParaRPr lang="en-US" sz="1125" dirty="0"/>
          </a:p>
        </p:txBody>
      </p:sp>
      <p:sp>
        <p:nvSpPr>
          <p:cNvPr id="18" name="Text 16"/>
          <p:cNvSpPr/>
          <p:nvPr/>
        </p:nvSpPr>
        <p:spPr>
          <a:xfrm>
            <a:off x="1314450" y="3677469"/>
            <a:ext cx="6972300" cy="354285"/>
          </a:xfrm>
          <a:prstGeom prst="rect">
            <a:avLst/>
          </a:prstGeom>
          <a:noFill/>
          <a:ln/>
        </p:spPr>
        <p:txBody>
          <a:bodyPr wrap="square" lIns="0" tIns="0" rIns="0" bIns="0" rtlCol="0" anchor="t"/>
          <a:lstStyle/>
          <a:p>
            <a:pPr marL="0" indent="0" algn="l">
              <a:lnSpc>
                <a:spcPts val="1395"/>
              </a:lnSpc>
              <a:buNone/>
            </a:pPr>
            <a:r>
              <a:rPr lang="en-US" sz="900" dirty="0">
                <a:solidFill>
                  <a:srgbClr val="334155"/>
                </a:solidFill>
                <a:latin typeface="Carlito" pitchFamily="34" charset="0"/>
                <a:ea typeface="Carlito" pitchFamily="34" charset="-122"/>
                <a:cs typeface="Carlito" pitchFamily="34" charset="-120"/>
              </a:rPr>
              <a:t>Penalizes the complexity of the new tree being added. It considers two things: the number of leaves (L1 penalty) and the sum of squared leaf weights (L2 penalty). This is what prevents XGBoost from overfitting.</a:t>
            </a:r>
            <a:endParaRPr lang="en-US" sz="900" dirty="0"/>
          </a:p>
        </p:txBody>
      </p:sp>
      <p:sp>
        <p:nvSpPr>
          <p:cNvPr id="19" name="Text 17"/>
          <p:cNvSpPr/>
          <p:nvPr/>
        </p:nvSpPr>
        <p:spPr>
          <a:xfrm>
            <a:off x="721519" y="4267498"/>
            <a:ext cx="7700963" cy="354285"/>
          </a:xfrm>
          <a:prstGeom prst="rect">
            <a:avLst/>
          </a:prstGeom>
          <a:noFill/>
          <a:ln/>
        </p:spPr>
        <p:txBody>
          <a:bodyPr wrap="square" lIns="0" tIns="0" rIns="0" bIns="0" rtlCol="0" anchor="t"/>
          <a:lstStyle/>
          <a:p>
            <a:pPr marL="0" indent="0" algn="l">
              <a:lnSpc>
                <a:spcPts val="1395"/>
              </a:lnSpc>
              <a:buNone/>
            </a:pPr>
            <a:r>
              <a:rPr lang="en-US" sz="900" dirty="0">
                <a:solidFill>
                  <a:srgbClr val="334155"/>
                </a:solidFill>
                <a:latin typeface="Carlito" pitchFamily="34" charset="0"/>
                <a:ea typeface="Carlito" pitchFamily="34" charset="-122"/>
                <a:cs typeface="Carlito" pitchFamily="34" charset="-120"/>
              </a:rPr>
              <a:t>XGBoost uses a clever trick — it performs a second-order Taylor expansion of the loss function. This gives it both the gradient (first derivative) and the hessian (second derivative), leading to more accurate split decisions than first-order methods.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14325"/>
            <a:ext cx="8636000" cy="296193"/>
          </a:xfrm>
          <a:prstGeom prst="rect">
            <a:avLst/>
          </a:prstGeom>
          <a:noFill/>
          <a:ln/>
        </p:spPr>
        <p:txBody>
          <a:bodyPr wrap="square" lIns="0" tIns="0" rIns="0" bIns="0" rtlCol="0" anchor="t"/>
          <a:lstStyle/>
          <a:p>
            <a:pPr marL="0" indent="0" algn="l">
              <a:lnSpc>
                <a:spcPts val="2160"/>
              </a:lnSpc>
              <a:buNone/>
            </a:pPr>
            <a:r>
              <a:rPr lang="en-US" sz="1800" b="1" dirty="0" err="1">
                <a:solidFill>
                  <a:srgbClr val="0F172A"/>
                </a:solidFill>
                <a:latin typeface="Carlito" pitchFamily="34" charset="0"/>
                <a:ea typeface="Carlito" pitchFamily="34" charset="-122"/>
                <a:cs typeface="Carlito" pitchFamily="34" charset="-120"/>
              </a:rPr>
              <a:t>XGBoost</a:t>
            </a:r>
            <a:r>
              <a:rPr lang="en-US" sz="1800" b="1" dirty="0">
                <a:solidFill>
                  <a:srgbClr val="0F172A"/>
                </a:solidFill>
                <a:latin typeface="Carlito" pitchFamily="34" charset="0"/>
                <a:ea typeface="Carlito" pitchFamily="34" charset="-122"/>
                <a:cs typeface="Carlito" pitchFamily="34" charset="-120"/>
              </a:rPr>
              <a:t> — Cheat Sheet</a:t>
            </a:r>
            <a:endParaRPr lang="en-US" sz="1800" dirty="0"/>
          </a:p>
        </p:txBody>
      </p:sp>
      <p:sp>
        <p:nvSpPr>
          <p:cNvPr id="3" name="Text 1"/>
          <p:cNvSpPr/>
          <p:nvPr/>
        </p:nvSpPr>
        <p:spPr>
          <a:xfrm>
            <a:off x="428625" y="702878"/>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28625" y="967197"/>
            <a:ext cx="2676451" cy="3861978"/>
          </a:xfrm>
          <a:prstGeom prst="roundRect">
            <a:avLst>
              <a:gd name="adj" fmla="val 4271"/>
            </a:avLst>
          </a:prstGeom>
          <a:solidFill>
            <a:srgbClr val="F8FAFC"/>
          </a:solidFill>
          <a:ln/>
        </p:spPr>
        <p:txBody>
          <a:bodyPr wrap="square" rtlCol="0" anchor="ctr"/>
          <a:lstStyle/>
          <a:p>
            <a:pPr marL="0" indent="0">
              <a:buNone/>
            </a:pPr>
            <a:endParaRPr lang="en-US" dirty="0"/>
          </a:p>
        </p:txBody>
      </p:sp>
      <p:sp>
        <p:nvSpPr>
          <p:cNvPr id="5" name="Shape 3"/>
          <p:cNvSpPr/>
          <p:nvPr/>
        </p:nvSpPr>
        <p:spPr>
          <a:xfrm>
            <a:off x="428625" y="977912"/>
            <a:ext cx="2676451" cy="0"/>
          </a:xfrm>
          <a:prstGeom prst="line">
            <a:avLst/>
          </a:prstGeom>
          <a:noFill/>
          <a:ln w="21431">
            <a:solidFill>
              <a:srgbClr val="0EA5E9"/>
            </a:solidFill>
            <a:prstDash val="solid"/>
          </a:ln>
        </p:spPr>
        <p:txBody>
          <a:bodyPr/>
          <a:lstStyle/>
          <a:p>
            <a:endParaRPr lang="en-IN"/>
          </a:p>
        </p:txBody>
      </p:sp>
      <p:sp>
        <p:nvSpPr>
          <p:cNvPr id="6" name="Shape 4"/>
          <p:cNvSpPr/>
          <p:nvPr/>
        </p:nvSpPr>
        <p:spPr>
          <a:xfrm>
            <a:off x="3101504" y="967197"/>
            <a:ext cx="0" cy="3861978"/>
          </a:xfrm>
          <a:prstGeom prst="line">
            <a:avLst/>
          </a:prstGeom>
          <a:noFill/>
          <a:ln w="7144">
            <a:solidFill>
              <a:srgbClr val="E2E8F0"/>
            </a:solidFill>
            <a:prstDash val="solid"/>
          </a:ln>
        </p:spPr>
        <p:txBody>
          <a:bodyPr/>
          <a:lstStyle/>
          <a:p>
            <a:endParaRPr lang="en-IN"/>
          </a:p>
        </p:txBody>
      </p:sp>
      <p:sp>
        <p:nvSpPr>
          <p:cNvPr id="7" name="Shape 5"/>
          <p:cNvSpPr/>
          <p:nvPr/>
        </p:nvSpPr>
        <p:spPr>
          <a:xfrm>
            <a:off x="428625" y="4825603"/>
            <a:ext cx="2676451" cy="0"/>
          </a:xfrm>
          <a:prstGeom prst="line">
            <a:avLst/>
          </a:prstGeom>
          <a:noFill/>
          <a:ln w="7144">
            <a:solidFill>
              <a:srgbClr val="E2E8F0"/>
            </a:solidFill>
            <a:prstDash val="solid"/>
          </a:ln>
        </p:spPr>
        <p:txBody>
          <a:bodyPr/>
          <a:lstStyle/>
          <a:p>
            <a:endParaRPr lang="en-IN"/>
          </a:p>
        </p:txBody>
      </p:sp>
      <p:sp>
        <p:nvSpPr>
          <p:cNvPr id="8" name="Shape 6"/>
          <p:cNvSpPr/>
          <p:nvPr/>
        </p:nvSpPr>
        <p:spPr>
          <a:xfrm>
            <a:off x="432197" y="967197"/>
            <a:ext cx="0" cy="3861978"/>
          </a:xfrm>
          <a:prstGeom prst="line">
            <a:avLst/>
          </a:prstGeom>
          <a:noFill/>
          <a:ln w="7144">
            <a:solidFill>
              <a:srgbClr val="E2E8F0"/>
            </a:solidFill>
            <a:prstDash val="solid"/>
          </a:ln>
        </p:spPr>
        <p:txBody>
          <a:bodyPr/>
          <a:lstStyle/>
          <a:p>
            <a:endParaRPr lang="en-IN"/>
          </a:p>
        </p:txBody>
      </p:sp>
      <p:sp>
        <p:nvSpPr>
          <p:cNvPr id="9" name="Text 7"/>
          <p:cNvSpPr/>
          <p:nvPr/>
        </p:nvSpPr>
        <p:spPr>
          <a:xfrm>
            <a:off x="937394" y="1154720"/>
            <a:ext cx="1560168" cy="146590"/>
          </a:xfrm>
          <a:prstGeom prst="rect">
            <a:avLst/>
          </a:prstGeom>
          <a:noFill/>
          <a:ln/>
        </p:spPr>
        <p:txBody>
          <a:bodyPr wrap="none" lIns="0" tIns="0" rIns="0" bIns="0" rtlCol="0" anchor="t"/>
          <a:lstStyle/>
          <a:p>
            <a:pPr marL="0" indent="0" algn="l">
              <a:lnSpc>
                <a:spcPts val="1434"/>
              </a:lnSpc>
              <a:buNone/>
            </a:pPr>
            <a:r>
              <a:rPr lang="en-US" sz="956" b="1" dirty="0">
                <a:solidFill>
                  <a:srgbClr val="0F172A"/>
                </a:solidFill>
                <a:latin typeface="Carlito" pitchFamily="34" charset="0"/>
                <a:ea typeface="Carlito" pitchFamily="34" charset="-122"/>
                <a:cs typeface="Carlito" pitchFamily="34" charset="-120"/>
              </a:rPr>
              <a:t>Critical Hyperparameters</a:t>
            </a:r>
            <a:endParaRPr lang="en-US" sz="956" dirty="0"/>
          </a:p>
        </p:txBody>
      </p:sp>
      <p:sp>
        <p:nvSpPr>
          <p:cNvPr id="10" name="Text 8"/>
          <p:cNvSpPr/>
          <p:nvPr/>
        </p:nvSpPr>
        <p:spPr>
          <a:xfrm>
            <a:off x="578644" y="1417253"/>
            <a:ext cx="2376413"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learning_rate (eta)</a:t>
            </a:r>
            <a:endParaRPr lang="en-US" sz="800" dirty="0"/>
          </a:p>
        </p:txBody>
      </p:sp>
      <p:sp>
        <p:nvSpPr>
          <p:cNvPr id="11" name="Text 9"/>
          <p:cNvSpPr/>
          <p:nvPr/>
        </p:nvSpPr>
        <p:spPr>
          <a:xfrm>
            <a:off x="578644" y="1599419"/>
            <a:ext cx="2173821"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Step size shrinkage (0.01–0.3). Lower = slower but more robust. Typical: 0.05–0.1.</a:t>
            </a:r>
            <a:endParaRPr lang="en-US" sz="800" dirty="0"/>
          </a:p>
        </p:txBody>
      </p:sp>
      <p:sp>
        <p:nvSpPr>
          <p:cNvPr id="12" name="Text 10"/>
          <p:cNvSpPr/>
          <p:nvPr/>
        </p:nvSpPr>
        <p:spPr>
          <a:xfrm>
            <a:off x="578644" y="1978037"/>
            <a:ext cx="2376413"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max_depth</a:t>
            </a:r>
            <a:endParaRPr lang="en-US" sz="800" dirty="0"/>
          </a:p>
        </p:txBody>
      </p:sp>
      <p:sp>
        <p:nvSpPr>
          <p:cNvPr id="13" name="Text 11"/>
          <p:cNvSpPr/>
          <p:nvPr/>
        </p:nvSpPr>
        <p:spPr>
          <a:xfrm>
            <a:off x="578644" y="2160203"/>
            <a:ext cx="1886843"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Maximum tree depth (3–10). Controls model complexity. Too deep = overfitting.</a:t>
            </a:r>
            <a:endParaRPr lang="en-US" sz="800" dirty="0"/>
          </a:p>
        </p:txBody>
      </p:sp>
      <p:sp>
        <p:nvSpPr>
          <p:cNvPr id="14" name="Text 12"/>
          <p:cNvSpPr/>
          <p:nvPr/>
        </p:nvSpPr>
        <p:spPr>
          <a:xfrm>
            <a:off x="578644" y="2538822"/>
            <a:ext cx="2376413"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n_estimators</a:t>
            </a:r>
            <a:endParaRPr lang="en-US" sz="800" dirty="0"/>
          </a:p>
        </p:txBody>
      </p:sp>
      <p:sp>
        <p:nvSpPr>
          <p:cNvPr id="15" name="Text 13"/>
          <p:cNvSpPr/>
          <p:nvPr/>
        </p:nvSpPr>
        <p:spPr>
          <a:xfrm>
            <a:off x="578644" y="2720987"/>
            <a:ext cx="1586805"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Number of boosting rounds. Use with early_stopping_rounds.</a:t>
            </a:r>
            <a:endParaRPr lang="en-US" sz="800" dirty="0"/>
          </a:p>
        </p:txBody>
      </p:sp>
      <p:sp>
        <p:nvSpPr>
          <p:cNvPr id="16" name="Text 14"/>
          <p:cNvSpPr/>
          <p:nvPr/>
        </p:nvSpPr>
        <p:spPr>
          <a:xfrm>
            <a:off x="578644" y="3099606"/>
            <a:ext cx="2376413"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subsample</a:t>
            </a:r>
            <a:endParaRPr lang="en-US" sz="800" dirty="0"/>
          </a:p>
        </p:txBody>
      </p:sp>
      <p:sp>
        <p:nvSpPr>
          <p:cNvPr id="17" name="Text 15"/>
          <p:cNvSpPr/>
          <p:nvPr/>
        </p:nvSpPr>
        <p:spPr>
          <a:xfrm>
            <a:off x="578644" y="3281772"/>
            <a:ext cx="2085305"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Row sampling ratio (0.5–1.0). Adds randomness, prevents overfitting.</a:t>
            </a:r>
            <a:endParaRPr lang="en-US" sz="800" dirty="0"/>
          </a:p>
        </p:txBody>
      </p:sp>
      <p:sp>
        <p:nvSpPr>
          <p:cNvPr id="18" name="Text 16"/>
          <p:cNvSpPr/>
          <p:nvPr/>
        </p:nvSpPr>
        <p:spPr>
          <a:xfrm>
            <a:off x="578644" y="3660391"/>
            <a:ext cx="2376413"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colsample_bytree</a:t>
            </a:r>
            <a:endParaRPr lang="en-US" sz="800" dirty="0"/>
          </a:p>
        </p:txBody>
      </p:sp>
      <p:sp>
        <p:nvSpPr>
          <p:cNvPr id="19" name="Text 17"/>
          <p:cNvSpPr/>
          <p:nvPr/>
        </p:nvSpPr>
        <p:spPr>
          <a:xfrm>
            <a:off x="578644" y="3842556"/>
            <a:ext cx="2363912"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Feature sampling per tree (0.5–1.0). Similar to Random Forest's feature bagging.</a:t>
            </a:r>
            <a:endParaRPr lang="en-US" sz="800" dirty="0"/>
          </a:p>
        </p:txBody>
      </p:sp>
      <p:sp>
        <p:nvSpPr>
          <p:cNvPr id="20" name="Text 18"/>
          <p:cNvSpPr/>
          <p:nvPr/>
        </p:nvSpPr>
        <p:spPr>
          <a:xfrm>
            <a:off x="3233663" y="967197"/>
            <a:ext cx="2676562" cy="3861978"/>
          </a:xfrm>
          <a:prstGeom prst="roundRect">
            <a:avLst>
              <a:gd name="adj" fmla="val 4270"/>
            </a:avLst>
          </a:prstGeom>
          <a:solidFill>
            <a:srgbClr val="F8FAFC"/>
          </a:solidFill>
          <a:ln/>
        </p:spPr>
        <p:txBody>
          <a:bodyPr wrap="square" rtlCol="0" anchor="ctr"/>
          <a:lstStyle/>
          <a:p>
            <a:pPr marL="0" indent="0">
              <a:buNone/>
            </a:pPr>
            <a:endParaRPr lang="en-US" dirty="0"/>
          </a:p>
        </p:txBody>
      </p:sp>
      <p:sp>
        <p:nvSpPr>
          <p:cNvPr id="21" name="Shape 19"/>
          <p:cNvSpPr/>
          <p:nvPr/>
        </p:nvSpPr>
        <p:spPr>
          <a:xfrm>
            <a:off x="3233663" y="977912"/>
            <a:ext cx="2676562" cy="0"/>
          </a:xfrm>
          <a:prstGeom prst="line">
            <a:avLst/>
          </a:prstGeom>
          <a:noFill/>
          <a:ln w="21431">
            <a:solidFill>
              <a:srgbClr val="10B981"/>
            </a:solidFill>
            <a:prstDash val="solid"/>
          </a:ln>
        </p:spPr>
        <p:txBody>
          <a:bodyPr/>
          <a:lstStyle/>
          <a:p>
            <a:endParaRPr lang="en-IN"/>
          </a:p>
        </p:txBody>
      </p:sp>
      <p:sp>
        <p:nvSpPr>
          <p:cNvPr id="22" name="Shape 20"/>
          <p:cNvSpPr/>
          <p:nvPr/>
        </p:nvSpPr>
        <p:spPr>
          <a:xfrm>
            <a:off x="5906653" y="967197"/>
            <a:ext cx="0" cy="3861978"/>
          </a:xfrm>
          <a:prstGeom prst="line">
            <a:avLst/>
          </a:prstGeom>
          <a:noFill/>
          <a:ln w="7144">
            <a:solidFill>
              <a:srgbClr val="E2E8F0"/>
            </a:solidFill>
            <a:prstDash val="solid"/>
          </a:ln>
        </p:spPr>
        <p:txBody>
          <a:bodyPr/>
          <a:lstStyle/>
          <a:p>
            <a:endParaRPr lang="en-IN"/>
          </a:p>
        </p:txBody>
      </p:sp>
      <p:sp>
        <p:nvSpPr>
          <p:cNvPr id="23" name="Shape 21"/>
          <p:cNvSpPr/>
          <p:nvPr/>
        </p:nvSpPr>
        <p:spPr>
          <a:xfrm>
            <a:off x="3233663" y="4825603"/>
            <a:ext cx="2676562" cy="0"/>
          </a:xfrm>
          <a:prstGeom prst="line">
            <a:avLst/>
          </a:prstGeom>
          <a:noFill/>
          <a:ln w="7144">
            <a:solidFill>
              <a:srgbClr val="E2E8F0"/>
            </a:solidFill>
            <a:prstDash val="solid"/>
          </a:ln>
        </p:spPr>
        <p:txBody>
          <a:bodyPr/>
          <a:lstStyle/>
          <a:p>
            <a:endParaRPr lang="en-IN"/>
          </a:p>
        </p:txBody>
      </p:sp>
      <p:sp>
        <p:nvSpPr>
          <p:cNvPr id="24" name="Shape 22"/>
          <p:cNvSpPr/>
          <p:nvPr/>
        </p:nvSpPr>
        <p:spPr>
          <a:xfrm>
            <a:off x="3237235" y="967197"/>
            <a:ext cx="0" cy="3861978"/>
          </a:xfrm>
          <a:prstGeom prst="line">
            <a:avLst/>
          </a:prstGeom>
          <a:noFill/>
          <a:ln w="7144">
            <a:solidFill>
              <a:srgbClr val="E2E8F0"/>
            </a:solidFill>
            <a:prstDash val="solid"/>
          </a:ln>
        </p:spPr>
        <p:txBody>
          <a:bodyPr/>
          <a:lstStyle/>
          <a:p>
            <a:endParaRPr lang="en-IN"/>
          </a:p>
        </p:txBody>
      </p:sp>
      <p:sp>
        <p:nvSpPr>
          <p:cNvPr id="25" name="Text 23"/>
          <p:cNvSpPr/>
          <p:nvPr/>
        </p:nvSpPr>
        <p:spPr>
          <a:xfrm>
            <a:off x="3853718" y="1154720"/>
            <a:ext cx="1654680" cy="146590"/>
          </a:xfrm>
          <a:prstGeom prst="rect">
            <a:avLst/>
          </a:prstGeom>
          <a:noFill/>
          <a:ln/>
        </p:spPr>
        <p:txBody>
          <a:bodyPr wrap="none" lIns="0" tIns="0" rIns="0" bIns="0" rtlCol="0" anchor="t"/>
          <a:lstStyle/>
          <a:p>
            <a:pPr marL="0" indent="0" algn="l">
              <a:lnSpc>
                <a:spcPts val="1434"/>
              </a:lnSpc>
              <a:buNone/>
            </a:pPr>
            <a:r>
              <a:rPr lang="en-US" sz="956" b="1" dirty="0">
                <a:solidFill>
                  <a:srgbClr val="0F172A"/>
                </a:solidFill>
                <a:latin typeface="Carlito" pitchFamily="34" charset="0"/>
                <a:ea typeface="Carlito" pitchFamily="34" charset="-122"/>
                <a:cs typeface="Carlito" pitchFamily="34" charset="-120"/>
              </a:rPr>
              <a:t>Regularization Parameters</a:t>
            </a:r>
            <a:endParaRPr lang="en-US" sz="956" dirty="0"/>
          </a:p>
        </p:txBody>
      </p:sp>
      <p:sp>
        <p:nvSpPr>
          <p:cNvPr id="26" name="Text 24"/>
          <p:cNvSpPr/>
          <p:nvPr/>
        </p:nvSpPr>
        <p:spPr>
          <a:xfrm>
            <a:off x="3383682" y="1417253"/>
            <a:ext cx="2376525"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lambda (reg_lambda)</a:t>
            </a:r>
            <a:endParaRPr lang="en-US" sz="800" dirty="0"/>
          </a:p>
        </p:txBody>
      </p:sp>
      <p:sp>
        <p:nvSpPr>
          <p:cNvPr id="27" name="Text 25"/>
          <p:cNvSpPr/>
          <p:nvPr/>
        </p:nvSpPr>
        <p:spPr>
          <a:xfrm>
            <a:off x="3383682" y="1599419"/>
            <a:ext cx="2082738"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L2 regularization on weights (default 1). Higher = smoother predictions.</a:t>
            </a:r>
            <a:endParaRPr lang="en-US" sz="800" dirty="0"/>
          </a:p>
        </p:txBody>
      </p:sp>
      <p:sp>
        <p:nvSpPr>
          <p:cNvPr id="28" name="Text 26"/>
          <p:cNvSpPr/>
          <p:nvPr/>
        </p:nvSpPr>
        <p:spPr>
          <a:xfrm>
            <a:off x="3383682" y="1978037"/>
            <a:ext cx="2376525"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alpha (reg_alpha)</a:t>
            </a:r>
            <a:endParaRPr lang="en-US" sz="800" dirty="0"/>
          </a:p>
        </p:txBody>
      </p:sp>
      <p:sp>
        <p:nvSpPr>
          <p:cNvPr id="29" name="Text 27"/>
          <p:cNvSpPr/>
          <p:nvPr/>
        </p:nvSpPr>
        <p:spPr>
          <a:xfrm>
            <a:off x="3383682" y="2160203"/>
            <a:ext cx="2278298"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L1 regularization, promotes sparsity (default 0). Good for feature selection.</a:t>
            </a:r>
            <a:endParaRPr lang="en-US" sz="800" dirty="0"/>
          </a:p>
        </p:txBody>
      </p:sp>
      <p:sp>
        <p:nvSpPr>
          <p:cNvPr id="30" name="Text 28"/>
          <p:cNvSpPr/>
          <p:nvPr/>
        </p:nvSpPr>
        <p:spPr>
          <a:xfrm>
            <a:off x="3383682" y="2538822"/>
            <a:ext cx="2376525"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gamma (min_split_loss)</a:t>
            </a:r>
            <a:endParaRPr lang="en-US" sz="800" dirty="0"/>
          </a:p>
        </p:txBody>
      </p:sp>
      <p:sp>
        <p:nvSpPr>
          <p:cNvPr id="31" name="Text 29"/>
          <p:cNvSpPr/>
          <p:nvPr/>
        </p:nvSpPr>
        <p:spPr>
          <a:xfrm>
            <a:off x="3383682" y="2720987"/>
            <a:ext cx="2323616"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Min loss reduction for a split (default 0). Higher = more conservative tree growth.</a:t>
            </a:r>
            <a:endParaRPr lang="en-US" sz="800" dirty="0"/>
          </a:p>
        </p:txBody>
      </p:sp>
      <p:sp>
        <p:nvSpPr>
          <p:cNvPr id="32" name="Text 30"/>
          <p:cNvSpPr/>
          <p:nvPr/>
        </p:nvSpPr>
        <p:spPr>
          <a:xfrm>
            <a:off x="3383682" y="3099606"/>
            <a:ext cx="2376525" cy="154734"/>
          </a:xfrm>
          <a:prstGeom prst="rect">
            <a:avLst/>
          </a:prstGeom>
          <a:noFill/>
          <a:ln/>
        </p:spPr>
        <p:txBody>
          <a:bodyPr wrap="none" lIns="0" tIns="0" rIns="0" bIns="0" rtlCol="0" anchor="t">
            <a:normAutofit/>
          </a:bodyPr>
          <a:lstStyle/>
          <a:p>
            <a:pPr marL="0" indent="0" algn="l">
              <a:lnSpc>
                <a:spcPts val="1097"/>
              </a:lnSpc>
              <a:buNone/>
            </a:pPr>
            <a:r>
              <a:rPr lang="en-US" sz="800" dirty="0">
                <a:solidFill>
                  <a:srgbClr val="0284C7"/>
                </a:solidFill>
                <a:latin typeface="Courier New" pitchFamily="34" charset="0"/>
                <a:ea typeface="Courier New" pitchFamily="34" charset="-122"/>
                <a:cs typeface="Courier New" pitchFamily="34" charset="-120"/>
              </a:rPr>
              <a:t>min_child_weight</a:t>
            </a:r>
            <a:endParaRPr lang="en-US" sz="800" dirty="0"/>
          </a:p>
        </p:txBody>
      </p:sp>
      <p:sp>
        <p:nvSpPr>
          <p:cNvPr id="33" name="Text 31"/>
          <p:cNvSpPr/>
          <p:nvPr/>
        </p:nvSpPr>
        <p:spPr>
          <a:xfrm>
            <a:off x="3383682" y="3281772"/>
            <a:ext cx="1905595" cy="316992"/>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Min sum of hessian in a child. Higher = more conservative.</a:t>
            </a:r>
            <a:endParaRPr lang="en-US" sz="800" dirty="0"/>
          </a:p>
        </p:txBody>
      </p:sp>
      <p:sp>
        <p:nvSpPr>
          <p:cNvPr id="34" name="Text 32"/>
          <p:cNvSpPr/>
          <p:nvPr/>
        </p:nvSpPr>
        <p:spPr>
          <a:xfrm>
            <a:off x="6038813" y="967197"/>
            <a:ext cx="2676451" cy="3861978"/>
          </a:xfrm>
          <a:prstGeom prst="roundRect">
            <a:avLst>
              <a:gd name="adj" fmla="val 4271"/>
            </a:avLst>
          </a:prstGeom>
          <a:solidFill>
            <a:srgbClr val="F8FAFC"/>
          </a:solidFill>
          <a:ln/>
        </p:spPr>
        <p:txBody>
          <a:bodyPr wrap="square" rtlCol="0" anchor="ctr"/>
          <a:lstStyle/>
          <a:p>
            <a:pPr marL="0" indent="0">
              <a:buNone/>
            </a:pPr>
            <a:endParaRPr lang="en-US" dirty="0"/>
          </a:p>
        </p:txBody>
      </p:sp>
      <p:sp>
        <p:nvSpPr>
          <p:cNvPr id="35" name="Shape 33"/>
          <p:cNvSpPr/>
          <p:nvPr/>
        </p:nvSpPr>
        <p:spPr>
          <a:xfrm>
            <a:off x="6038813" y="977912"/>
            <a:ext cx="2676451" cy="0"/>
          </a:xfrm>
          <a:prstGeom prst="line">
            <a:avLst/>
          </a:prstGeom>
          <a:noFill/>
          <a:ln w="21431">
            <a:solidFill>
              <a:srgbClr val="F59E0B"/>
            </a:solidFill>
            <a:prstDash val="solid"/>
          </a:ln>
        </p:spPr>
        <p:txBody>
          <a:bodyPr/>
          <a:lstStyle/>
          <a:p>
            <a:endParaRPr lang="en-IN"/>
          </a:p>
        </p:txBody>
      </p:sp>
      <p:sp>
        <p:nvSpPr>
          <p:cNvPr id="36" name="Shape 34"/>
          <p:cNvSpPr/>
          <p:nvPr/>
        </p:nvSpPr>
        <p:spPr>
          <a:xfrm>
            <a:off x="8711692" y="967197"/>
            <a:ext cx="0" cy="3861978"/>
          </a:xfrm>
          <a:prstGeom prst="line">
            <a:avLst/>
          </a:prstGeom>
          <a:noFill/>
          <a:ln w="7144">
            <a:solidFill>
              <a:srgbClr val="E2E8F0"/>
            </a:solidFill>
            <a:prstDash val="solid"/>
          </a:ln>
        </p:spPr>
        <p:txBody>
          <a:bodyPr/>
          <a:lstStyle/>
          <a:p>
            <a:endParaRPr lang="en-IN"/>
          </a:p>
        </p:txBody>
      </p:sp>
      <p:sp>
        <p:nvSpPr>
          <p:cNvPr id="37" name="Shape 35"/>
          <p:cNvSpPr/>
          <p:nvPr/>
        </p:nvSpPr>
        <p:spPr>
          <a:xfrm>
            <a:off x="6038813" y="4825603"/>
            <a:ext cx="2676451" cy="0"/>
          </a:xfrm>
          <a:prstGeom prst="line">
            <a:avLst/>
          </a:prstGeom>
          <a:noFill/>
          <a:ln w="7144">
            <a:solidFill>
              <a:srgbClr val="E2E8F0"/>
            </a:solidFill>
            <a:prstDash val="solid"/>
          </a:ln>
        </p:spPr>
        <p:txBody>
          <a:bodyPr/>
          <a:lstStyle/>
          <a:p>
            <a:endParaRPr lang="en-IN"/>
          </a:p>
        </p:txBody>
      </p:sp>
      <p:sp>
        <p:nvSpPr>
          <p:cNvPr id="38" name="Shape 36"/>
          <p:cNvSpPr/>
          <p:nvPr/>
        </p:nvSpPr>
        <p:spPr>
          <a:xfrm>
            <a:off x="6042385" y="967197"/>
            <a:ext cx="0" cy="3861978"/>
          </a:xfrm>
          <a:prstGeom prst="line">
            <a:avLst/>
          </a:prstGeom>
          <a:noFill/>
          <a:ln w="7144">
            <a:solidFill>
              <a:srgbClr val="E2E8F0"/>
            </a:solidFill>
            <a:prstDash val="solid"/>
          </a:ln>
        </p:spPr>
        <p:txBody>
          <a:bodyPr/>
          <a:lstStyle/>
          <a:p>
            <a:endParaRPr lang="en-IN"/>
          </a:p>
        </p:txBody>
      </p:sp>
      <p:sp>
        <p:nvSpPr>
          <p:cNvPr id="39" name="Text 37"/>
          <p:cNvSpPr/>
          <p:nvPr/>
        </p:nvSpPr>
        <p:spPr>
          <a:xfrm>
            <a:off x="7460754" y="1154720"/>
            <a:ext cx="984498" cy="146590"/>
          </a:xfrm>
          <a:prstGeom prst="rect">
            <a:avLst/>
          </a:prstGeom>
          <a:noFill/>
          <a:ln/>
        </p:spPr>
        <p:txBody>
          <a:bodyPr wrap="none" lIns="0" tIns="0" rIns="0" bIns="0" rtlCol="0" anchor="t"/>
          <a:lstStyle/>
          <a:p>
            <a:pPr marL="0" indent="0" algn="l">
              <a:lnSpc>
                <a:spcPts val="1434"/>
              </a:lnSpc>
              <a:buNone/>
            </a:pPr>
            <a:r>
              <a:rPr lang="en-US" sz="956" b="1" dirty="0">
                <a:solidFill>
                  <a:srgbClr val="0F172A"/>
                </a:solidFill>
                <a:latin typeface="Carlito" pitchFamily="34" charset="0"/>
                <a:ea typeface="Carlito" pitchFamily="34" charset="-122"/>
                <a:cs typeface="Carlito" pitchFamily="34" charset="-120"/>
              </a:rPr>
              <a:t>Practical Tips</a:t>
            </a:r>
            <a:endParaRPr lang="en-US" sz="956" dirty="0"/>
          </a:p>
        </p:txBody>
      </p:sp>
      <p:sp>
        <p:nvSpPr>
          <p:cNvPr id="40" name="Text 38"/>
          <p:cNvSpPr/>
          <p:nvPr/>
        </p:nvSpPr>
        <p:spPr>
          <a:xfrm>
            <a:off x="6188832" y="1424397"/>
            <a:ext cx="298586" cy="159953"/>
          </a:xfrm>
          <a:prstGeom prst="rect">
            <a:avLst/>
          </a:prstGeom>
          <a:noFill/>
          <a:ln/>
        </p:spPr>
        <p:txBody>
          <a:bodyPr wrap="none" lIns="0" tIns="0" rIns="0" bIns="0" rtlCol="0" anchor="ctr"/>
          <a:lstStyle/>
          <a:p>
            <a:pPr marL="0" indent="0" algn="ctr">
              <a:buNone/>
            </a:pPr>
            <a:r>
              <a:rPr lang="en-US" sz="1125" dirty="0">
                <a:solidFill>
                  <a:srgbClr val="F59E0B"/>
                </a:solidFill>
                <a:latin typeface="Segoe UI Symbol" pitchFamily="34" charset="0"/>
                <a:ea typeface="Segoe UI Symbol" pitchFamily="34" charset="-122"/>
                <a:cs typeface="Segoe UI Symbol" pitchFamily="34" charset="-120"/>
              </a:rPr>
              <a:t>✓</a:t>
            </a:r>
            <a:endParaRPr lang="en-US" sz="1125" dirty="0"/>
          </a:p>
        </p:txBody>
      </p:sp>
      <p:sp>
        <p:nvSpPr>
          <p:cNvPr id="41" name="Text 39"/>
          <p:cNvSpPr/>
          <p:nvPr/>
        </p:nvSpPr>
        <p:spPr>
          <a:xfrm>
            <a:off x="6544568" y="1417253"/>
            <a:ext cx="2020677" cy="307086"/>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Always use early_stopping_rounds (50–100) to prevent overfitting.</a:t>
            </a:r>
            <a:endParaRPr lang="en-US" sz="800" dirty="0"/>
          </a:p>
        </p:txBody>
      </p:sp>
      <p:sp>
        <p:nvSpPr>
          <p:cNvPr id="42" name="Text 40"/>
          <p:cNvSpPr/>
          <p:nvPr/>
        </p:nvSpPr>
        <p:spPr>
          <a:xfrm>
            <a:off x="6188832" y="1758590"/>
            <a:ext cx="298586" cy="159953"/>
          </a:xfrm>
          <a:prstGeom prst="rect">
            <a:avLst/>
          </a:prstGeom>
          <a:noFill/>
          <a:ln/>
        </p:spPr>
        <p:txBody>
          <a:bodyPr wrap="none" lIns="0" tIns="0" rIns="0" bIns="0" rtlCol="0" anchor="ctr"/>
          <a:lstStyle/>
          <a:p>
            <a:pPr marL="0" indent="0" algn="ctr">
              <a:buNone/>
            </a:pPr>
            <a:r>
              <a:rPr lang="en-US" sz="1125" dirty="0">
                <a:solidFill>
                  <a:srgbClr val="F59E0B"/>
                </a:solidFill>
                <a:latin typeface="Segoe UI Symbol" pitchFamily="34" charset="0"/>
                <a:ea typeface="Segoe UI Symbol" pitchFamily="34" charset="-122"/>
                <a:cs typeface="Segoe UI Symbol" pitchFamily="34" charset="-120"/>
              </a:rPr>
              <a:t>✓</a:t>
            </a:r>
            <a:endParaRPr lang="en-US" sz="1125" dirty="0"/>
          </a:p>
        </p:txBody>
      </p:sp>
      <p:sp>
        <p:nvSpPr>
          <p:cNvPr id="43" name="Text 41"/>
          <p:cNvSpPr/>
          <p:nvPr/>
        </p:nvSpPr>
        <p:spPr>
          <a:xfrm>
            <a:off x="6544568" y="1751447"/>
            <a:ext cx="2020677" cy="307086"/>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Scale your features for faster convergence, especially with wide feature ranges.</a:t>
            </a:r>
            <a:endParaRPr lang="en-US" sz="800" dirty="0"/>
          </a:p>
        </p:txBody>
      </p:sp>
      <p:sp>
        <p:nvSpPr>
          <p:cNvPr id="44" name="Text 42"/>
          <p:cNvSpPr/>
          <p:nvPr/>
        </p:nvSpPr>
        <p:spPr>
          <a:xfrm>
            <a:off x="6188832" y="2092784"/>
            <a:ext cx="298586" cy="159953"/>
          </a:xfrm>
          <a:prstGeom prst="rect">
            <a:avLst/>
          </a:prstGeom>
          <a:noFill/>
          <a:ln/>
        </p:spPr>
        <p:txBody>
          <a:bodyPr wrap="none" lIns="0" tIns="0" rIns="0" bIns="0" rtlCol="0" anchor="ctr"/>
          <a:lstStyle/>
          <a:p>
            <a:pPr marL="0" indent="0" algn="ctr">
              <a:buNone/>
            </a:pPr>
            <a:r>
              <a:rPr lang="en-US" sz="1125" dirty="0">
                <a:solidFill>
                  <a:srgbClr val="F59E0B"/>
                </a:solidFill>
                <a:latin typeface="Segoe UI Symbol" pitchFamily="34" charset="0"/>
                <a:ea typeface="Segoe UI Symbol" pitchFamily="34" charset="-122"/>
                <a:cs typeface="Segoe UI Symbol" pitchFamily="34" charset="-120"/>
              </a:rPr>
              <a:t>✓</a:t>
            </a:r>
            <a:endParaRPr lang="en-US" sz="1125" dirty="0"/>
          </a:p>
        </p:txBody>
      </p:sp>
      <p:sp>
        <p:nvSpPr>
          <p:cNvPr id="45" name="Text 43"/>
          <p:cNvSpPr/>
          <p:nvPr/>
        </p:nvSpPr>
        <p:spPr>
          <a:xfrm>
            <a:off x="6544568" y="2085640"/>
            <a:ext cx="2020677" cy="307086"/>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Use DMatrix for efficiency — it's XGBoost's optimized internal data structure.</a:t>
            </a:r>
            <a:endParaRPr lang="en-US" sz="800" dirty="0"/>
          </a:p>
        </p:txBody>
      </p:sp>
      <p:sp>
        <p:nvSpPr>
          <p:cNvPr id="46" name="Text 44"/>
          <p:cNvSpPr/>
          <p:nvPr/>
        </p:nvSpPr>
        <p:spPr>
          <a:xfrm>
            <a:off x="6188832" y="2426977"/>
            <a:ext cx="298586" cy="159953"/>
          </a:xfrm>
          <a:prstGeom prst="rect">
            <a:avLst/>
          </a:prstGeom>
          <a:noFill/>
          <a:ln/>
        </p:spPr>
        <p:txBody>
          <a:bodyPr wrap="none" lIns="0" tIns="0" rIns="0" bIns="0" rtlCol="0" anchor="ctr"/>
          <a:lstStyle/>
          <a:p>
            <a:pPr marL="0" indent="0" algn="ctr">
              <a:buNone/>
            </a:pPr>
            <a:r>
              <a:rPr lang="en-US" sz="1125" dirty="0">
                <a:solidFill>
                  <a:srgbClr val="F59E0B"/>
                </a:solidFill>
                <a:latin typeface="Segoe UI Symbol" pitchFamily="34" charset="0"/>
                <a:ea typeface="Segoe UI Symbol" pitchFamily="34" charset="-122"/>
                <a:cs typeface="Segoe UI Symbol" pitchFamily="34" charset="-120"/>
              </a:rPr>
              <a:t>✓</a:t>
            </a:r>
            <a:endParaRPr lang="en-US" sz="1125" dirty="0"/>
          </a:p>
        </p:txBody>
      </p:sp>
      <p:sp>
        <p:nvSpPr>
          <p:cNvPr id="47" name="Text 45"/>
          <p:cNvSpPr/>
          <p:nvPr/>
        </p:nvSpPr>
        <p:spPr>
          <a:xfrm>
            <a:off x="6544568" y="2419834"/>
            <a:ext cx="2020677" cy="307086"/>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For imbalanced data: use scale_pos_weight ratio or eval_metric=auc.</a:t>
            </a:r>
            <a:endParaRPr lang="en-US" sz="800" dirty="0"/>
          </a:p>
        </p:txBody>
      </p:sp>
      <p:sp>
        <p:nvSpPr>
          <p:cNvPr id="48" name="Text 46"/>
          <p:cNvSpPr/>
          <p:nvPr/>
        </p:nvSpPr>
        <p:spPr>
          <a:xfrm>
            <a:off x="6188832" y="2761171"/>
            <a:ext cx="298586" cy="159953"/>
          </a:xfrm>
          <a:prstGeom prst="rect">
            <a:avLst/>
          </a:prstGeom>
          <a:noFill/>
          <a:ln/>
        </p:spPr>
        <p:txBody>
          <a:bodyPr wrap="none" lIns="0" tIns="0" rIns="0" bIns="0" rtlCol="0" anchor="ctr"/>
          <a:lstStyle/>
          <a:p>
            <a:pPr marL="0" indent="0" algn="ctr">
              <a:buNone/>
            </a:pPr>
            <a:r>
              <a:rPr lang="en-US" sz="1125" dirty="0">
                <a:solidFill>
                  <a:srgbClr val="F59E0B"/>
                </a:solidFill>
                <a:latin typeface="Segoe UI Symbol" pitchFamily="34" charset="0"/>
                <a:ea typeface="Segoe UI Symbol" pitchFamily="34" charset="-122"/>
                <a:cs typeface="Segoe UI Symbol" pitchFamily="34" charset="-120"/>
              </a:rPr>
              <a:t>✓</a:t>
            </a:r>
            <a:endParaRPr lang="en-US" sz="1125" dirty="0"/>
          </a:p>
        </p:txBody>
      </p:sp>
      <p:sp>
        <p:nvSpPr>
          <p:cNvPr id="49" name="Text 47"/>
          <p:cNvSpPr/>
          <p:nvPr/>
        </p:nvSpPr>
        <p:spPr>
          <a:xfrm>
            <a:off x="6544568" y="2754027"/>
            <a:ext cx="2020677" cy="307086"/>
          </a:xfrm>
          <a:prstGeom prst="rect">
            <a:avLst/>
          </a:prstGeom>
          <a:noFill/>
          <a:ln/>
        </p:spPr>
        <p:txBody>
          <a:bodyPr wrap="square" lIns="0" tIns="0" rIns="0" bIns="0" rtlCol="0" anchor="t"/>
          <a:lstStyle/>
          <a:p>
            <a:pPr marL="0" indent="0" algn="l">
              <a:lnSpc>
                <a:spcPts val="1063"/>
              </a:lnSpc>
              <a:buNone/>
            </a:pPr>
            <a:r>
              <a:rPr lang="en-US" sz="800" dirty="0">
                <a:solidFill>
                  <a:srgbClr val="334155"/>
                </a:solidFill>
                <a:latin typeface="Carlito" pitchFamily="34" charset="0"/>
                <a:ea typeface="Carlito" pitchFamily="34" charset="-122"/>
                <a:cs typeface="Carlito" pitchFamily="34" charset="-120"/>
              </a:rPr>
              <a:t>n_jobs=-1 for parallel feature computation across all CPU cores.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71450" y="1714500"/>
            <a:ext cx="2743200" cy="1851660"/>
          </a:xfrm>
          <a:prstGeom prst="rect">
            <a:avLst/>
          </a:prstGeom>
          <a:noFill/>
          <a:ln/>
        </p:spPr>
        <p:txBody>
          <a:bodyPr wrap="square" lIns="0" tIns="0" rIns="0" bIns="0" rtlCol="0" anchor="t"/>
          <a:lstStyle/>
          <a:p>
            <a:pPr marL="0" indent="0" algn="l">
              <a:lnSpc>
                <a:spcPts val="13500"/>
              </a:lnSpc>
              <a:buNone/>
            </a:pPr>
            <a:r>
              <a:rPr lang="en-US" sz="13500" b="1" dirty="0">
                <a:solidFill>
                  <a:srgbClr val="0EA5E9">
                    <a:alpha val="7000"/>
                  </a:srgbClr>
                </a:solidFill>
                <a:latin typeface="Liberation Sans Narrow" pitchFamily="34" charset="0"/>
                <a:ea typeface="Liberation Sans Narrow" pitchFamily="34" charset="-122"/>
                <a:cs typeface="Liberation Sans Narrow" pitchFamily="34" charset="-120"/>
              </a:rPr>
              <a:t>04</a:t>
            </a:r>
            <a:endParaRPr lang="en-US" sz="13500" dirty="0"/>
          </a:p>
        </p:txBody>
      </p:sp>
      <p:sp>
        <p:nvSpPr>
          <p:cNvPr id="3" name="Text 1"/>
          <p:cNvSpPr/>
          <p:nvPr/>
        </p:nvSpPr>
        <p:spPr>
          <a:xfrm>
            <a:off x="1314450" y="1809490"/>
            <a:ext cx="28575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1685925" y="1750554"/>
            <a:ext cx="3926942" cy="164592"/>
          </a:xfrm>
          <a:prstGeom prst="rect">
            <a:avLst/>
          </a:prstGeom>
          <a:noFill/>
          <a:ln/>
        </p:spPr>
        <p:txBody>
          <a:bodyPr wrap="none" lIns="0" tIns="0" rIns="0" bIns="0" rtlCol="0" anchor="t"/>
          <a:lstStyle/>
          <a:p>
            <a:pPr marL="0" indent="0" algn="l">
              <a:lnSpc>
                <a:spcPts val="1097"/>
              </a:lnSpc>
              <a:buNone/>
            </a:pPr>
            <a:r>
              <a:rPr lang="en-US" sz="800" kern="0" spc="169" dirty="0">
                <a:solidFill>
                  <a:srgbClr val="0EA5E9"/>
                </a:solidFill>
                <a:latin typeface="Courier New" pitchFamily="34" charset="0"/>
                <a:ea typeface="Courier New" pitchFamily="34" charset="-122"/>
                <a:cs typeface="Courier New" pitchFamily="34" charset="-120"/>
              </a:rPr>
              <a:t>SECTION FOUR</a:t>
            </a:r>
            <a:endParaRPr lang="en-US" sz="800" dirty="0"/>
          </a:p>
        </p:txBody>
      </p:sp>
      <p:sp>
        <p:nvSpPr>
          <p:cNvPr id="5" name="Text 3"/>
          <p:cNvSpPr/>
          <p:nvPr/>
        </p:nvSpPr>
        <p:spPr>
          <a:xfrm>
            <a:off x="1314450" y="2032732"/>
            <a:ext cx="5501973" cy="475211"/>
          </a:xfrm>
          <a:prstGeom prst="rect">
            <a:avLst/>
          </a:prstGeom>
          <a:noFill/>
          <a:ln/>
        </p:spPr>
        <p:txBody>
          <a:bodyPr wrap="none" lIns="0" tIns="0" rIns="0" bIns="0" rtlCol="0" anchor="t"/>
          <a:lstStyle/>
          <a:p>
            <a:pPr marL="0" indent="0" algn="l">
              <a:lnSpc>
                <a:spcPts val="3465"/>
              </a:lnSpc>
              <a:buNone/>
            </a:pPr>
            <a:r>
              <a:rPr lang="en-US" sz="3150" b="1" kern="0" spc="-84" dirty="0">
                <a:solidFill>
                  <a:srgbClr val="0F172A"/>
                </a:solidFill>
                <a:latin typeface="Carlito" pitchFamily="34" charset="0"/>
                <a:ea typeface="Carlito" pitchFamily="34" charset="-122"/>
                <a:cs typeface="Carlito" pitchFamily="34" charset="-120"/>
              </a:rPr>
              <a:t>LightGBM</a:t>
            </a:r>
            <a:endParaRPr lang="en-US" sz="3150" dirty="0"/>
          </a:p>
        </p:txBody>
      </p:sp>
      <p:sp>
        <p:nvSpPr>
          <p:cNvPr id="6" name="Text 4"/>
          <p:cNvSpPr/>
          <p:nvPr/>
        </p:nvSpPr>
        <p:spPr>
          <a:xfrm>
            <a:off x="1314450" y="2587042"/>
            <a:ext cx="4298417" cy="237606"/>
          </a:xfrm>
          <a:prstGeom prst="rect">
            <a:avLst/>
          </a:prstGeom>
          <a:noFill/>
          <a:ln/>
        </p:spPr>
        <p:txBody>
          <a:bodyPr wrap="square" lIns="0" tIns="0" rIns="0" bIns="0" rtlCol="0" anchor="t"/>
          <a:lstStyle/>
          <a:p>
            <a:pPr marL="0" indent="0" algn="l">
              <a:lnSpc>
                <a:spcPts val="1733"/>
              </a:lnSpc>
              <a:buNone/>
            </a:pPr>
            <a:r>
              <a:rPr lang="en-US" sz="1238" dirty="0">
                <a:solidFill>
                  <a:srgbClr val="334155"/>
                </a:solidFill>
                <a:latin typeface="Carlito" pitchFamily="34" charset="0"/>
                <a:ea typeface="Carlito" pitchFamily="34" charset="-122"/>
                <a:cs typeface="Carlito" pitchFamily="34" charset="-120"/>
              </a:rPr>
              <a:t>Light Gradient Boosting Machine — Built for Speed and Scale</a:t>
            </a:r>
            <a:endParaRPr lang="en-US" sz="1238" dirty="0"/>
          </a:p>
        </p:txBody>
      </p:sp>
      <p:sp>
        <p:nvSpPr>
          <p:cNvPr id="7" name="Text 5"/>
          <p:cNvSpPr/>
          <p:nvPr/>
        </p:nvSpPr>
        <p:spPr>
          <a:xfrm>
            <a:off x="1314450" y="2978497"/>
            <a:ext cx="40005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8" name="Text 6"/>
          <p:cNvSpPr/>
          <p:nvPr/>
        </p:nvSpPr>
        <p:spPr>
          <a:xfrm>
            <a:off x="1314450" y="3199954"/>
            <a:ext cx="314660" cy="192881"/>
          </a:xfrm>
          <a:prstGeom prst="rect">
            <a:avLst/>
          </a:prstGeom>
          <a:noFill/>
          <a:ln/>
        </p:spPr>
        <p:txBody>
          <a:bodyPr wrap="none" lIns="0" tIns="0" rIns="0" bIns="0" rtlCol="0" anchor="ctr"/>
          <a:lstStyle/>
          <a:p>
            <a:pPr marL="0" indent="0" algn="ctr">
              <a:buNone/>
            </a:pPr>
            <a:r>
              <a:rPr lang="en-US" sz="1266" dirty="0">
                <a:solidFill>
                  <a:srgbClr val="0EA5E9"/>
                </a:solidFill>
                <a:latin typeface="Segoe UI Symbol" pitchFamily="34" charset="0"/>
                <a:ea typeface="Segoe UI Symbol" pitchFamily="34" charset="-122"/>
                <a:cs typeface="Segoe UI Symbol" pitchFamily="34" charset="-120"/>
              </a:rPr>
              <a:t>▦</a:t>
            </a:r>
            <a:endParaRPr lang="en-US" sz="1266" dirty="0"/>
          </a:p>
        </p:txBody>
      </p:sp>
      <p:sp>
        <p:nvSpPr>
          <p:cNvPr id="9" name="Text 7"/>
          <p:cNvSpPr/>
          <p:nvPr/>
        </p:nvSpPr>
        <p:spPr>
          <a:xfrm>
            <a:off x="1686260" y="3221385"/>
            <a:ext cx="3926607" cy="164592"/>
          </a:xfrm>
          <a:prstGeom prst="rect">
            <a:avLst/>
          </a:prstGeom>
          <a:noFill/>
          <a:ln/>
        </p:spPr>
        <p:txBody>
          <a:bodyPr wrap="none" lIns="0" tIns="0" rIns="0" bIns="0" rtlCol="0" anchor="t"/>
          <a:lstStyle/>
          <a:p>
            <a:pPr marL="0" indent="0" algn="l">
              <a:lnSpc>
                <a:spcPts val="1181"/>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2017 — Microsoft Research</a:t>
            </a:r>
            <a:endParaRPr lang="en-US" sz="800" dirty="0"/>
          </a:p>
        </p:txBody>
      </p:sp>
      <p:sp>
        <p:nvSpPr>
          <p:cNvPr id="10" name="Text 8"/>
          <p:cNvSpPr/>
          <p:nvPr/>
        </p:nvSpPr>
        <p:spPr>
          <a:xfrm>
            <a:off x="7725966" y="1539478"/>
            <a:ext cx="835819" cy="835819"/>
          </a:xfrm>
          <a:prstGeom prst="roundRect">
            <a:avLst>
              <a:gd name="adj" fmla="val 18234"/>
            </a:avLst>
          </a:prstGeom>
          <a:noFill/>
          <a:ln w="21431">
            <a:solidFill>
              <a:srgbClr val="0EA5E9"/>
            </a:solidFill>
            <a:prstDash val="solid"/>
          </a:ln>
        </p:spPr>
        <p:txBody>
          <a:bodyPr wrap="square" rtlCol="0" anchor="ctr"/>
          <a:lstStyle/>
          <a:p>
            <a:pPr marL="0" indent="0">
              <a:buNone/>
            </a:pPr>
            <a:endParaRPr lang="en-US" dirty="0"/>
          </a:p>
        </p:txBody>
      </p:sp>
      <p:sp>
        <p:nvSpPr>
          <p:cNvPr id="11" name="Text 9"/>
          <p:cNvSpPr/>
          <p:nvPr/>
        </p:nvSpPr>
        <p:spPr>
          <a:xfrm>
            <a:off x="8001000" y="2500313"/>
            <a:ext cx="571500" cy="571500"/>
          </a:xfrm>
          <a:prstGeom prst="roundRect">
            <a:avLst>
              <a:gd name="adj" fmla="val 20000"/>
            </a:avLst>
          </a:prstGeom>
          <a:solidFill>
            <a:srgbClr val="0EA5E9"/>
          </a:solidFill>
          <a:ln/>
        </p:spPr>
        <p:txBody>
          <a:bodyPr wrap="square" rtlCol="0" anchor="ctr"/>
          <a:lstStyle/>
          <a:p>
            <a:pPr marL="0" indent="0">
              <a:buNone/>
            </a:pPr>
            <a:endParaRPr lang="en-US" dirty="0"/>
          </a:p>
        </p:txBody>
      </p:sp>
      <p:sp>
        <p:nvSpPr>
          <p:cNvPr id="12" name="Text 10"/>
          <p:cNvSpPr/>
          <p:nvPr/>
        </p:nvSpPr>
        <p:spPr>
          <a:xfrm>
            <a:off x="8154591" y="3196828"/>
            <a:ext cx="407194" cy="407194"/>
          </a:xfrm>
          <a:prstGeom prst="roundRect">
            <a:avLst>
              <a:gd name="adj" fmla="val 23392"/>
            </a:avLst>
          </a:prstGeom>
          <a:noFill/>
          <a:ln w="21431">
            <a:solidFill>
              <a:srgbClr val="0EA5E9"/>
            </a:solidFill>
            <a:prstDash val="solid"/>
          </a:ln>
        </p:spPr>
        <p:txBody>
          <a:bodyPr wrap="square" rtlCol="0" anchor="ctr"/>
          <a:lstStyle/>
          <a:p>
            <a:pPr marL="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423267"/>
            <a:ext cx="673209" cy="164592"/>
          </a:xfrm>
          <a:prstGeom prst="rect">
            <a:avLst/>
          </a:prstGeom>
          <a:noFill/>
          <a:ln/>
        </p:spPr>
        <p:txBody>
          <a:bodyPr wrap="none" lIns="0" tIns="0" rIns="0" bIns="0" rtlCol="0" anchor="t"/>
          <a:lstStyle/>
          <a:p>
            <a:pPr marL="0" indent="0" algn="l">
              <a:lnSpc>
                <a:spcPts val="928"/>
              </a:lnSpc>
              <a:buNone/>
            </a:pPr>
            <a:r>
              <a:rPr lang="en-US" sz="800" kern="0" spc="113" dirty="0">
                <a:solidFill>
                  <a:srgbClr val="0EA5E9"/>
                </a:solidFill>
                <a:latin typeface="Courier New" pitchFamily="34" charset="0"/>
                <a:ea typeface="Courier New" pitchFamily="34" charset="-122"/>
                <a:cs typeface="Courier New" pitchFamily="34" charset="-120"/>
              </a:rPr>
              <a:t>LIGHTGBM</a:t>
            </a:r>
            <a:endParaRPr lang="en-US" sz="800" dirty="0"/>
          </a:p>
        </p:txBody>
      </p:sp>
      <p:sp>
        <p:nvSpPr>
          <p:cNvPr id="3" name="Text 1"/>
          <p:cNvSpPr/>
          <p:nvPr/>
        </p:nvSpPr>
        <p:spPr>
          <a:xfrm>
            <a:off x="914400" y="475059"/>
            <a:ext cx="228600" cy="14288"/>
          </a:xfrm>
          <a:prstGeom prst="roundRect">
            <a:avLst>
              <a:gd name="adj" fmla="val 66664"/>
            </a:avLst>
          </a:prstGeom>
          <a:solidFill>
            <a:srgbClr val="E2E8F0"/>
          </a:solidFill>
          <a:ln/>
        </p:spPr>
        <p:txBody>
          <a:bodyPr wrap="square" rtlCol="0" anchor="ctr"/>
          <a:lstStyle/>
          <a:p>
            <a:pPr marL="0" indent="0">
              <a:buNone/>
            </a:pPr>
            <a:endParaRPr lang="en-US" dirty="0"/>
          </a:p>
        </p:txBody>
      </p:sp>
      <p:sp>
        <p:nvSpPr>
          <p:cNvPr id="4" name="Text 2"/>
          <p:cNvSpPr/>
          <p:nvPr/>
        </p:nvSpPr>
        <p:spPr>
          <a:xfrm>
            <a:off x="1228725" y="342900"/>
            <a:ext cx="7515225" cy="300895"/>
          </a:xfrm>
          <a:prstGeom prst="rect">
            <a:avLst/>
          </a:prstGeom>
          <a:noFill/>
          <a:ln/>
        </p:spPr>
        <p:txBody>
          <a:bodyPr wrap="none" lIns="0" tIns="0" rIns="0" bIns="0" rtlCol="0" anchor="t"/>
          <a:lstStyle/>
          <a:p>
            <a:pPr marL="0" indent="0" algn="l">
              <a:lnSpc>
                <a:spcPts val="2194"/>
              </a:lnSpc>
              <a:buNone/>
            </a:pPr>
            <a:r>
              <a:rPr lang="en-US" sz="1463" b="1" kern="0" spc="-28" dirty="0">
                <a:solidFill>
                  <a:srgbClr val="0F172A"/>
                </a:solidFill>
                <a:latin typeface="Carlito" pitchFamily="34" charset="0"/>
                <a:ea typeface="Carlito" pitchFamily="34" charset="-122"/>
                <a:cs typeface="Carlito" pitchFamily="34" charset="-120"/>
              </a:rPr>
              <a:t>What is LightGBM?</a:t>
            </a:r>
            <a:endParaRPr lang="en-US" sz="1463" dirty="0"/>
          </a:p>
        </p:txBody>
      </p:sp>
      <p:sp>
        <p:nvSpPr>
          <p:cNvPr id="5" name="Text 3"/>
          <p:cNvSpPr/>
          <p:nvPr/>
        </p:nvSpPr>
        <p:spPr>
          <a:xfrm>
            <a:off x="400050" y="792956"/>
            <a:ext cx="4589078" cy="590217"/>
          </a:xfrm>
          <a:prstGeom prst="rect">
            <a:avLst/>
          </a:prstGeom>
          <a:noFill/>
          <a:ln/>
        </p:spPr>
        <p:txBody>
          <a:bodyPr wrap="square" lIns="0" tIns="0" rIns="0" bIns="0" rtlCol="0" anchor="t"/>
          <a:lstStyle/>
          <a:p>
            <a:pPr marL="0" indent="0" algn="l">
              <a:lnSpc>
                <a:spcPts val="1434"/>
              </a:lnSpc>
              <a:buNone/>
            </a:pPr>
            <a:r>
              <a:rPr lang="en-US" sz="844" dirty="0">
                <a:solidFill>
                  <a:srgbClr val="334155"/>
                </a:solidFill>
                <a:latin typeface="Carlito" pitchFamily="34" charset="0"/>
                <a:ea typeface="Carlito" pitchFamily="34" charset="-122"/>
                <a:cs typeface="Carlito" pitchFamily="34" charset="-120"/>
              </a:rPr>
              <a:t>LightGBM is a gradient boosting framework developed by </a:t>
            </a:r>
            <a:r>
              <a:rPr lang="en-US" sz="844" dirty="0">
                <a:solidFill>
                  <a:srgbClr val="0EA5E9"/>
                </a:solidFill>
                <a:latin typeface="Liberation Sans Narrow" pitchFamily="34" charset="0"/>
                <a:ea typeface="Liberation Sans Narrow" pitchFamily="34" charset="-122"/>
                <a:cs typeface="Liberation Sans Narrow" pitchFamily="34" charset="-120"/>
              </a:rPr>
              <a:t>Microsoft Research in 2017</a:t>
            </a:r>
            <a:r>
              <a:rPr lang="en-US" sz="844" dirty="0">
                <a:solidFill>
                  <a:srgbClr val="334155"/>
                </a:solidFill>
                <a:latin typeface="Carlito" pitchFamily="34" charset="0"/>
                <a:ea typeface="Carlito" pitchFamily="34" charset="-122"/>
                <a:cs typeface="Carlito" pitchFamily="34" charset="-120"/>
              </a:rPr>
              <a:t>, designed to be faster and more memory-efficient than XGBoost while maintaining comparable or better accuracy.</a:t>
            </a:r>
            <a:endParaRPr lang="en-US" sz="844" dirty="0"/>
          </a:p>
        </p:txBody>
      </p:sp>
      <p:sp>
        <p:nvSpPr>
          <p:cNvPr id="6" name="Text 4"/>
          <p:cNvSpPr/>
          <p:nvPr/>
        </p:nvSpPr>
        <p:spPr>
          <a:xfrm>
            <a:off x="400050" y="1439466"/>
            <a:ext cx="4589078" cy="590217"/>
          </a:xfrm>
          <a:prstGeom prst="rect">
            <a:avLst/>
          </a:prstGeom>
          <a:noFill/>
          <a:ln/>
        </p:spPr>
        <p:txBody>
          <a:bodyPr wrap="square" lIns="0" tIns="0" rIns="0" bIns="0" rtlCol="0" anchor="t"/>
          <a:lstStyle/>
          <a:p>
            <a:pPr marL="0" indent="0" algn="l">
              <a:lnSpc>
                <a:spcPts val="1434"/>
              </a:lnSpc>
              <a:buNone/>
            </a:pPr>
            <a:r>
              <a:rPr lang="en-US" sz="844" dirty="0">
                <a:solidFill>
                  <a:srgbClr val="334155"/>
                </a:solidFill>
                <a:latin typeface="Carlito" pitchFamily="34" charset="0"/>
                <a:ea typeface="Carlito" pitchFamily="34" charset="-122"/>
                <a:cs typeface="Carlito" pitchFamily="34" charset="-120"/>
              </a:rPr>
              <a:t>The name "Light" refers to its ability to handle large-scale datasets with significantly lower memory usage and faster training time. It achieves this through two novel techniques: </a:t>
            </a:r>
            <a:r>
              <a:rPr lang="en-US" sz="844" dirty="0">
                <a:solidFill>
                  <a:srgbClr val="0EA5E9"/>
                </a:solidFill>
                <a:latin typeface="Carlito" pitchFamily="34" charset="0"/>
                <a:ea typeface="Carlito" pitchFamily="34" charset="-122"/>
                <a:cs typeface="Carlito" pitchFamily="34" charset="-120"/>
              </a:rPr>
              <a:t>Gradient-based One-Side Sampling (GOSS)</a:t>
            </a:r>
            <a:r>
              <a:rPr lang="en-US" sz="844" dirty="0">
                <a:solidFill>
                  <a:srgbClr val="334155"/>
                </a:solidFill>
                <a:latin typeface="Carlito" pitchFamily="34" charset="0"/>
                <a:ea typeface="Carlito" pitchFamily="34" charset="-122"/>
                <a:cs typeface="Carlito" pitchFamily="34" charset="-120"/>
              </a:rPr>
              <a:t> and </a:t>
            </a:r>
            <a:r>
              <a:rPr lang="en-US" sz="844" dirty="0">
                <a:solidFill>
                  <a:srgbClr val="0EA5E9"/>
                </a:solidFill>
                <a:latin typeface="Carlito" pitchFamily="34" charset="0"/>
                <a:ea typeface="Carlito" pitchFamily="34" charset="-122"/>
                <a:cs typeface="Carlito" pitchFamily="34" charset="-120"/>
              </a:rPr>
              <a:t>Exclusive Feature Bundling (EFB)</a:t>
            </a:r>
            <a:r>
              <a:rPr lang="en-US" sz="844" dirty="0">
                <a:solidFill>
                  <a:srgbClr val="334155"/>
                </a:solidFill>
                <a:latin typeface="Carlito" pitchFamily="34" charset="0"/>
                <a:ea typeface="Carlito" pitchFamily="34" charset="-122"/>
                <a:cs typeface="Carlito" pitchFamily="34" charset="-120"/>
              </a:rPr>
              <a:t>.</a:t>
            </a:r>
            <a:endParaRPr lang="en-US" sz="844" dirty="0"/>
          </a:p>
        </p:txBody>
      </p:sp>
      <p:sp>
        <p:nvSpPr>
          <p:cNvPr id="7" name="Text 5"/>
          <p:cNvSpPr/>
          <p:nvPr/>
        </p:nvSpPr>
        <p:spPr>
          <a:xfrm>
            <a:off x="400050" y="2085975"/>
            <a:ext cx="4589078" cy="590217"/>
          </a:xfrm>
          <a:prstGeom prst="rect">
            <a:avLst/>
          </a:prstGeom>
          <a:noFill/>
          <a:ln/>
        </p:spPr>
        <p:txBody>
          <a:bodyPr wrap="square" lIns="0" tIns="0" rIns="0" bIns="0" rtlCol="0" anchor="t"/>
          <a:lstStyle/>
          <a:p>
            <a:pPr marL="0" indent="0" algn="l">
              <a:lnSpc>
                <a:spcPts val="1434"/>
              </a:lnSpc>
              <a:buNone/>
            </a:pPr>
            <a:r>
              <a:rPr lang="en-US" sz="844" dirty="0">
                <a:solidFill>
                  <a:srgbClr val="334155"/>
                </a:solidFill>
                <a:latin typeface="Carlito" pitchFamily="34" charset="0"/>
                <a:ea typeface="Carlito" pitchFamily="34" charset="-122"/>
                <a:cs typeface="Carlito" pitchFamily="34" charset="-120"/>
              </a:rPr>
              <a:t>Unlike XGBoost's level-wise (horizontal) tree growth, LightGBM uses a </a:t>
            </a:r>
            <a:r>
              <a:rPr lang="en-US" sz="844" dirty="0">
                <a:solidFill>
                  <a:srgbClr val="0EA5E9"/>
                </a:solidFill>
                <a:latin typeface="Carlito" pitchFamily="34" charset="0"/>
                <a:ea typeface="Carlito" pitchFamily="34" charset="-122"/>
                <a:cs typeface="Carlito" pitchFamily="34" charset="-120"/>
              </a:rPr>
              <a:t>leaf-wise (vertical) growth strategy</a:t>
            </a:r>
            <a:r>
              <a:rPr lang="en-US" sz="844" dirty="0">
                <a:solidFill>
                  <a:srgbClr val="334155"/>
                </a:solidFill>
                <a:latin typeface="Carlito" pitchFamily="34" charset="0"/>
                <a:ea typeface="Carlito" pitchFamily="34" charset="-122"/>
                <a:cs typeface="Carlito" pitchFamily="34" charset="-120"/>
              </a:rPr>
              <a:t>. This means it grows the tree by splitting the leaf with the highest loss reduction, leading to deeper, more asymmetric trees that often achieve lower error.</a:t>
            </a:r>
            <a:endParaRPr lang="en-US" sz="844" dirty="0"/>
          </a:p>
        </p:txBody>
      </p:sp>
      <p:sp>
        <p:nvSpPr>
          <p:cNvPr id="8" name="Text 6"/>
          <p:cNvSpPr/>
          <p:nvPr/>
        </p:nvSpPr>
        <p:spPr>
          <a:xfrm>
            <a:off x="400050" y="2732484"/>
            <a:ext cx="4589078" cy="590217"/>
          </a:xfrm>
          <a:prstGeom prst="rect">
            <a:avLst/>
          </a:prstGeom>
          <a:noFill/>
          <a:ln/>
        </p:spPr>
        <p:txBody>
          <a:bodyPr wrap="square" lIns="0" tIns="0" rIns="0" bIns="0" rtlCol="0" anchor="t"/>
          <a:lstStyle/>
          <a:p>
            <a:pPr marL="0" indent="0" algn="l">
              <a:lnSpc>
                <a:spcPts val="1434"/>
              </a:lnSpc>
              <a:buNone/>
            </a:pPr>
            <a:r>
              <a:rPr lang="en-US" sz="844" dirty="0">
                <a:solidFill>
                  <a:srgbClr val="334155"/>
                </a:solidFill>
                <a:latin typeface="Carlito" pitchFamily="34" charset="0"/>
                <a:ea typeface="Carlito" pitchFamily="34" charset="-122"/>
                <a:cs typeface="Carlito" pitchFamily="34" charset="-120"/>
              </a:rPr>
              <a:t>LightGBM supports categorical features natively — no one-hot encoding needed. It uses a special algorithm called Fisher's method to find optimal splits for categorical variables, which is both faster and often more effective.</a:t>
            </a:r>
            <a:endParaRPr lang="en-US" sz="844" dirty="0"/>
          </a:p>
        </p:txBody>
      </p:sp>
      <p:sp>
        <p:nvSpPr>
          <p:cNvPr id="9" name="Text 7"/>
          <p:cNvSpPr/>
          <p:nvPr/>
        </p:nvSpPr>
        <p:spPr>
          <a:xfrm>
            <a:off x="377190" y="3367207"/>
            <a:ext cx="712768" cy="220028"/>
          </a:xfrm>
          <a:prstGeom prst="roundRect">
            <a:avLst>
              <a:gd name="adj" fmla="val 25974"/>
            </a:avLst>
          </a:prstGeom>
          <a:solidFill>
            <a:srgbClr val="E0F2FE"/>
          </a:solidFill>
          <a:ln/>
        </p:spPr>
        <p:txBody>
          <a:bodyPr wrap="square" rtlCol="0" anchor="ctr"/>
          <a:lstStyle/>
          <a:p>
            <a:pPr marL="0" indent="0">
              <a:buNone/>
            </a:pPr>
            <a:endParaRPr lang="en-US" dirty="0"/>
          </a:p>
        </p:txBody>
      </p:sp>
      <p:sp>
        <p:nvSpPr>
          <p:cNvPr id="10" name="Text 8"/>
          <p:cNvSpPr/>
          <p:nvPr/>
        </p:nvSpPr>
        <p:spPr>
          <a:xfrm>
            <a:off x="768511" y="3432572"/>
            <a:ext cx="227149" cy="91440"/>
          </a:xfrm>
          <a:prstGeom prst="rect">
            <a:avLst/>
          </a:prstGeom>
          <a:noFill/>
          <a:ln/>
        </p:spPr>
        <p:txBody>
          <a:bodyPr wrap="none" lIns="71438" tIns="28575" rIns="71438" bIns="28575" rtlCol="0" anchor="ctr"/>
          <a:lstStyle/>
          <a:p>
            <a:pPr marL="0" indent="0" algn="ctr">
              <a:lnSpc>
                <a:spcPts val="928"/>
              </a:lnSpc>
              <a:buNone/>
            </a:pPr>
            <a:r>
              <a:rPr lang="en-US" sz="800" dirty="0">
                <a:solidFill>
                  <a:srgbClr val="0284C7"/>
                </a:solidFill>
                <a:latin typeface="Carlito" pitchFamily="34" charset="0"/>
                <a:ea typeface="Carlito" pitchFamily="34" charset="-122"/>
                <a:cs typeface="Carlito" pitchFamily="34" charset="-120"/>
              </a:rPr>
              <a:t>GOSS</a:t>
            </a:r>
            <a:endParaRPr lang="en-US" sz="800" dirty="0"/>
          </a:p>
        </p:txBody>
      </p:sp>
      <p:sp>
        <p:nvSpPr>
          <p:cNvPr id="11" name="Text 9"/>
          <p:cNvSpPr/>
          <p:nvPr/>
        </p:nvSpPr>
        <p:spPr>
          <a:xfrm>
            <a:off x="471488" y="3407569"/>
            <a:ext cx="268449" cy="139303"/>
          </a:xfrm>
          <a:prstGeom prst="rect">
            <a:avLst/>
          </a:prstGeom>
          <a:noFill/>
          <a:ln/>
        </p:spPr>
        <p:txBody>
          <a:bodyPr wrap="none" lIns="0" tIns="0" rIns="0" bIns="0" rtlCol="0" anchor="ctr"/>
          <a:lstStyle/>
          <a:p>
            <a:pPr marL="0" indent="0" algn="ctr">
              <a:buNone/>
            </a:pPr>
            <a:r>
              <a:rPr lang="en-US" sz="914" dirty="0">
                <a:solidFill>
                  <a:srgbClr val="0284C7"/>
                </a:solidFill>
                <a:latin typeface="Segoe UI Symbol" pitchFamily="34" charset="0"/>
                <a:ea typeface="Segoe UI Symbol" pitchFamily="34" charset="-122"/>
                <a:cs typeface="Segoe UI Symbol" pitchFamily="34" charset="-120"/>
              </a:rPr>
              <a:t>✦</a:t>
            </a:r>
            <a:endParaRPr lang="en-US" sz="914" dirty="0"/>
          </a:p>
        </p:txBody>
      </p:sp>
      <p:sp>
        <p:nvSpPr>
          <p:cNvPr id="12" name="Text 10"/>
          <p:cNvSpPr/>
          <p:nvPr/>
        </p:nvSpPr>
        <p:spPr>
          <a:xfrm>
            <a:off x="1101388" y="3367207"/>
            <a:ext cx="813003" cy="220028"/>
          </a:xfrm>
          <a:prstGeom prst="roundRect">
            <a:avLst>
              <a:gd name="adj" fmla="val 25974"/>
            </a:avLst>
          </a:prstGeom>
          <a:solidFill>
            <a:srgbClr val="D1FAE5"/>
          </a:solidFill>
          <a:ln/>
        </p:spPr>
        <p:txBody>
          <a:bodyPr wrap="square" rtlCol="0" anchor="ctr"/>
          <a:lstStyle/>
          <a:p>
            <a:pPr marL="0" indent="0">
              <a:buNone/>
            </a:pPr>
            <a:endParaRPr lang="en-US" dirty="0"/>
          </a:p>
        </p:txBody>
      </p:sp>
      <p:sp>
        <p:nvSpPr>
          <p:cNvPr id="13" name="Text 11"/>
          <p:cNvSpPr/>
          <p:nvPr/>
        </p:nvSpPr>
        <p:spPr>
          <a:xfrm>
            <a:off x="1662931" y="3432572"/>
            <a:ext cx="157163" cy="91440"/>
          </a:xfrm>
          <a:prstGeom prst="rect">
            <a:avLst/>
          </a:prstGeom>
          <a:noFill/>
          <a:ln/>
        </p:spPr>
        <p:txBody>
          <a:bodyPr wrap="none" lIns="71438" tIns="28575" rIns="71438" bIns="28575" rtlCol="0" anchor="ctr"/>
          <a:lstStyle/>
          <a:p>
            <a:pPr marL="0" indent="0" algn="ctr">
              <a:lnSpc>
                <a:spcPts val="928"/>
              </a:lnSpc>
              <a:buNone/>
            </a:pPr>
            <a:r>
              <a:rPr lang="en-US" sz="800" dirty="0">
                <a:solidFill>
                  <a:srgbClr val="065F46"/>
                </a:solidFill>
                <a:latin typeface="Carlito" pitchFamily="34" charset="0"/>
                <a:ea typeface="Carlito" pitchFamily="34" charset="-122"/>
                <a:cs typeface="Carlito" pitchFamily="34" charset="-120"/>
              </a:rPr>
              <a:t>EFB</a:t>
            </a:r>
            <a:endParaRPr lang="en-US" sz="800" dirty="0"/>
          </a:p>
        </p:txBody>
      </p:sp>
      <p:sp>
        <p:nvSpPr>
          <p:cNvPr id="14" name="Text 12"/>
          <p:cNvSpPr/>
          <p:nvPr/>
        </p:nvSpPr>
        <p:spPr>
          <a:xfrm>
            <a:off x="1195685" y="3407569"/>
            <a:ext cx="438671" cy="139303"/>
          </a:xfrm>
          <a:prstGeom prst="rect">
            <a:avLst/>
          </a:prstGeom>
          <a:noFill/>
          <a:ln/>
        </p:spPr>
        <p:txBody>
          <a:bodyPr wrap="none" lIns="0" tIns="0" rIns="0" bIns="0" rtlCol="0" anchor="ctr"/>
          <a:lstStyle/>
          <a:p>
            <a:pPr marL="0" indent="0" algn="ctr">
              <a:buNone/>
            </a:pPr>
            <a:r>
              <a:rPr lang="en-US" sz="914" dirty="0">
                <a:solidFill>
                  <a:srgbClr val="065F46"/>
                </a:solidFill>
                <a:latin typeface="Segoe UI Symbol" pitchFamily="34" charset="0"/>
                <a:ea typeface="Segoe UI Symbol" pitchFamily="34" charset="-122"/>
                <a:cs typeface="Segoe UI Symbol" pitchFamily="34" charset="-120"/>
              </a:rPr>
              <a:t>▣</a:t>
            </a:r>
            <a:endParaRPr lang="en-US" sz="914" dirty="0"/>
          </a:p>
        </p:txBody>
      </p:sp>
      <p:sp>
        <p:nvSpPr>
          <p:cNvPr id="15" name="Text 13"/>
          <p:cNvSpPr/>
          <p:nvPr/>
        </p:nvSpPr>
        <p:spPr>
          <a:xfrm>
            <a:off x="1948681" y="3378994"/>
            <a:ext cx="1244352" cy="196453"/>
          </a:xfrm>
          <a:prstGeom prst="roundRect">
            <a:avLst>
              <a:gd name="adj" fmla="val 29091"/>
            </a:avLst>
          </a:prstGeom>
          <a:solidFill>
            <a:srgbClr val="FEF3C7"/>
          </a:solidFill>
          <a:ln/>
        </p:spPr>
        <p:txBody>
          <a:bodyPr wrap="square" rtlCol="0" anchor="ctr"/>
          <a:lstStyle/>
          <a:p>
            <a:pPr marL="0" indent="0">
              <a:buNone/>
            </a:pPr>
            <a:endParaRPr lang="en-US" dirty="0"/>
          </a:p>
        </p:txBody>
      </p:sp>
      <p:sp>
        <p:nvSpPr>
          <p:cNvPr id="16" name="Text 14"/>
          <p:cNvSpPr/>
          <p:nvPr/>
        </p:nvSpPr>
        <p:spPr>
          <a:xfrm>
            <a:off x="2435907" y="3432572"/>
            <a:ext cx="685688" cy="91440"/>
          </a:xfrm>
          <a:prstGeom prst="rect">
            <a:avLst/>
          </a:prstGeom>
          <a:noFill/>
          <a:ln/>
        </p:spPr>
        <p:txBody>
          <a:bodyPr wrap="none" lIns="71438" tIns="28575" rIns="71438" bIns="28575" rtlCol="0" anchor="ctr"/>
          <a:lstStyle/>
          <a:p>
            <a:pPr marL="0" indent="0" algn="ctr">
              <a:lnSpc>
                <a:spcPts val="928"/>
              </a:lnSpc>
              <a:buNone/>
            </a:pPr>
            <a:r>
              <a:rPr lang="en-US" sz="800" dirty="0">
                <a:solidFill>
                  <a:srgbClr val="92400E"/>
                </a:solidFill>
                <a:latin typeface="Carlito" pitchFamily="34" charset="0"/>
                <a:ea typeface="Carlito" pitchFamily="34" charset="-122"/>
                <a:cs typeface="Carlito" pitchFamily="34" charset="-120"/>
              </a:rPr>
              <a:t>Native Categorical</a:t>
            </a:r>
            <a:endParaRPr lang="en-US" sz="800" dirty="0"/>
          </a:p>
        </p:txBody>
      </p:sp>
      <p:sp>
        <p:nvSpPr>
          <p:cNvPr id="17" name="Text 15"/>
          <p:cNvSpPr/>
          <p:nvPr/>
        </p:nvSpPr>
        <p:spPr>
          <a:xfrm>
            <a:off x="2020119" y="3407569"/>
            <a:ext cx="387214" cy="139303"/>
          </a:xfrm>
          <a:prstGeom prst="rect">
            <a:avLst/>
          </a:prstGeom>
          <a:noFill/>
          <a:ln/>
        </p:spPr>
        <p:txBody>
          <a:bodyPr wrap="none" lIns="0" tIns="0" rIns="0" bIns="0" rtlCol="0" anchor="ctr"/>
          <a:lstStyle/>
          <a:p>
            <a:pPr marL="0" indent="0" algn="ctr">
              <a:buNone/>
            </a:pPr>
            <a:r>
              <a:rPr lang="en-US" sz="914" dirty="0">
                <a:solidFill>
                  <a:srgbClr val="92400E"/>
                </a:solidFill>
                <a:latin typeface="Segoe UI Symbol" pitchFamily="34" charset="0"/>
                <a:ea typeface="Segoe UI Symbol" pitchFamily="34" charset="-122"/>
                <a:cs typeface="Segoe UI Symbol" pitchFamily="34" charset="-120"/>
              </a:rPr>
              <a:t>▣</a:t>
            </a:r>
            <a:endParaRPr lang="en-US" sz="914" dirty="0"/>
          </a:p>
        </p:txBody>
      </p:sp>
      <p:sp>
        <p:nvSpPr>
          <p:cNvPr id="18" name="Text 16"/>
          <p:cNvSpPr/>
          <p:nvPr/>
        </p:nvSpPr>
        <p:spPr>
          <a:xfrm>
            <a:off x="5278450" y="796528"/>
            <a:ext cx="3747567" cy="3193256"/>
          </a:xfrm>
          <a:prstGeom prst="roundRect">
            <a:avLst>
              <a:gd name="adj" fmla="val 3579"/>
            </a:avLst>
          </a:prstGeom>
          <a:solidFill>
            <a:srgbClr val="F8FAFC"/>
          </a:solidFill>
          <a:ln w="7144">
            <a:solidFill>
              <a:srgbClr val="E2E8F0"/>
            </a:solidFill>
            <a:prstDash val="solid"/>
          </a:ln>
          <a:effectLst>
            <a:outerShdw blurRad="114300" dist="19050" dir="5400000" algn="bl" rotWithShape="0">
              <a:srgbClr val="0F172A">
                <a:alpha val="6000"/>
              </a:srgbClr>
            </a:outerShdw>
          </a:effectLst>
        </p:spPr>
        <p:txBody>
          <a:bodyPr wrap="square" rtlCol="0" anchor="ctr"/>
          <a:lstStyle/>
          <a:p>
            <a:pPr marL="0" indent="0">
              <a:buNone/>
            </a:pPr>
            <a:endParaRPr lang="en-US" dirty="0"/>
          </a:p>
        </p:txBody>
      </p:sp>
      <p:pic>
        <p:nvPicPr>
          <p:cNvPr id="19" name="Image 0" descr="/tmp/h2p-fit-1783264352156-6sfazp.png"/>
          <p:cNvPicPr>
            <a:picLocks noChangeAspect="1"/>
          </p:cNvPicPr>
          <p:nvPr/>
        </p:nvPicPr>
        <p:blipFill>
          <a:blip r:embed="rId3"/>
          <a:stretch>
            <a:fillRect/>
          </a:stretch>
        </p:blipFill>
        <p:spPr>
          <a:xfrm>
            <a:off x="5282022" y="800100"/>
            <a:ext cx="3740423" cy="2857500"/>
          </a:xfrm>
          <a:prstGeom prst="rect">
            <a:avLst/>
          </a:prstGeom>
        </p:spPr>
      </p:pic>
      <p:sp>
        <p:nvSpPr>
          <p:cNvPr id="20" name="Shape 17"/>
          <p:cNvSpPr/>
          <p:nvPr/>
        </p:nvSpPr>
        <p:spPr>
          <a:xfrm>
            <a:off x="5282022" y="3661172"/>
            <a:ext cx="3740423" cy="0"/>
          </a:xfrm>
          <a:prstGeom prst="line">
            <a:avLst/>
          </a:prstGeom>
          <a:noFill/>
          <a:ln w="7144">
            <a:solidFill>
              <a:srgbClr val="E2E8F0"/>
            </a:solidFill>
            <a:prstDash val="solid"/>
          </a:ln>
        </p:spPr>
        <p:txBody>
          <a:bodyPr/>
          <a:lstStyle/>
          <a:p>
            <a:endParaRPr lang="en-IN"/>
          </a:p>
        </p:txBody>
      </p:sp>
      <p:sp>
        <p:nvSpPr>
          <p:cNvPr id="21" name="Text 18"/>
          <p:cNvSpPr/>
          <p:nvPr/>
        </p:nvSpPr>
        <p:spPr>
          <a:xfrm>
            <a:off x="5600477" y="3775472"/>
            <a:ext cx="2572755" cy="128016"/>
          </a:xfrm>
          <a:prstGeom prst="rect">
            <a:avLst/>
          </a:prstGeom>
          <a:noFill/>
          <a:ln/>
        </p:spPr>
        <p:txBody>
          <a:bodyPr wrap="square" lIns="114300" tIns="85725" rIns="114300" bIns="85725" rtlCol="0" anchor="t"/>
          <a:lstStyle/>
          <a:p>
            <a:pPr marL="0" indent="0" algn="l">
              <a:lnSpc>
                <a:spcPts val="1013"/>
              </a:lnSpc>
              <a:buNone/>
            </a:pPr>
            <a:r>
              <a:rPr lang="en-US" sz="800" dirty="0">
                <a:solidFill>
                  <a:srgbClr val="64748B"/>
                </a:solidFill>
                <a:latin typeface="Carlito" pitchFamily="34" charset="0"/>
                <a:ea typeface="Carlito" pitchFamily="34" charset="-122"/>
                <a:cs typeface="Carlito" pitchFamily="34" charset="-120"/>
              </a:rPr>
              <a:t>Leaf-wise (LightGBM) vs Level-wise (XGBoost) tree growth strategy</a:t>
            </a:r>
            <a:endParaRPr lang="en-US" sz="800" dirty="0"/>
          </a:p>
        </p:txBody>
      </p:sp>
      <p:sp>
        <p:nvSpPr>
          <p:cNvPr id="22" name="Text 19"/>
          <p:cNvSpPr/>
          <p:nvPr/>
        </p:nvSpPr>
        <p:spPr>
          <a:xfrm>
            <a:off x="5396322" y="3750469"/>
            <a:ext cx="161292" cy="150019"/>
          </a:xfrm>
          <a:prstGeom prst="rect">
            <a:avLst/>
          </a:prstGeom>
          <a:noFill/>
          <a:ln/>
        </p:spPr>
        <p:txBody>
          <a:bodyPr wrap="none" lIns="0" tIns="0" rIns="0" bIns="0" rtlCol="0" anchor="ctr"/>
          <a:lstStyle/>
          <a:p>
            <a:pPr marL="0" indent="0" algn="ctr">
              <a:buNone/>
            </a:pPr>
            <a:r>
              <a:rPr lang="en-US" sz="984" dirty="0">
                <a:solidFill>
                  <a:srgbClr val="64748B"/>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423267"/>
            <a:ext cx="673209" cy="164592"/>
          </a:xfrm>
          <a:prstGeom prst="rect">
            <a:avLst/>
          </a:prstGeom>
          <a:noFill/>
          <a:ln/>
        </p:spPr>
        <p:txBody>
          <a:bodyPr wrap="none" lIns="0" tIns="0" rIns="0" bIns="0" rtlCol="0" anchor="t"/>
          <a:lstStyle/>
          <a:p>
            <a:pPr marL="0" indent="0" algn="l">
              <a:lnSpc>
                <a:spcPts val="928"/>
              </a:lnSpc>
              <a:buNone/>
            </a:pPr>
            <a:r>
              <a:rPr lang="en-US" sz="800" kern="0" spc="113" dirty="0">
                <a:solidFill>
                  <a:srgbClr val="0EA5E9"/>
                </a:solidFill>
                <a:latin typeface="Courier New" pitchFamily="34" charset="0"/>
                <a:ea typeface="Courier New" pitchFamily="34" charset="-122"/>
                <a:cs typeface="Courier New" pitchFamily="34" charset="-120"/>
              </a:rPr>
              <a:t>LIGHTGBM</a:t>
            </a:r>
            <a:endParaRPr lang="en-US" sz="800" dirty="0"/>
          </a:p>
        </p:txBody>
      </p:sp>
      <p:sp>
        <p:nvSpPr>
          <p:cNvPr id="3" name="Text 1"/>
          <p:cNvSpPr/>
          <p:nvPr/>
        </p:nvSpPr>
        <p:spPr>
          <a:xfrm>
            <a:off x="914400" y="475059"/>
            <a:ext cx="228600" cy="14288"/>
          </a:xfrm>
          <a:prstGeom prst="roundRect">
            <a:avLst>
              <a:gd name="adj" fmla="val 66664"/>
            </a:avLst>
          </a:prstGeom>
          <a:solidFill>
            <a:srgbClr val="E2E8F0"/>
          </a:solidFill>
          <a:ln/>
        </p:spPr>
        <p:txBody>
          <a:bodyPr wrap="square" rtlCol="0" anchor="ctr"/>
          <a:lstStyle/>
          <a:p>
            <a:pPr marL="0" indent="0">
              <a:buNone/>
            </a:pPr>
            <a:endParaRPr lang="en-US" dirty="0"/>
          </a:p>
        </p:txBody>
      </p:sp>
      <p:sp>
        <p:nvSpPr>
          <p:cNvPr id="4" name="Text 2"/>
          <p:cNvSpPr/>
          <p:nvPr/>
        </p:nvSpPr>
        <p:spPr>
          <a:xfrm>
            <a:off x="1228725" y="342900"/>
            <a:ext cx="7515225" cy="300895"/>
          </a:xfrm>
          <a:prstGeom prst="rect">
            <a:avLst/>
          </a:prstGeom>
          <a:noFill/>
          <a:ln/>
        </p:spPr>
        <p:txBody>
          <a:bodyPr wrap="none" lIns="0" tIns="0" rIns="0" bIns="0" rtlCol="0" anchor="t"/>
          <a:lstStyle/>
          <a:p>
            <a:pPr marL="0" indent="0" algn="l">
              <a:lnSpc>
                <a:spcPts val="2194"/>
              </a:lnSpc>
              <a:buNone/>
            </a:pPr>
            <a:r>
              <a:rPr lang="en-US" sz="1463" b="1" kern="0" spc="-28" dirty="0">
                <a:solidFill>
                  <a:srgbClr val="0F172A"/>
                </a:solidFill>
                <a:latin typeface="Carlito" pitchFamily="34" charset="0"/>
                <a:ea typeface="Carlito" pitchFamily="34" charset="-122"/>
                <a:cs typeface="Carlito" pitchFamily="34" charset="-120"/>
              </a:rPr>
              <a:t>Key Innovations That Make LightGBM Fast</a:t>
            </a:r>
            <a:endParaRPr lang="en-US" sz="1463" dirty="0"/>
          </a:p>
        </p:txBody>
      </p:sp>
      <p:sp>
        <p:nvSpPr>
          <p:cNvPr id="5" name="Text 3"/>
          <p:cNvSpPr/>
          <p:nvPr/>
        </p:nvSpPr>
        <p:spPr>
          <a:xfrm>
            <a:off x="400050" y="764381"/>
            <a:ext cx="4121944" cy="2198154"/>
          </a:xfrm>
          <a:prstGeom prst="roundRect">
            <a:avLst>
              <a:gd name="adj" fmla="val 5200"/>
            </a:avLst>
          </a:prstGeom>
          <a:solidFill>
            <a:srgbClr val="F8FAFC"/>
          </a:solidFill>
          <a:ln/>
        </p:spPr>
        <p:txBody>
          <a:bodyPr wrap="square" rtlCol="0" anchor="ctr"/>
          <a:lstStyle/>
          <a:p>
            <a:pPr marL="0" indent="0">
              <a:buNone/>
            </a:pPr>
            <a:endParaRPr lang="en-US" dirty="0"/>
          </a:p>
        </p:txBody>
      </p:sp>
      <p:sp>
        <p:nvSpPr>
          <p:cNvPr id="6" name="Shape 4"/>
          <p:cNvSpPr/>
          <p:nvPr/>
        </p:nvSpPr>
        <p:spPr>
          <a:xfrm>
            <a:off x="400050" y="767953"/>
            <a:ext cx="4121944" cy="0"/>
          </a:xfrm>
          <a:prstGeom prst="line">
            <a:avLst/>
          </a:prstGeom>
          <a:noFill/>
          <a:ln w="7144">
            <a:solidFill>
              <a:srgbClr val="E2E8F0"/>
            </a:solidFill>
            <a:prstDash val="solid"/>
          </a:ln>
        </p:spPr>
        <p:txBody>
          <a:bodyPr/>
          <a:lstStyle/>
          <a:p>
            <a:endParaRPr lang="en-IN"/>
          </a:p>
        </p:txBody>
      </p:sp>
      <p:sp>
        <p:nvSpPr>
          <p:cNvPr id="7" name="Shape 5"/>
          <p:cNvSpPr/>
          <p:nvPr/>
        </p:nvSpPr>
        <p:spPr>
          <a:xfrm>
            <a:off x="4518422" y="764381"/>
            <a:ext cx="0" cy="2198154"/>
          </a:xfrm>
          <a:prstGeom prst="line">
            <a:avLst/>
          </a:prstGeom>
          <a:noFill/>
          <a:ln w="7144">
            <a:solidFill>
              <a:srgbClr val="E2E8F0"/>
            </a:solidFill>
            <a:prstDash val="solid"/>
          </a:ln>
        </p:spPr>
        <p:txBody>
          <a:bodyPr/>
          <a:lstStyle/>
          <a:p>
            <a:endParaRPr lang="en-IN"/>
          </a:p>
        </p:txBody>
      </p:sp>
      <p:sp>
        <p:nvSpPr>
          <p:cNvPr id="8" name="Shape 6"/>
          <p:cNvSpPr/>
          <p:nvPr/>
        </p:nvSpPr>
        <p:spPr>
          <a:xfrm>
            <a:off x="400050" y="2958964"/>
            <a:ext cx="4121944" cy="0"/>
          </a:xfrm>
          <a:prstGeom prst="line">
            <a:avLst/>
          </a:prstGeom>
          <a:noFill/>
          <a:ln w="7144">
            <a:solidFill>
              <a:srgbClr val="E2E8F0"/>
            </a:solidFill>
            <a:prstDash val="solid"/>
          </a:ln>
        </p:spPr>
        <p:txBody>
          <a:bodyPr/>
          <a:lstStyle/>
          <a:p>
            <a:endParaRPr lang="en-IN"/>
          </a:p>
        </p:txBody>
      </p:sp>
      <p:sp>
        <p:nvSpPr>
          <p:cNvPr id="9" name="Shape 7"/>
          <p:cNvSpPr/>
          <p:nvPr/>
        </p:nvSpPr>
        <p:spPr>
          <a:xfrm>
            <a:off x="414338" y="764381"/>
            <a:ext cx="0" cy="2198154"/>
          </a:xfrm>
          <a:prstGeom prst="line">
            <a:avLst/>
          </a:prstGeom>
          <a:noFill/>
          <a:ln w="28575">
            <a:solidFill>
              <a:srgbClr val="0EA5E9"/>
            </a:solidFill>
            <a:prstDash val="solid"/>
          </a:ln>
        </p:spPr>
        <p:txBody>
          <a:bodyPr/>
          <a:lstStyle/>
          <a:p>
            <a:endParaRPr lang="en-IN"/>
          </a:p>
        </p:txBody>
      </p:sp>
      <p:sp>
        <p:nvSpPr>
          <p:cNvPr id="10" name="Text 8"/>
          <p:cNvSpPr/>
          <p:nvPr/>
        </p:nvSpPr>
        <p:spPr>
          <a:xfrm>
            <a:off x="600075" y="928688"/>
            <a:ext cx="285750" cy="285750"/>
          </a:xfrm>
          <a:prstGeom prst="roundRect">
            <a:avLst>
              <a:gd name="adj" fmla="val 33333"/>
            </a:avLst>
          </a:prstGeom>
          <a:solidFill>
            <a:srgbClr val="E0F2FE"/>
          </a:solidFill>
          <a:ln/>
        </p:spPr>
        <p:txBody>
          <a:bodyPr wrap="square" rtlCol="0" anchor="ctr"/>
          <a:lstStyle/>
          <a:p>
            <a:pPr marL="0" indent="0">
              <a:buNone/>
            </a:pPr>
            <a:endParaRPr lang="en-US" dirty="0"/>
          </a:p>
        </p:txBody>
      </p:sp>
      <p:sp>
        <p:nvSpPr>
          <p:cNvPr id="11" name="Text 9"/>
          <p:cNvSpPr/>
          <p:nvPr/>
        </p:nvSpPr>
        <p:spPr>
          <a:xfrm>
            <a:off x="639366" y="967978"/>
            <a:ext cx="207169" cy="207169"/>
          </a:xfrm>
          <a:prstGeom prst="rect">
            <a:avLst/>
          </a:prstGeom>
          <a:noFill/>
          <a:ln/>
        </p:spPr>
        <p:txBody>
          <a:bodyPr wrap="none" lIns="0" tIns="0" rIns="0" bIns="0" rtlCol="0" anchor="ctr"/>
          <a:lstStyle/>
          <a:p>
            <a:pPr marL="0" indent="0" algn="ctr">
              <a:buNone/>
            </a:pPr>
            <a:r>
              <a:rPr lang="en-US" sz="1406" dirty="0">
                <a:solidFill>
                  <a:srgbClr val="0EA5E9"/>
                </a:solidFill>
                <a:latin typeface="Segoe UI Symbol" pitchFamily="34" charset="0"/>
                <a:ea typeface="Segoe UI Symbol" pitchFamily="34" charset="-122"/>
                <a:cs typeface="Segoe UI Symbol" pitchFamily="34" charset="-120"/>
              </a:rPr>
              <a:t>▦</a:t>
            </a:r>
            <a:endParaRPr lang="en-US" sz="1406" dirty="0"/>
          </a:p>
        </p:txBody>
      </p:sp>
      <p:sp>
        <p:nvSpPr>
          <p:cNvPr id="12" name="Text 10"/>
          <p:cNvSpPr/>
          <p:nvPr/>
        </p:nvSpPr>
        <p:spPr>
          <a:xfrm>
            <a:off x="1000125" y="928688"/>
            <a:ext cx="3453003" cy="173593"/>
          </a:xfrm>
          <a:prstGeom prst="rect">
            <a:avLst/>
          </a:prstGeom>
          <a:noFill/>
          <a:ln/>
        </p:spPr>
        <p:txBody>
          <a:bodyPr wrap="square" lIns="0" tIns="0" rIns="0" bIns="0" rtlCol="0" anchor="t"/>
          <a:lstStyle/>
          <a:p>
            <a:pPr marL="0" indent="0" algn="l">
              <a:lnSpc>
                <a:spcPts val="1266"/>
              </a:lnSpc>
              <a:buNone/>
            </a:pPr>
            <a:r>
              <a:rPr lang="en-US" sz="844" b="1" dirty="0">
                <a:solidFill>
                  <a:srgbClr val="0F172A"/>
                </a:solidFill>
                <a:latin typeface="Carlito" pitchFamily="34" charset="0"/>
                <a:ea typeface="Carlito" pitchFamily="34" charset="-122"/>
                <a:cs typeface="Carlito" pitchFamily="34" charset="-120"/>
              </a:rPr>
              <a:t>GOSS — Gradient-based One-Side Sampling</a:t>
            </a:r>
            <a:endParaRPr lang="en-US" sz="844" dirty="0"/>
          </a:p>
        </p:txBody>
      </p:sp>
      <p:sp>
        <p:nvSpPr>
          <p:cNvPr id="13" name="Text 11"/>
          <p:cNvSpPr/>
          <p:nvPr/>
        </p:nvSpPr>
        <p:spPr>
          <a:xfrm>
            <a:off x="1000125" y="1132284"/>
            <a:ext cx="3343275" cy="1019996"/>
          </a:xfrm>
          <a:prstGeom prst="rect">
            <a:avLst/>
          </a:prstGeom>
          <a:noFill/>
          <a:ln/>
        </p:spPr>
        <p:txBody>
          <a:bodyPr wrap="square" lIns="0" tIns="0" rIns="0" bIns="0" rtlCol="0" anchor="t"/>
          <a:lstStyle/>
          <a:p>
            <a:pPr marL="0" indent="0" algn="l">
              <a:lnSpc>
                <a:spcPts val="1133"/>
              </a:lnSpc>
              <a:buNone/>
            </a:pPr>
            <a:r>
              <a:rPr lang="en-US" sz="800" dirty="0">
                <a:solidFill>
                  <a:srgbClr val="475569"/>
                </a:solidFill>
                <a:latin typeface="Carlito" pitchFamily="34" charset="0"/>
                <a:ea typeface="Carlito" pitchFamily="34" charset="-122"/>
                <a:cs typeface="Carlito" pitchFamily="34" charset="-120"/>
              </a:rPr>
              <a:t>Not all data points are equally useful. GOSS keeps all instances with large gradients (hard examples) and randomly samples from instances with small gradients (easy examples). This reduces the dataset size without losing much information about the decision boundary. A constant multiplier adjusts the sampled easy examples to maintain the original gradient distribution. </a:t>
            </a:r>
            <a:r>
              <a:rPr lang="en-US" sz="800" b="1" dirty="0">
                <a:solidFill>
                  <a:srgbClr val="0F172A"/>
                </a:solidFill>
                <a:latin typeface="Carlito" pitchFamily="34" charset="0"/>
                <a:ea typeface="Carlito" pitchFamily="34" charset="-122"/>
                <a:cs typeface="Carlito" pitchFamily="34" charset="-120"/>
              </a:rPr>
              <a:t>Result: up to 3× faster training with minimal accuracy loss.</a:t>
            </a:r>
            <a:endParaRPr lang="en-US" sz="800" dirty="0"/>
          </a:p>
        </p:txBody>
      </p:sp>
      <p:sp>
        <p:nvSpPr>
          <p:cNvPr id="14" name="Text 12"/>
          <p:cNvSpPr/>
          <p:nvPr/>
        </p:nvSpPr>
        <p:spPr>
          <a:xfrm>
            <a:off x="4622006" y="764381"/>
            <a:ext cx="4121944" cy="2198154"/>
          </a:xfrm>
          <a:prstGeom prst="roundRect">
            <a:avLst>
              <a:gd name="adj" fmla="val 5200"/>
            </a:avLst>
          </a:prstGeom>
          <a:solidFill>
            <a:srgbClr val="F8FAFC"/>
          </a:solidFill>
          <a:ln/>
        </p:spPr>
        <p:txBody>
          <a:bodyPr wrap="square" rtlCol="0" anchor="ctr"/>
          <a:lstStyle/>
          <a:p>
            <a:pPr marL="0" indent="0">
              <a:buNone/>
            </a:pPr>
            <a:endParaRPr lang="en-US" dirty="0"/>
          </a:p>
        </p:txBody>
      </p:sp>
      <p:sp>
        <p:nvSpPr>
          <p:cNvPr id="15" name="Shape 13"/>
          <p:cNvSpPr/>
          <p:nvPr/>
        </p:nvSpPr>
        <p:spPr>
          <a:xfrm>
            <a:off x="4622006" y="767953"/>
            <a:ext cx="4121944" cy="0"/>
          </a:xfrm>
          <a:prstGeom prst="line">
            <a:avLst/>
          </a:prstGeom>
          <a:noFill/>
          <a:ln w="7144">
            <a:solidFill>
              <a:srgbClr val="E2E8F0"/>
            </a:solidFill>
            <a:prstDash val="solid"/>
          </a:ln>
        </p:spPr>
        <p:txBody>
          <a:bodyPr/>
          <a:lstStyle/>
          <a:p>
            <a:endParaRPr lang="en-IN"/>
          </a:p>
        </p:txBody>
      </p:sp>
      <p:sp>
        <p:nvSpPr>
          <p:cNvPr id="16" name="Shape 14"/>
          <p:cNvSpPr/>
          <p:nvPr/>
        </p:nvSpPr>
        <p:spPr>
          <a:xfrm>
            <a:off x="8740378" y="764381"/>
            <a:ext cx="0" cy="2198154"/>
          </a:xfrm>
          <a:prstGeom prst="line">
            <a:avLst/>
          </a:prstGeom>
          <a:noFill/>
          <a:ln w="7144">
            <a:solidFill>
              <a:srgbClr val="E2E8F0"/>
            </a:solidFill>
            <a:prstDash val="solid"/>
          </a:ln>
        </p:spPr>
        <p:txBody>
          <a:bodyPr/>
          <a:lstStyle/>
          <a:p>
            <a:endParaRPr lang="en-IN"/>
          </a:p>
        </p:txBody>
      </p:sp>
      <p:sp>
        <p:nvSpPr>
          <p:cNvPr id="17" name="Shape 15"/>
          <p:cNvSpPr/>
          <p:nvPr/>
        </p:nvSpPr>
        <p:spPr>
          <a:xfrm>
            <a:off x="4622006" y="2958964"/>
            <a:ext cx="4121944" cy="0"/>
          </a:xfrm>
          <a:prstGeom prst="line">
            <a:avLst/>
          </a:prstGeom>
          <a:noFill/>
          <a:ln w="7144">
            <a:solidFill>
              <a:srgbClr val="E2E8F0"/>
            </a:solidFill>
            <a:prstDash val="solid"/>
          </a:ln>
        </p:spPr>
        <p:txBody>
          <a:bodyPr/>
          <a:lstStyle/>
          <a:p>
            <a:endParaRPr lang="en-IN"/>
          </a:p>
        </p:txBody>
      </p:sp>
      <p:sp>
        <p:nvSpPr>
          <p:cNvPr id="18" name="Shape 16"/>
          <p:cNvSpPr/>
          <p:nvPr/>
        </p:nvSpPr>
        <p:spPr>
          <a:xfrm>
            <a:off x="4636294" y="764381"/>
            <a:ext cx="0" cy="2198154"/>
          </a:xfrm>
          <a:prstGeom prst="line">
            <a:avLst/>
          </a:prstGeom>
          <a:noFill/>
          <a:ln w="28575">
            <a:solidFill>
              <a:srgbClr val="10B981"/>
            </a:solidFill>
            <a:prstDash val="solid"/>
          </a:ln>
        </p:spPr>
        <p:txBody>
          <a:bodyPr/>
          <a:lstStyle/>
          <a:p>
            <a:endParaRPr lang="en-IN"/>
          </a:p>
        </p:txBody>
      </p:sp>
      <p:sp>
        <p:nvSpPr>
          <p:cNvPr id="19" name="Text 17"/>
          <p:cNvSpPr/>
          <p:nvPr/>
        </p:nvSpPr>
        <p:spPr>
          <a:xfrm>
            <a:off x="4807744" y="914400"/>
            <a:ext cx="285750" cy="285750"/>
          </a:xfrm>
          <a:prstGeom prst="roundRect">
            <a:avLst>
              <a:gd name="adj" fmla="val 33333"/>
            </a:avLst>
          </a:prstGeom>
          <a:solidFill>
            <a:srgbClr val="D1FAE5"/>
          </a:solidFill>
          <a:ln/>
        </p:spPr>
        <p:txBody>
          <a:bodyPr wrap="square" rtlCol="0" anchor="ctr"/>
          <a:lstStyle/>
          <a:p>
            <a:pPr marL="0" indent="0">
              <a:buNone/>
            </a:pPr>
            <a:endParaRPr lang="en-US" dirty="0"/>
          </a:p>
        </p:txBody>
      </p:sp>
      <p:sp>
        <p:nvSpPr>
          <p:cNvPr id="20" name="Text 18"/>
          <p:cNvSpPr/>
          <p:nvPr/>
        </p:nvSpPr>
        <p:spPr>
          <a:xfrm>
            <a:off x="4847034" y="953691"/>
            <a:ext cx="207169" cy="207169"/>
          </a:xfrm>
          <a:prstGeom prst="rect">
            <a:avLst/>
          </a:prstGeom>
          <a:noFill/>
          <a:ln/>
        </p:spPr>
        <p:txBody>
          <a:bodyPr wrap="none" lIns="0" tIns="0" rIns="0" bIns="0" rtlCol="0" anchor="ctr"/>
          <a:lstStyle/>
          <a:p>
            <a:pPr marL="0" indent="0" algn="ctr">
              <a:buNone/>
            </a:pPr>
            <a:r>
              <a:rPr lang="en-US" sz="1406" dirty="0">
                <a:solidFill>
                  <a:srgbClr val="10B981"/>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5207794" y="914400"/>
            <a:ext cx="3481578" cy="173593"/>
          </a:xfrm>
          <a:prstGeom prst="rect">
            <a:avLst/>
          </a:prstGeom>
          <a:noFill/>
          <a:ln/>
        </p:spPr>
        <p:txBody>
          <a:bodyPr wrap="none" lIns="0" tIns="0" rIns="0" bIns="0" rtlCol="0" anchor="t"/>
          <a:lstStyle/>
          <a:p>
            <a:pPr marL="0" indent="0" algn="l">
              <a:lnSpc>
                <a:spcPts val="1266"/>
              </a:lnSpc>
              <a:buNone/>
            </a:pPr>
            <a:r>
              <a:rPr lang="en-US" sz="844" b="1" dirty="0">
                <a:solidFill>
                  <a:srgbClr val="0F172A"/>
                </a:solidFill>
                <a:latin typeface="Carlito" pitchFamily="34" charset="0"/>
                <a:ea typeface="Carlito" pitchFamily="34" charset="-122"/>
                <a:cs typeface="Carlito" pitchFamily="34" charset="-120"/>
              </a:rPr>
              <a:t>EFB — Exclusive Feature Bundling</a:t>
            </a:r>
            <a:endParaRPr lang="en-US" sz="844" dirty="0"/>
          </a:p>
        </p:txBody>
      </p:sp>
      <p:sp>
        <p:nvSpPr>
          <p:cNvPr id="22" name="Text 20"/>
          <p:cNvSpPr/>
          <p:nvPr/>
        </p:nvSpPr>
        <p:spPr>
          <a:xfrm>
            <a:off x="5207794" y="1117997"/>
            <a:ext cx="3371850" cy="849996"/>
          </a:xfrm>
          <a:prstGeom prst="rect">
            <a:avLst/>
          </a:prstGeom>
          <a:noFill/>
          <a:ln/>
        </p:spPr>
        <p:txBody>
          <a:bodyPr wrap="square" lIns="0" tIns="0" rIns="0" bIns="0" rtlCol="0" anchor="t"/>
          <a:lstStyle/>
          <a:p>
            <a:pPr marL="0" indent="0" algn="l">
              <a:lnSpc>
                <a:spcPts val="1133"/>
              </a:lnSpc>
              <a:buNone/>
            </a:pPr>
            <a:r>
              <a:rPr lang="en-US" sz="800" dirty="0">
                <a:solidFill>
                  <a:srgbClr val="475569"/>
                </a:solidFill>
                <a:latin typeface="Carlito" pitchFamily="34" charset="0"/>
                <a:ea typeface="Carlito" pitchFamily="34" charset="-122"/>
                <a:cs typeface="Carlito" pitchFamily="34" charset="-120"/>
              </a:rPr>
              <a:t>Many features in real datasets are mutually exclusive (e.g., one-hot encoded categories). EFB bundles these exclusive features into a single feature, reducing the number of features without losing information. This reduces the feature dimension from millions to thousands, dramatically speeding up histogram construction.</a:t>
            </a:r>
            <a:endParaRPr lang="en-US" sz="800" dirty="0"/>
          </a:p>
        </p:txBody>
      </p:sp>
      <p:sp>
        <p:nvSpPr>
          <p:cNvPr id="23" name="Text 21"/>
          <p:cNvSpPr/>
          <p:nvPr/>
        </p:nvSpPr>
        <p:spPr>
          <a:xfrm>
            <a:off x="400050" y="3062548"/>
            <a:ext cx="4121944" cy="1738052"/>
          </a:xfrm>
          <a:prstGeom prst="roundRect">
            <a:avLst>
              <a:gd name="adj" fmla="val 6576"/>
            </a:avLst>
          </a:prstGeom>
          <a:solidFill>
            <a:srgbClr val="F8FAFC"/>
          </a:solidFill>
          <a:ln/>
        </p:spPr>
        <p:txBody>
          <a:bodyPr wrap="square" rtlCol="0" anchor="ctr"/>
          <a:lstStyle/>
          <a:p>
            <a:pPr marL="0" indent="0">
              <a:buNone/>
            </a:pPr>
            <a:endParaRPr lang="en-US" dirty="0"/>
          </a:p>
        </p:txBody>
      </p:sp>
      <p:sp>
        <p:nvSpPr>
          <p:cNvPr id="24" name="Shape 22"/>
          <p:cNvSpPr/>
          <p:nvPr/>
        </p:nvSpPr>
        <p:spPr>
          <a:xfrm>
            <a:off x="400050" y="3066120"/>
            <a:ext cx="4121944" cy="0"/>
          </a:xfrm>
          <a:prstGeom prst="line">
            <a:avLst/>
          </a:prstGeom>
          <a:noFill/>
          <a:ln w="7144">
            <a:solidFill>
              <a:srgbClr val="E2E8F0"/>
            </a:solidFill>
            <a:prstDash val="solid"/>
          </a:ln>
        </p:spPr>
        <p:txBody>
          <a:bodyPr/>
          <a:lstStyle/>
          <a:p>
            <a:endParaRPr lang="en-IN"/>
          </a:p>
        </p:txBody>
      </p:sp>
      <p:sp>
        <p:nvSpPr>
          <p:cNvPr id="25" name="Shape 23"/>
          <p:cNvSpPr/>
          <p:nvPr/>
        </p:nvSpPr>
        <p:spPr>
          <a:xfrm>
            <a:off x="4518422" y="3062548"/>
            <a:ext cx="0" cy="1738052"/>
          </a:xfrm>
          <a:prstGeom prst="line">
            <a:avLst/>
          </a:prstGeom>
          <a:noFill/>
          <a:ln w="7144">
            <a:solidFill>
              <a:srgbClr val="E2E8F0"/>
            </a:solidFill>
            <a:prstDash val="solid"/>
          </a:ln>
        </p:spPr>
        <p:txBody>
          <a:bodyPr/>
          <a:lstStyle/>
          <a:p>
            <a:endParaRPr lang="en-IN"/>
          </a:p>
        </p:txBody>
      </p:sp>
      <p:sp>
        <p:nvSpPr>
          <p:cNvPr id="26" name="Shape 24"/>
          <p:cNvSpPr/>
          <p:nvPr/>
        </p:nvSpPr>
        <p:spPr>
          <a:xfrm>
            <a:off x="400050" y="4797028"/>
            <a:ext cx="4121944" cy="0"/>
          </a:xfrm>
          <a:prstGeom prst="line">
            <a:avLst/>
          </a:prstGeom>
          <a:noFill/>
          <a:ln w="7144">
            <a:solidFill>
              <a:srgbClr val="E2E8F0"/>
            </a:solidFill>
            <a:prstDash val="solid"/>
          </a:ln>
        </p:spPr>
        <p:txBody>
          <a:bodyPr/>
          <a:lstStyle/>
          <a:p>
            <a:endParaRPr lang="en-IN"/>
          </a:p>
        </p:txBody>
      </p:sp>
      <p:sp>
        <p:nvSpPr>
          <p:cNvPr id="27" name="Shape 25"/>
          <p:cNvSpPr/>
          <p:nvPr/>
        </p:nvSpPr>
        <p:spPr>
          <a:xfrm>
            <a:off x="414338" y="3062548"/>
            <a:ext cx="0" cy="1738052"/>
          </a:xfrm>
          <a:prstGeom prst="line">
            <a:avLst/>
          </a:prstGeom>
          <a:noFill/>
          <a:ln w="28575">
            <a:solidFill>
              <a:srgbClr val="F59E0B"/>
            </a:solidFill>
            <a:prstDash val="solid"/>
          </a:ln>
        </p:spPr>
        <p:txBody>
          <a:bodyPr/>
          <a:lstStyle/>
          <a:p>
            <a:endParaRPr lang="en-IN"/>
          </a:p>
        </p:txBody>
      </p:sp>
      <p:sp>
        <p:nvSpPr>
          <p:cNvPr id="28" name="Text 26"/>
          <p:cNvSpPr/>
          <p:nvPr/>
        </p:nvSpPr>
        <p:spPr>
          <a:xfrm>
            <a:off x="585788" y="3212567"/>
            <a:ext cx="285750" cy="285750"/>
          </a:xfrm>
          <a:prstGeom prst="roundRect">
            <a:avLst>
              <a:gd name="adj" fmla="val 33333"/>
            </a:avLst>
          </a:prstGeom>
          <a:solidFill>
            <a:srgbClr val="FEF3C7"/>
          </a:solidFill>
          <a:ln/>
        </p:spPr>
        <p:txBody>
          <a:bodyPr wrap="square" rtlCol="0" anchor="ctr"/>
          <a:lstStyle/>
          <a:p>
            <a:pPr marL="0" indent="0">
              <a:buNone/>
            </a:pPr>
            <a:endParaRPr lang="en-US" dirty="0"/>
          </a:p>
        </p:txBody>
      </p:sp>
      <p:sp>
        <p:nvSpPr>
          <p:cNvPr id="29" name="Text 27"/>
          <p:cNvSpPr/>
          <p:nvPr/>
        </p:nvSpPr>
        <p:spPr>
          <a:xfrm>
            <a:off x="625078" y="3251857"/>
            <a:ext cx="207169" cy="207169"/>
          </a:xfrm>
          <a:prstGeom prst="rect">
            <a:avLst/>
          </a:prstGeom>
          <a:noFill/>
          <a:ln/>
        </p:spPr>
        <p:txBody>
          <a:bodyPr wrap="none" lIns="0" tIns="0" rIns="0" bIns="0" rtlCol="0" anchor="ctr"/>
          <a:lstStyle/>
          <a:p>
            <a:pPr marL="0" indent="0" algn="ctr">
              <a:buNone/>
            </a:pPr>
            <a:r>
              <a:rPr lang="en-US" sz="1406" dirty="0">
                <a:solidFill>
                  <a:srgbClr val="F59E0B"/>
                </a:solidFill>
                <a:latin typeface="Segoe UI Symbol" pitchFamily="34" charset="0"/>
                <a:ea typeface="Segoe UI Symbol" pitchFamily="34" charset="-122"/>
                <a:cs typeface="Segoe UI Symbol" pitchFamily="34" charset="-120"/>
              </a:rPr>
              <a:t>✿</a:t>
            </a:r>
            <a:endParaRPr lang="en-US" sz="1406" dirty="0"/>
          </a:p>
        </p:txBody>
      </p:sp>
      <p:sp>
        <p:nvSpPr>
          <p:cNvPr id="30" name="Text 28"/>
          <p:cNvSpPr/>
          <p:nvPr/>
        </p:nvSpPr>
        <p:spPr>
          <a:xfrm>
            <a:off x="985838" y="3212567"/>
            <a:ext cx="3371850" cy="173593"/>
          </a:xfrm>
          <a:prstGeom prst="rect">
            <a:avLst/>
          </a:prstGeom>
          <a:noFill/>
          <a:ln/>
        </p:spPr>
        <p:txBody>
          <a:bodyPr wrap="none" lIns="0" tIns="0" rIns="0" bIns="0" rtlCol="0" anchor="t"/>
          <a:lstStyle/>
          <a:p>
            <a:pPr marL="0" indent="0" algn="l">
              <a:lnSpc>
                <a:spcPts val="1266"/>
              </a:lnSpc>
              <a:buNone/>
            </a:pPr>
            <a:r>
              <a:rPr lang="en-US" sz="844" b="1" dirty="0">
                <a:solidFill>
                  <a:srgbClr val="0F172A"/>
                </a:solidFill>
                <a:latin typeface="Carlito" pitchFamily="34" charset="0"/>
                <a:ea typeface="Carlito" pitchFamily="34" charset="-122"/>
                <a:cs typeface="Carlito" pitchFamily="34" charset="-120"/>
              </a:rPr>
              <a:t>Leaf-Wise Tree Growth</a:t>
            </a:r>
            <a:endParaRPr lang="en-US" sz="844" dirty="0"/>
          </a:p>
        </p:txBody>
      </p:sp>
      <p:sp>
        <p:nvSpPr>
          <p:cNvPr id="31" name="Text 29"/>
          <p:cNvSpPr/>
          <p:nvPr/>
        </p:nvSpPr>
        <p:spPr>
          <a:xfrm>
            <a:off x="985838" y="3416164"/>
            <a:ext cx="3371850" cy="509998"/>
          </a:xfrm>
          <a:prstGeom prst="rect">
            <a:avLst/>
          </a:prstGeom>
          <a:noFill/>
          <a:ln/>
        </p:spPr>
        <p:txBody>
          <a:bodyPr wrap="square" lIns="0" tIns="0" rIns="0" bIns="0" rtlCol="0" anchor="t"/>
          <a:lstStyle/>
          <a:p>
            <a:pPr marL="0" indent="0" algn="l">
              <a:lnSpc>
                <a:spcPts val="1133"/>
              </a:lnSpc>
              <a:buNone/>
            </a:pPr>
            <a:r>
              <a:rPr lang="en-US" sz="800" dirty="0">
                <a:solidFill>
                  <a:srgbClr val="475569"/>
                </a:solidFill>
                <a:latin typeface="Carlito" pitchFamily="34" charset="0"/>
                <a:ea typeface="Carlito" pitchFamily="34" charset="-122"/>
                <a:cs typeface="Carlito" pitchFamily="34" charset="-120"/>
              </a:rPr>
              <a:t>Instead of growing trees level by level (like XGBoost), LightGBM grows the leaf that maximizes loss reduction. This creates deeper, asymmetric trees that fit the data better. </a:t>
            </a:r>
            <a:r>
              <a:rPr lang="en-US" sz="800" b="1" dirty="0">
                <a:solidFill>
                  <a:srgbClr val="92400E"/>
                </a:solidFill>
                <a:latin typeface="Carlito" pitchFamily="34" charset="0"/>
                <a:ea typeface="Carlito" pitchFamily="34" charset="-122"/>
                <a:cs typeface="Carlito" pitchFamily="34" charset="-120"/>
              </a:rPr>
              <a:t>Risk: can overfit on small datasets — use num_leaves to control.</a:t>
            </a:r>
            <a:endParaRPr lang="en-US" sz="800" dirty="0"/>
          </a:p>
        </p:txBody>
      </p:sp>
      <p:sp>
        <p:nvSpPr>
          <p:cNvPr id="32" name="Text 30"/>
          <p:cNvSpPr/>
          <p:nvPr/>
        </p:nvSpPr>
        <p:spPr>
          <a:xfrm>
            <a:off x="4622006" y="3062548"/>
            <a:ext cx="4121944" cy="1738052"/>
          </a:xfrm>
          <a:prstGeom prst="roundRect">
            <a:avLst>
              <a:gd name="adj" fmla="val 6576"/>
            </a:avLst>
          </a:prstGeom>
          <a:solidFill>
            <a:srgbClr val="F8FAFC"/>
          </a:solidFill>
          <a:ln/>
        </p:spPr>
        <p:txBody>
          <a:bodyPr wrap="square" rtlCol="0" anchor="ctr"/>
          <a:lstStyle/>
          <a:p>
            <a:pPr marL="0" indent="0">
              <a:buNone/>
            </a:pPr>
            <a:endParaRPr lang="en-US" dirty="0"/>
          </a:p>
        </p:txBody>
      </p:sp>
      <p:sp>
        <p:nvSpPr>
          <p:cNvPr id="33" name="Shape 31"/>
          <p:cNvSpPr/>
          <p:nvPr/>
        </p:nvSpPr>
        <p:spPr>
          <a:xfrm>
            <a:off x="4622006" y="3066120"/>
            <a:ext cx="4121944" cy="0"/>
          </a:xfrm>
          <a:prstGeom prst="line">
            <a:avLst/>
          </a:prstGeom>
          <a:noFill/>
          <a:ln w="7144">
            <a:solidFill>
              <a:srgbClr val="E2E8F0"/>
            </a:solidFill>
            <a:prstDash val="solid"/>
          </a:ln>
        </p:spPr>
        <p:txBody>
          <a:bodyPr/>
          <a:lstStyle/>
          <a:p>
            <a:endParaRPr lang="en-IN"/>
          </a:p>
        </p:txBody>
      </p:sp>
      <p:sp>
        <p:nvSpPr>
          <p:cNvPr id="34" name="Shape 32"/>
          <p:cNvSpPr/>
          <p:nvPr/>
        </p:nvSpPr>
        <p:spPr>
          <a:xfrm>
            <a:off x="8740378" y="3062548"/>
            <a:ext cx="0" cy="1738052"/>
          </a:xfrm>
          <a:prstGeom prst="line">
            <a:avLst/>
          </a:prstGeom>
          <a:noFill/>
          <a:ln w="7144">
            <a:solidFill>
              <a:srgbClr val="E2E8F0"/>
            </a:solidFill>
            <a:prstDash val="solid"/>
          </a:ln>
        </p:spPr>
        <p:txBody>
          <a:bodyPr/>
          <a:lstStyle/>
          <a:p>
            <a:endParaRPr lang="en-IN"/>
          </a:p>
        </p:txBody>
      </p:sp>
      <p:sp>
        <p:nvSpPr>
          <p:cNvPr id="35" name="Shape 33"/>
          <p:cNvSpPr/>
          <p:nvPr/>
        </p:nvSpPr>
        <p:spPr>
          <a:xfrm>
            <a:off x="4622006" y="4797028"/>
            <a:ext cx="4121944" cy="0"/>
          </a:xfrm>
          <a:prstGeom prst="line">
            <a:avLst/>
          </a:prstGeom>
          <a:noFill/>
          <a:ln w="7144">
            <a:solidFill>
              <a:srgbClr val="E2E8F0"/>
            </a:solidFill>
            <a:prstDash val="solid"/>
          </a:ln>
        </p:spPr>
        <p:txBody>
          <a:bodyPr/>
          <a:lstStyle/>
          <a:p>
            <a:endParaRPr lang="en-IN"/>
          </a:p>
        </p:txBody>
      </p:sp>
      <p:sp>
        <p:nvSpPr>
          <p:cNvPr id="36" name="Shape 34"/>
          <p:cNvSpPr/>
          <p:nvPr/>
        </p:nvSpPr>
        <p:spPr>
          <a:xfrm>
            <a:off x="4636294" y="3062548"/>
            <a:ext cx="0" cy="1738052"/>
          </a:xfrm>
          <a:prstGeom prst="line">
            <a:avLst/>
          </a:prstGeom>
          <a:noFill/>
          <a:ln w="28575">
            <a:solidFill>
              <a:srgbClr val="8B5CF6"/>
            </a:solidFill>
            <a:prstDash val="solid"/>
          </a:ln>
        </p:spPr>
        <p:txBody>
          <a:bodyPr/>
          <a:lstStyle/>
          <a:p>
            <a:endParaRPr lang="en-IN"/>
          </a:p>
        </p:txBody>
      </p:sp>
      <p:sp>
        <p:nvSpPr>
          <p:cNvPr id="37" name="Text 35"/>
          <p:cNvSpPr/>
          <p:nvPr/>
        </p:nvSpPr>
        <p:spPr>
          <a:xfrm>
            <a:off x="4807744" y="3212567"/>
            <a:ext cx="285750" cy="285750"/>
          </a:xfrm>
          <a:prstGeom prst="roundRect">
            <a:avLst>
              <a:gd name="adj" fmla="val 33333"/>
            </a:avLst>
          </a:prstGeom>
          <a:solidFill>
            <a:srgbClr val="EDE9FE"/>
          </a:solidFill>
          <a:ln/>
        </p:spPr>
        <p:txBody>
          <a:bodyPr wrap="square" rtlCol="0" anchor="ctr"/>
          <a:lstStyle/>
          <a:p>
            <a:pPr marL="0" indent="0">
              <a:buNone/>
            </a:pPr>
            <a:endParaRPr lang="en-US" dirty="0"/>
          </a:p>
        </p:txBody>
      </p:sp>
      <p:sp>
        <p:nvSpPr>
          <p:cNvPr id="38" name="Text 36"/>
          <p:cNvSpPr/>
          <p:nvPr/>
        </p:nvSpPr>
        <p:spPr>
          <a:xfrm>
            <a:off x="4847034" y="3251857"/>
            <a:ext cx="207169" cy="207169"/>
          </a:xfrm>
          <a:prstGeom prst="rect">
            <a:avLst/>
          </a:prstGeom>
          <a:noFill/>
          <a:ln/>
        </p:spPr>
        <p:txBody>
          <a:bodyPr wrap="none" lIns="0" tIns="0" rIns="0" bIns="0" rtlCol="0" anchor="ctr"/>
          <a:lstStyle/>
          <a:p>
            <a:pPr marL="0" indent="0" algn="ctr">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39" name="Text 37"/>
          <p:cNvSpPr/>
          <p:nvPr/>
        </p:nvSpPr>
        <p:spPr>
          <a:xfrm>
            <a:off x="5207794" y="3212567"/>
            <a:ext cx="3481578" cy="173593"/>
          </a:xfrm>
          <a:prstGeom prst="rect">
            <a:avLst/>
          </a:prstGeom>
          <a:noFill/>
          <a:ln/>
        </p:spPr>
        <p:txBody>
          <a:bodyPr wrap="none" lIns="0" tIns="0" rIns="0" bIns="0" rtlCol="0" anchor="t"/>
          <a:lstStyle/>
          <a:p>
            <a:pPr marL="0" indent="0" algn="l">
              <a:lnSpc>
                <a:spcPts val="1266"/>
              </a:lnSpc>
              <a:buNone/>
            </a:pPr>
            <a:r>
              <a:rPr lang="en-US" sz="844" b="1" dirty="0">
                <a:solidFill>
                  <a:srgbClr val="0F172A"/>
                </a:solidFill>
                <a:latin typeface="Carlito" pitchFamily="34" charset="0"/>
                <a:ea typeface="Carlito" pitchFamily="34" charset="-122"/>
                <a:cs typeface="Carlito" pitchFamily="34" charset="-120"/>
              </a:rPr>
              <a:t>Native Categorical Support</a:t>
            </a:r>
            <a:endParaRPr lang="en-US" sz="844" dirty="0"/>
          </a:p>
        </p:txBody>
      </p:sp>
      <p:sp>
        <p:nvSpPr>
          <p:cNvPr id="40" name="Text 38"/>
          <p:cNvSpPr/>
          <p:nvPr/>
        </p:nvSpPr>
        <p:spPr>
          <a:xfrm>
            <a:off x="5207794" y="3416164"/>
            <a:ext cx="3371850" cy="509998"/>
          </a:xfrm>
          <a:prstGeom prst="rect">
            <a:avLst/>
          </a:prstGeom>
          <a:noFill/>
          <a:ln/>
        </p:spPr>
        <p:txBody>
          <a:bodyPr wrap="square" lIns="0" tIns="0" rIns="0" bIns="0" rtlCol="0" anchor="t"/>
          <a:lstStyle/>
          <a:p>
            <a:pPr marL="0" indent="0" algn="l">
              <a:lnSpc>
                <a:spcPts val="1133"/>
              </a:lnSpc>
              <a:buNone/>
            </a:pPr>
            <a:r>
              <a:rPr lang="en-US" sz="800" dirty="0">
                <a:solidFill>
                  <a:srgbClr val="475569"/>
                </a:solidFill>
                <a:latin typeface="Carlito" pitchFamily="34" charset="0"/>
                <a:ea typeface="Carlito" pitchFamily="34" charset="-122"/>
                <a:cs typeface="Carlito" pitchFamily="34" charset="-120"/>
              </a:rPr>
              <a:t>No need for one-hot encoding! LightGBM uses an optimal partitioning algorithm for categorical features. It finds the best way to split categories by reordering them based on gradient statistics. This saves memory and often improves accuracy.</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94692"/>
            <a:ext cx="745071" cy="164592"/>
          </a:xfrm>
          <a:prstGeom prst="rect">
            <a:avLst/>
          </a:prstGeom>
          <a:noFill/>
          <a:ln/>
        </p:spPr>
        <p:txBody>
          <a:bodyPr wrap="none" lIns="0" tIns="0" rIns="0" bIns="0" rtlCol="0" anchor="t"/>
          <a:lstStyle/>
          <a:p>
            <a:pPr marL="0" indent="0" algn="l">
              <a:lnSpc>
                <a:spcPts val="928"/>
              </a:lnSpc>
              <a:buNone/>
            </a:pPr>
            <a:r>
              <a:rPr lang="en-US" sz="800" kern="0" spc="113" dirty="0">
                <a:solidFill>
                  <a:srgbClr val="0EA5E9"/>
                </a:solidFill>
                <a:latin typeface="Courier New" pitchFamily="34" charset="0"/>
                <a:ea typeface="Courier New" pitchFamily="34" charset="-122"/>
                <a:cs typeface="Courier New" pitchFamily="34" charset="-120"/>
              </a:rPr>
              <a:t>COMPARISON</a:t>
            </a:r>
            <a:endParaRPr lang="en-US" sz="800" dirty="0"/>
          </a:p>
        </p:txBody>
      </p:sp>
      <p:sp>
        <p:nvSpPr>
          <p:cNvPr id="3" name="Text 1"/>
          <p:cNvSpPr/>
          <p:nvPr/>
        </p:nvSpPr>
        <p:spPr>
          <a:xfrm>
            <a:off x="1021556" y="446484"/>
            <a:ext cx="228600" cy="14288"/>
          </a:xfrm>
          <a:prstGeom prst="roundRect">
            <a:avLst>
              <a:gd name="adj" fmla="val 66664"/>
            </a:avLst>
          </a:prstGeom>
          <a:solidFill>
            <a:srgbClr val="E2E8F0"/>
          </a:solidFill>
          <a:ln/>
        </p:spPr>
        <p:txBody>
          <a:bodyPr wrap="square" rtlCol="0" anchor="ctr"/>
          <a:lstStyle/>
          <a:p>
            <a:pPr marL="0" indent="0">
              <a:buNone/>
            </a:pPr>
            <a:endParaRPr lang="en-US" dirty="0"/>
          </a:p>
        </p:txBody>
      </p:sp>
      <p:sp>
        <p:nvSpPr>
          <p:cNvPr id="4" name="Text 2"/>
          <p:cNvSpPr/>
          <p:nvPr/>
        </p:nvSpPr>
        <p:spPr>
          <a:xfrm>
            <a:off x="1335881" y="314325"/>
            <a:ext cx="7408069" cy="300895"/>
          </a:xfrm>
          <a:prstGeom prst="rect">
            <a:avLst/>
          </a:prstGeom>
          <a:noFill/>
          <a:ln/>
        </p:spPr>
        <p:txBody>
          <a:bodyPr wrap="none" lIns="0" tIns="0" rIns="0" bIns="0" rtlCol="0" anchor="t"/>
          <a:lstStyle/>
          <a:p>
            <a:pPr marL="0" indent="0" algn="l">
              <a:lnSpc>
                <a:spcPts val="2194"/>
              </a:lnSpc>
              <a:buNone/>
            </a:pPr>
            <a:r>
              <a:rPr lang="en-US" sz="1463" b="1" kern="0" spc="-28" dirty="0">
                <a:solidFill>
                  <a:srgbClr val="0F172A"/>
                </a:solidFill>
                <a:latin typeface="Carlito" pitchFamily="34" charset="0"/>
                <a:ea typeface="Carlito" pitchFamily="34" charset="-122"/>
                <a:cs typeface="Carlito" pitchFamily="34" charset="-120"/>
              </a:rPr>
              <a:t>LightGBM vs XGBoost — Head to Head</a:t>
            </a:r>
            <a:endParaRPr lang="en-US" sz="1463"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00050" y="721519"/>
          <a:ext cx="8343900" cy="3063243"/>
        </p:xfrm>
        <a:graphic>
          <a:graphicData uri="http://schemas.openxmlformats.org/drawingml/2006/table">
            <a:tbl>
              <a:tblPr/>
              <a:tblGrid>
                <a:gridCol w="1185863">
                  <a:extLst>
                    <a:ext uri="{9D8B030D-6E8A-4147-A177-3AD203B41FA5}">
                      <a16:colId xmlns:a16="http://schemas.microsoft.com/office/drawing/2014/main" val="20000"/>
                    </a:ext>
                  </a:extLst>
                </a:gridCol>
                <a:gridCol w="3486038">
                  <a:extLst>
                    <a:ext uri="{9D8B030D-6E8A-4147-A177-3AD203B41FA5}">
                      <a16:colId xmlns:a16="http://schemas.microsoft.com/office/drawing/2014/main" val="20001"/>
                    </a:ext>
                  </a:extLst>
                </a:gridCol>
                <a:gridCol w="3671999">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64748B"/>
                          </a:solidFill>
                          <a:latin typeface="Carlito" pitchFamily="34" charset="0"/>
                          <a:ea typeface="Carlito" pitchFamily="34" charset="-122"/>
                          <a:cs typeface="Carlito" pitchFamily="34" charset="-120"/>
                        </a:rPr>
                        <a:t>Dimension</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64748B"/>
                          </a:solidFill>
                          <a:latin typeface="Carlito" pitchFamily="34" charset="0"/>
                          <a:ea typeface="Carlito" pitchFamily="34" charset="-122"/>
                          <a:cs typeface="Carlito" pitchFamily="34" charset="-120"/>
                        </a:rPr>
                        <a:t>XGBoost</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64748B"/>
                          </a:solidFill>
                          <a:latin typeface="Carlito" pitchFamily="34" charset="0"/>
                          <a:ea typeface="Carlito" pitchFamily="34" charset="-122"/>
                          <a:cs typeface="Carlito" pitchFamily="34" charset="-120"/>
                        </a:rPr>
                        <a:t>LightGBM</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Tree Growth Strategy</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Level-wise (breadth-first) — grows all leaves at each level</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Leaf-wise (depth-first) — grows the leaf with highest gain</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Training Speed</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Fast, but slower than LightGBM on large data</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2–10× faster due to GOSS, EFB, and histogram-based splits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Memory Usage</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Higher — stores full feature values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Lower — histogram-based, bins continuous features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Categorical Features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Requires one-hot or label encoding</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Native support — optimal partitioning algorithm</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Overfitting Risk</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Lower on small datasets (level-wise is conservative)</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Higher on small datasets (leaf-wise can overfit)</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Accuracy (Large Data)</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Excellent</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Comparable or slightly better</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Accuracy (Small Data)</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Often better</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May overfit — use small num_leaves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800" dirty="0">
                          <a:solidFill>
                            <a:srgbClr val="0F172A"/>
                          </a:solidFill>
                          <a:latin typeface="Carlito" pitchFamily="34" charset="0"/>
                          <a:ea typeface="Carlito" pitchFamily="34" charset="-122"/>
                          <a:cs typeface="Carlito" pitchFamily="34" charset="-120"/>
                        </a:rPr>
                        <a:t>Best Use Case</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Small-to-medium datasets, production stability</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334155"/>
                          </a:solidFill>
                          <a:latin typeface="Carlito" pitchFamily="34" charset="0"/>
                          <a:ea typeface="Carlito" pitchFamily="34" charset="-122"/>
                          <a:cs typeface="Carlito" pitchFamily="34" charset="-120"/>
                        </a:rPr>
                        <a:t>Large-scale data, speed-critical applications</a:t>
                      </a:r>
                      <a:endParaRPr lang="en-US" sz="800" dirty="0">
                        <a:latin typeface="Carlito" charset="0"/>
                        <a:ea typeface="Carlito" charset="0"/>
                        <a:cs typeface="Carlito" charset="0"/>
                      </a:endParaRPr>
                    </a:p>
                  </a:txBody>
                  <a:tcPr marL="78581" marR="100013" marT="100013" marB="7858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423267"/>
            <a:ext cx="673209" cy="164592"/>
          </a:xfrm>
          <a:prstGeom prst="rect">
            <a:avLst/>
          </a:prstGeom>
          <a:noFill/>
          <a:ln/>
        </p:spPr>
        <p:txBody>
          <a:bodyPr wrap="none" lIns="0" tIns="0" rIns="0" bIns="0" rtlCol="0" anchor="t"/>
          <a:lstStyle/>
          <a:p>
            <a:pPr marL="0" indent="0" algn="l">
              <a:lnSpc>
                <a:spcPts val="928"/>
              </a:lnSpc>
              <a:buNone/>
            </a:pPr>
            <a:r>
              <a:rPr lang="en-US" sz="800" kern="0" spc="113" dirty="0">
                <a:solidFill>
                  <a:srgbClr val="0EA5E9"/>
                </a:solidFill>
                <a:latin typeface="Courier New" pitchFamily="34" charset="0"/>
                <a:ea typeface="Courier New" pitchFamily="34" charset="-122"/>
                <a:cs typeface="Courier New" pitchFamily="34" charset="-120"/>
              </a:rPr>
              <a:t>LIGHTGBM</a:t>
            </a:r>
            <a:endParaRPr lang="en-US" sz="800" dirty="0"/>
          </a:p>
        </p:txBody>
      </p:sp>
      <p:sp>
        <p:nvSpPr>
          <p:cNvPr id="3" name="Text 1"/>
          <p:cNvSpPr/>
          <p:nvPr/>
        </p:nvSpPr>
        <p:spPr>
          <a:xfrm>
            <a:off x="914400" y="475059"/>
            <a:ext cx="228600" cy="14288"/>
          </a:xfrm>
          <a:prstGeom prst="roundRect">
            <a:avLst>
              <a:gd name="adj" fmla="val 66664"/>
            </a:avLst>
          </a:prstGeom>
          <a:solidFill>
            <a:srgbClr val="E2E8F0"/>
          </a:solidFill>
          <a:ln/>
        </p:spPr>
        <p:txBody>
          <a:bodyPr wrap="square" rtlCol="0" anchor="ctr"/>
          <a:lstStyle/>
          <a:p>
            <a:pPr marL="0" indent="0">
              <a:buNone/>
            </a:pPr>
            <a:endParaRPr lang="en-US" dirty="0"/>
          </a:p>
        </p:txBody>
      </p:sp>
      <p:sp>
        <p:nvSpPr>
          <p:cNvPr id="4" name="Text 2"/>
          <p:cNvSpPr/>
          <p:nvPr/>
        </p:nvSpPr>
        <p:spPr>
          <a:xfrm>
            <a:off x="1228725" y="342900"/>
            <a:ext cx="7515225" cy="300895"/>
          </a:xfrm>
          <a:prstGeom prst="rect">
            <a:avLst/>
          </a:prstGeom>
          <a:noFill/>
          <a:ln/>
        </p:spPr>
        <p:txBody>
          <a:bodyPr wrap="none" lIns="0" tIns="0" rIns="0" bIns="0" rtlCol="0" anchor="t"/>
          <a:lstStyle/>
          <a:p>
            <a:pPr marL="0" indent="0" algn="l">
              <a:lnSpc>
                <a:spcPts val="2194"/>
              </a:lnSpc>
              <a:buNone/>
            </a:pPr>
            <a:r>
              <a:rPr lang="en-US" sz="1463" b="1" kern="0" spc="-28" dirty="0">
                <a:solidFill>
                  <a:srgbClr val="0F172A"/>
                </a:solidFill>
                <a:latin typeface="Carlito" pitchFamily="34" charset="0"/>
                <a:ea typeface="Carlito" pitchFamily="34" charset="-122"/>
                <a:cs typeface="Carlito" pitchFamily="34" charset="-120"/>
              </a:rPr>
              <a:t>Cheat Sheet</a:t>
            </a:r>
            <a:endParaRPr lang="en-US" sz="1463" dirty="0"/>
          </a:p>
        </p:txBody>
      </p:sp>
      <p:sp>
        <p:nvSpPr>
          <p:cNvPr id="5" name="Text 3"/>
          <p:cNvSpPr/>
          <p:nvPr/>
        </p:nvSpPr>
        <p:spPr>
          <a:xfrm>
            <a:off x="403622" y="767953"/>
            <a:ext cx="2795906" cy="3514725"/>
          </a:xfrm>
          <a:prstGeom prst="roundRect">
            <a:avLst>
              <a:gd name="adj" fmla="val 4252"/>
            </a:avLst>
          </a:prstGeom>
          <a:noFill/>
          <a:ln w="7144">
            <a:solidFill>
              <a:srgbClr val="E2E8F0"/>
            </a:solidFill>
            <a:prstDash val="solid"/>
          </a:ln>
        </p:spPr>
        <p:txBody>
          <a:bodyPr wrap="square" rtlCol="0" anchor="ctr"/>
          <a:lstStyle/>
          <a:p>
            <a:pPr marL="0" indent="0">
              <a:buNone/>
            </a:pPr>
            <a:endParaRPr lang="en-US" dirty="0"/>
          </a:p>
        </p:txBody>
      </p:sp>
      <p:sp>
        <p:nvSpPr>
          <p:cNvPr id="6" name="Text 4"/>
          <p:cNvSpPr/>
          <p:nvPr/>
        </p:nvSpPr>
        <p:spPr>
          <a:xfrm>
            <a:off x="407194" y="771525"/>
            <a:ext cx="2681250" cy="450056"/>
          </a:xfrm>
          <a:prstGeom prst="rect">
            <a:avLst/>
          </a:prstGeom>
          <a:solidFill>
            <a:srgbClr val="F8FAFC"/>
          </a:solidFill>
          <a:ln/>
        </p:spPr>
        <p:txBody>
          <a:bodyPr wrap="square" rtlCol="0" anchor="ctr"/>
          <a:lstStyle/>
          <a:p>
            <a:pPr marL="0" indent="0">
              <a:buNone/>
            </a:pPr>
            <a:endParaRPr lang="en-US" dirty="0"/>
          </a:p>
        </p:txBody>
      </p:sp>
      <p:sp>
        <p:nvSpPr>
          <p:cNvPr id="7" name="Shape 5"/>
          <p:cNvSpPr/>
          <p:nvPr/>
        </p:nvSpPr>
        <p:spPr>
          <a:xfrm>
            <a:off x="407194" y="1218009"/>
            <a:ext cx="2681250" cy="0"/>
          </a:xfrm>
          <a:prstGeom prst="line">
            <a:avLst/>
          </a:prstGeom>
          <a:noFill/>
          <a:ln w="7144">
            <a:solidFill>
              <a:srgbClr val="E2E8F0"/>
            </a:solidFill>
            <a:prstDash val="solid"/>
          </a:ln>
        </p:spPr>
        <p:txBody>
          <a:bodyPr/>
          <a:lstStyle/>
          <a:p>
            <a:endParaRPr lang="en-IN"/>
          </a:p>
        </p:txBody>
      </p:sp>
      <p:sp>
        <p:nvSpPr>
          <p:cNvPr id="8" name="Text 6"/>
          <p:cNvSpPr/>
          <p:nvPr/>
        </p:nvSpPr>
        <p:spPr>
          <a:xfrm>
            <a:off x="535781" y="871538"/>
            <a:ext cx="242888" cy="242888"/>
          </a:xfrm>
          <a:prstGeom prst="roundRect">
            <a:avLst>
              <a:gd name="adj" fmla="val 31372"/>
            </a:avLst>
          </a:prstGeom>
          <a:solidFill>
            <a:srgbClr val="E0F2FE"/>
          </a:solidFill>
          <a:ln/>
        </p:spPr>
        <p:txBody>
          <a:bodyPr wrap="square" rtlCol="0" anchor="ctr"/>
          <a:lstStyle/>
          <a:p>
            <a:pPr marL="0" indent="0">
              <a:buNone/>
            </a:pPr>
            <a:endParaRPr lang="en-US" dirty="0"/>
          </a:p>
        </p:txBody>
      </p:sp>
      <p:sp>
        <p:nvSpPr>
          <p:cNvPr id="9" name="Text 7"/>
          <p:cNvSpPr/>
          <p:nvPr/>
        </p:nvSpPr>
        <p:spPr>
          <a:xfrm>
            <a:off x="563999" y="899755"/>
            <a:ext cx="186452" cy="186452"/>
          </a:xfrm>
          <a:prstGeom prst="rect">
            <a:avLst/>
          </a:prstGeom>
          <a:noFill/>
          <a:ln/>
        </p:spPr>
        <p:txBody>
          <a:bodyPr wrap="none" lIns="0" tIns="0" rIns="0" bIns="0" rtlCol="0" anchor="ctr"/>
          <a:lstStyle/>
          <a:p>
            <a:pPr marL="0" indent="0" algn="ctr">
              <a:buNone/>
            </a:pPr>
            <a:r>
              <a:rPr lang="en-US" sz="1266" dirty="0">
                <a:solidFill>
                  <a:srgbClr val="0EA5E9"/>
                </a:solidFill>
                <a:latin typeface="Segoe UI Symbol" pitchFamily="34" charset="0"/>
                <a:ea typeface="Segoe UI Symbol" pitchFamily="34" charset="-122"/>
                <a:cs typeface="Segoe UI Symbol" pitchFamily="34" charset="-120"/>
              </a:rPr>
              <a:t>⚙</a:t>
            </a:r>
            <a:endParaRPr lang="en-US" sz="1266" dirty="0"/>
          </a:p>
        </p:txBody>
      </p:sp>
      <p:sp>
        <p:nvSpPr>
          <p:cNvPr id="10" name="Text 8"/>
          <p:cNvSpPr/>
          <p:nvPr/>
        </p:nvSpPr>
        <p:spPr>
          <a:xfrm>
            <a:off x="850106" y="928018"/>
            <a:ext cx="2109750" cy="142548"/>
          </a:xfrm>
          <a:prstGeom prst="rect">
            <a:avLst/>
          </a:prstGeom>
          <a:noFill/>
          <a:ln/>
        </p:spPr>
        <p:txBody>
          <a:bodyPr wrap="none" lIns="0" tIns="0" rIns="0" bIns="0" rtlCol="0" anchor="t"/>
          <a:lstStyle/>
          <a:p>
            <a:pPr marL="0" indent="0" algn="l">
              <a:lnSpc>
                <a:spcPts val="1024"/>
              </a:lnSpc>
              <a:buNone/>
            </a:pPr>
            <a:r>
              <a:rPr lang="en-US" sz="800" b="1" dirty="0">
                <a:solidFill>
                  <a:srgbClr val="0F172A"/>
                </a:solidFill>
                <a:latin typeface="Carlito" pitchFamily="34" charset="0"/>
                <a:ea typeface="Carlito" pitchFamily="34" charset="-122"/>
                <a:cs typeface="Carlito" pitchFamily="34" charset="-120"/>
              </a:rPr>
              <a:t>Critical Hyperparameters</a:t>
            </a:r>
            <a:endParaRPr lang="en-US" sz="800" dirty="0"/>
          </a:p>
        </p:txBody>
      </p:sp>
      <p:sp>
        <p:nvSpPr>
          <p:cNvPr id="11" name="Text 9"/>
          <p:cNvSpPr/>
          <p:nvPr/>
        </p:nvSpPr>
        <p:spPr>
          <a:xfrm>
            <a:off x="535781" y="1221581"/>
            <a:ext cx="937617"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num_leaves</a:t>
            </a:r>
            <a:endParaRPr lang="en-US" sz="800" dirty="0"/>
          </a:p>
        </p:txBody>
      </p:sp>
      <p:sp>
        <p:nvSpPr>
          <p:cNvPr id="12" name="Text 10"/>
          <p:cNvSpPr/>
          <p:nvPr/>
        </p:nvSpPr>
        <p:spPr>
          <a:xfrm>
            <a:off x="1343025" y="1221581"/>
            <a:ext cx="1616832"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Max number of leaves per tree (default 31). Key control on model complexity — lower for small datasets, higher for large.</a:t>
            </a:r>
            <a:endParaRPr lang="en-US" sz="800" dirty="0"/>
          </a:p>
        </p:txBody>
      </p:sp>
      <p:sp>
        <p:nvSpPr>
          <p:cNvPr id="13" name="Text 11"/>
          <p:cNvSpPr/>
          <p:nvPr/>
        </p:nvSpPr>
        <p:spPr>
          <a:xfrm>
            <a:off x="535781" y="1851807"/>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learning_rate</a:t>
            </a:r>
            <a:endParaRPr lang="en-US" sz="800" dirty="0"/>
          </a:p>
        </p:txBody>
      </p:sp>
      <p:sp>
        <p:nvSpPr>
          <p:cNvPr id="14" name="Text 12"/>
          <p:cNvSpPr/>
          <p:nvPr/>
        </p:nvSpPr>
        <p:spPr>
          <a:xfrm>
            <a:off x="1343025" y="1851807"/>
            <a:ext cx="1616832"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Step size (0.01–0.3). Same as XGBoost — lower is better with more iterations.</a:t>
            </a:r>
            <a:endParaRPr lang="en-US" sz="800" dirty="0"/>
          </a:p>
        </p:txBody>
      </p:sp>
      <p:sp>
        <p:nvSpPr>
          <p:cNvPr id="15" name="Text 13"/>
          <p:cNvSpPr/>
          <p:nvPr/>
        </p:nvSpPr>
        <p:spPr>
          <a:xfrm>
            <a:off x="535781" y="2334439"/>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n_estimators</a:t>
            </a:r>
            <a:endParaRPr lang="en-US" sz="800" dirty="0"/>
          </a:p>
        </p:txBody>
      </p:sp>
      <p:sp>
        <p:nvSpPr>
          <p:cNvPr id="16" name="Text 14"/>
          <p:cNvSpPr/>
          <p:nvPr/>
        </p:nvSpPr>
        <p:spPr>
          <a:xfrm>
            <a:off x="1343025" y="2334439"/>
            <a:ext cx="1616832"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Number of boosting rounds. Pair with early stopping.</a:t>
            </a:r>
            <a:endParaRPr lang="en-US" sz="800" dirty="0"/>
          </a:p>
        </p:txBody>
      </p:sp>
      <p:sp>
        <p:nvSpPr>
          <p:cNvPr id="17" name="Text 15"/>
          <p:cNvSpPr/>
          <p:nvPr/>
        </p:nvSpPr>
        <p:spPr>
          <a:xfrm>
            <a:off x="535781" y="2673767"/>
            <a:ext cx="1072634"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max_depth</a:t>
            </a:r>
            <a:endParaRPr lang="en-US" sz="800" dirty="0"/>
          </a:p>
        </p:txBody>
      </p:sp>
      <p:sp>
        <p:nvSpPr>
          <p:cNvPr id="18" name="Text 16"/>
          <p:cNvSpPr/>
          <p:nvPr/>
        </p:nvSpPr>
        <p:spPr>
          <a:xfrm>
            <a:off x="1343025" y="2673767"/>
            <a:ext cx="1616832"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Limits tree depth (default -1, unlimited). Set explicitly to prevent overfitting on small data.</a:t>
            </a:r>
            <a:endParaRPr lang="en-US" sz="800" dirty="0"/>
          </a:p>
        </p:txBody>
      </p:sp>
      <p:sp>
        <p:nvSpPr>
          <p:cNvPr id="19" name="Text 17"/>
          <p:cNvSpPr/>
          <p:nvPr/>
        </p:nvSpPr>
        <p:spPr>
          <a:xfrm>
            <a:off x="535781" y="3167512"/>
            <a:ext cx="937617"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min_data_in_leaf</a:t>
            </a:r>
            <a:endParaRPr lang="en-US" sz="800" dirty="0"/>
          </a:p>
        </p:txBody>
      </p:sp>
      <p:sp>
        <p:nvSpPr>
          <p:cNvPr id="20" name="Text 18"/>
          <p:cNvSpPr/>
          <p:nvPr/>
        </p:nvSpPr>
        <p:spPr>
          <a:xfrm>
            <a:off x="1343025" y="3324464"/>
            <a:ext cx="1616832"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Min samples per leaf (default 20). Higher = more conservative, prevents overfitting.</a:t>
            </a:r>
            <a:endParaRPr lang="en-US" sz="800" dirty="0"/>
          </a:p>
        </p:txBody>
      </p:sp>
      <p:sp>
        <p:nvSpPr>
          <p:cNvPr id="21" name="Text 19"/>
          <p:cNvSpPr/>
          <p:nvPr/>
        </p:nvSpPr>
        <p:spPr>
          <a:xfrm>
            <a:off x="3227747" y="767953"/>
            <a:ext cx="2688394" cy="3514725"/>
          </a:xfrm>
          <a:prstGeom prst="roundRect">
            <a:avLst>
              <a:gd name="adj" fmla="val 4252"/>
            </a:avLst>
          </a:prstGeom>
          <a:noFill/>
          <a:ln w="7144">
            <a:solidFill>
              <a:srgbClr val="E2E8F0"/>
            </a:solidFill>
            <a:prstDash val="solid"/>
          </a:ln>
        </p:spPr>
        <p:txBody>
          <a:bodyPr wrap="square" rtlCol="0" anchor="ctr"/>
          <a:lstStyle/>
          <a:p>
            <a:pPr marL="0" indent="0">
              <a:buNone/>
            </a:pPr>
            <a:endParaRPr lang="en-US" dirty="0"/>
          </a:p>
        </p:txBody>
      </p:sp>
      <p:sp>
        <p:nvSpPr>
          <p:cNvPr id="22" name="Text 20"/>
          <p:cNvSpPr/>
          <p:nvPr/>
        </p:nvSpPr>
        <p:spPr>
          <a:xfrm>
            <a:off x="3231319" y="771525"/>
            <a:ext cx="2681250" cy="450056"/>
          </a:xfrm>
          <a:prstGeom prst="rect">
            <a:avLst/>
          </a:prstGeom>
          <a:solidFill>
            <a:srgbClr val="F0FDF4"/>
          </a:solidFill>
          <a:ln/>
        </p:spPr>
        <p:txBody>
          <a:bodyPr wrap="square" rtlCol="0" anchor="ctr"/>
          <a:lstStyle/>
          <a:p>
            <a:pPr marL="0" indent="0">
              <a:buNone/>
            </a:pPr>
            <a:endParaRPr lang="en-US" dirty="0"/>
          </a:p>
        </p:txBody>
      </p:sp>
      <p:sp>
        <p:nvSpPr>
          <p:cNvPr id="23" name="Shape 21"/>
          <p:cNvSpPr/>
          <p:nvPr/>
        </p:nvSpPr>
        <p:spPr>
          <a:xfrm>
            <a:off x="3231319" y="1218009"/>
            <a:ext cx="2681250" cy="0"/>
          </a:xfrm>
          <a:prstGeom prst="line">
            <a:avLst/>
          </a:prstGeom>
          <a:noFill/>
          <a:ln w="7144">
            <a:solidFill>
              <a:srgbClr val="E2E8F0"/>
            </a:solidFill>
            <a:prstDash val="solid"/>
          </a:ln>
        </p:spPr>
        <p:txBody>
          <a:bodyPr/>
          <a:lstStyle/>
          <a:p>
            <a:endParaRPr lang="en-IN"/>
          </a:p>
        </p:txBody>
      </p:sp>
      <p:sp>
        <p:nvSpPr>
          <p:cNvPr id="24" name="Text 22"/>
          <p:cNvSpPr/>
          <p:nvPr/>
        </p:nvSpPr>
        <p:spPr>
          <a:xfrm>
            <a:off x="3359907" y="871538"/>
            <a:ext cx="242888" cy="242888"/>
          </a:xfrm>
          <a:prstGeom prst="roundRect">
            <a:avLst>
              <a:gd name="adj" fmla="val 31372"/>
            </a:avLst>
          </a:prstGeom>
          <a:solidFill>
            <a:srgbClr val="D1FAE5"/>
          </a:solidFill>
          <a:ln/>
        </p:spPr>
        <p:txBody>
          <a:bodyPr wrap="square" rtlCol="0" anchor="ctr"/>
          <a:lstStyle/>
          <a:p>
            <a:pPr marL="0" indent="0">
              <a:buNone/>
            </a:pPr>
            <a:endParaRPr lang="en-US" dirty="0"/>
          </a:p>
        </p:txBody>
      </p:sp>
      <p:sp>
        <p:nvSpPr>
          <p:cNvPr id="25" name="Text 23"/>
          <p:cNvSpPr/>
          <p:nvPr/>
        </p:nvSpPr>
        <p:spPr>
          <a:xfrm>
            <a:off x="3388124" y="899755"/>
            <a:ext cx="186452" cy="186452"/>
          </a:xfrm>
          <a:prstGeom prst="rect">
            <a:avLst/>
          </a:prstGeom>
          <a:noFill/>
          <a:ln/>
        </p:spPr>
        <p:txBody>
          <a:bodyPr wrap="none" lIns="0" tIns="0" rIns="0" bIns="0" rtlCol="0" anchor="ctr"/>
          <a:lstStyle/>
          <a:p>
            <a:pPr marL="0" indent="0" algn="ctr">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26" name="Text 24"/>
          <p:cNvSpPr/>
          <p:nvPr/>
        </p:nvSpPr>
        <p:spPr>
          <a:xfrm>
            <a:off x="3674232" y="928018"/>
            <a:ext cx="2109750" cy="142548"/>
          </a:xfrm>
          <a:prstGeom prst="rect">
            <a:avLst/>
          </a:prstGeom>
          <a:noFill/>
          <a:ln/>
        </p:spPr>
        <p:txBody>
          <a:bodyPr wrap="none" lIns="0" tIns="0" rIns="0" bIns="0" rtlCol="0" anchor="t"/>
          <a:lstStyle/>
          <a:p>
            <a:pPr marL="0" indent="0" algn="l">
              <a:lnSpc>
                <a:spcPts val="1024"/>
              </a:lnSpc>
              <a:buNone/>
            </a:pPr>
            <a:r>
              <a:rPr lang="en-US" sz="800" b="1" dirty="0">
                <a:solidFill>
                  <a:srgbClr val="0F172A"/>
                </a:solidFill>
                <a:latin typeface="Carlito" pitchFamily="34" charset="0"/>
                <a:ea typeface="Carlito" pitchFamily="34" charset="-122"/>
                <a:cs typeface="Carlito" pitchFamily="34" charset="-120"/>
              </a:rPr>
              <a:t>LightGBM-Specific Params</a:t>
            </a:r>
            <a:endParaRPr lang="en-US" sz="800" dirty="0"/>
          </a:p>
        </p:txBody>
      </p:sp>
      <p:sp>
        <p:nvSpPr>
          <p:cNvPr id="27" name="Text 25"/>
          <p:cNvSpPr/>
          <p:nvPr/>
        </p:nvSpPr>
        <p:spPr>
          <a:xfrm>
            <a:off x="3359907" y="1221581"/>
            <a:ext cx="937617"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feature_fraction</a:t>
            </a:r>
            <a:endParaRPr lang="en-US" sz="800" dirty="0"/>
          </a:p>
        </p:txBody>
      </p:sp>
      <p:sp>
        <p:nvSpPr>
          <p:cNvPr id="28" name="Text 26"/>
          <p:cNvSpPr/>
          <p:nvPr/>
        </p:nvSpPr>
        <p:spPr>
          <a:xfrm>
            <a:off x="4167150" y="1358061"/>
            <a:ext cx="1616832"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Feature sampling ratio (0.5–1.0). Equivalent to XGBoost colsample_bytree.</a:t>
            </a:r>
            <a:endParaRPr lang="en-US" sz="800" dirty="0"/>
          </a:p>
        </p:txBody>
      </p:sp>
      <p:sp>
        <p:nvSpPr>
          <p:cNvPr id="29" name="Text 27"/>
          <p:cNvSpPr/>
          <p:nvPr/>
        </p:nvSpPr>
        <p:spPr>
          <a:xfrm>
            <a:off x="3359907" y="1879103"/>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bagging_fraction</a:t>
            </a:r>
            <a:endParaRPr lang="en-US" sz="800" dirty="0"/>
          </a:p>
        </p:txBody>
      </p:sp>
      <p:sp>
        <p:nvSpPr>
          <p:cNvPr id="30" name="Text 28"/>
          <p:cNvSpPr/>
          <p:nvPr/>
        </p:nvSpPr>
        <p:spPr>
          <a:xfrm>
            <a:off x="4167150" y="2008759"/>
            <a:ext cx="1616832"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Row sampling ratio (0.5–1.0). Equivalent to XGBoost subsample.</a:t>
            </a:r>
            <a:endParaRPr lang="en-US" sz="800" dirty="0"/>
          </a:p>
        </p:txBody>
      </p:sp>
      <p:sp>
        <p:nvSpPr>
          <p:cNvPr id="31" name="Text 29"/>
          <p:cNvSpPr/>
          <p:nvPr/>
        </p:nvSpPr>
        <p:spPr>
          <a:xfrm>
            <a:off x="3359907" y="2484567"/>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Liberation Sans Narrow" pitchFamily="34" charset="0"/>
                <a:ea typeface="Liberation Sans Narrow" pitchFamily="34" charset="-122"/>
                <a:cs typeface="Liberation Sans Narrow" pitchFamily="34" charset="-120"/>
              </a:rPr>
              <a:t>lambda_l1 / l2</a:t>
            </a:r>
            <a:endParaRPr lang="en-US" sz="800" dirty="0"/>
          </a:p>
        </p:txBody>
      </p:sp>
      <p:sp>
        <p:nvSpPr>
          <p:cNvPr id="32" name="Text 30"/>
          <p:cNvSpPr/>
          <p:nvPr/>
        </p:nvSpPr>
        <p:spPr>
          <a:xfrm>
            <a:off x="4167150" y="2484567"/>
            <a:ext cx="1616832"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L1/L2 regularization (same concept as XGBoost).</a:t>
            </a:r>
            <a:endParaRPr lang="en-US" sz="800" dirty="0"/>
          </a:p>
        </p:txBody>
      </p:sp>
      <p:sp>
        <p:nvSpPr>
          <p:cNvPr id="33" name="Text 31"/>
          <p:cNvSpPr/>
          <p:nvPr/>
        </p:nvSpPr>
        <p:spPr>
          <a:xfrm>
            <a:off x="3359907" y="2823895"/>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cat_feature</a:t>
            </a:r>
            <a:endParaRPr lang="en-US" sz="800" dirty="0"/>
          </a:p>
        </p:txBody>
      </p:sp>
      <p:sp>
        <p:nvSpPr>
          <p:cNvPr id="34" name="Text 32"/>
          <p:cNvSpPr/>
          <p:nvPr/>
        </p:nvSpPr>
        <p:spPr>
          <a:xfrm>
            <a:off x="4167150" y="2823895"/>
            <a:ext cx="1616832"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List of categorical column indices. Enables native categorical handling.</a:t>
            </a:r>
            <a:endParaRPr lang="en-US" sz="800" dirty="0"/>
          </a:p>
        </p:txBody>
      </p:sp>
      <p:sp>
        <p:nvSpPr>
          <p:cNvPr id="35" name="Text 33"/>
          <p:cNvSpPr/>
          <p:nvPr/>
        </p:nvSpPr>
        <p:spPr>
          <a:xfrm>
            <a:off x="3359907" y="3163223"/>
            <a:ext cx="937617"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boosting_type</a:t>
            </a:r>
            <a:endParaRPr lang="en-US" sz="800" dirty="0"/>
          </a:p>
        </p:txBody>
      </p:sp>
      <p:sp>
        <p:nvSpPr>
          <p:cNvPr id="36" name="Text 34"/>
          <p:cNvSpPr/>
          <p:nvPr/>
        </p:nvSpPr>
        <p:spPr>
          <a:xfrm>
            <a:off x="4167150" y="3299698"/>
            <a:ext cx="1616832"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gbdt (default), goss, dart, or rf. GOSS for speed, DART for better accuracy on some tasks.</a:t>
            </a:r>
            <a:endParaRPr lang="en-US" sz="800" dirty="0"/>
          </a:p>
        </p:txBody>
      </p:sp>
      <p:sp>
        <p:nvSpPr>
          <p:cNvPr id="37" name="Text 35"/>
          <p:cNvSpPr/>
          <p:nvPr/>
        </p:nvSpPr>
        <p:spPr>
          <a:xfrm>
            <a:off x="6051872" y="767953"/>
            <a:ext cx="2688506" cy="3514725"/>
          </a:xfrm>
          <a:prstGeom prst="roundRect">
            <a:avLst>
              <a:gd name="adj" fmla="val 4251"/>
            </a:avLst>
          </a:prstGeom>
          <a:noFill/>
          <a:ln w="7144">
            <a:solidFill>
              <a:srgbClr val="E2E8F0"/>
            </a:solidFill>
            <a:prstDash val="solid"/>
          </a:ln>
        </p:spPr>
        <p:txBody>
          <a:bodyPr wrap="square" rtlCol="0" anchor="ctr"/>
          <a:lstStyle/>
          <a:p>
            <a:pPr marL="0" indent="0">
              <a:buNone/>
            </a:pPr>
            <a:endParaRPr lang="en-US" dirty="0"/>
          </a:p>
        </p:txBody>
      </p:sp>
      <p:sp>
        <p:nvSpPr>
          <p:cNvPr id="38" name="Text 36"/>
          <p:cNvSpPr/>
          <p:nvPr/>
        </p:nvSpPr>
        <p:spPr>
          <a:xfrm>
            <a:off x="6055444" y="771525"/>
            <a:ext cx="2681362" cy="450056"/>
          </a:xfrm>
          <a:prstGeom prst="rect">
            <a:avLst/>
          </a:prstGeom>
          <a:solidFill>
            <a:srgbClr val="F8FAFC"/>
          </a:solidFill>
          <a:ln/>
        </p:spPr>
        <p:txBody>
          <a:bodyPr wrap="square" rtlCol="0" anchor="ctr"/>
          <a:lstStyle/>
          <a:p>
            <a:pPr marL="0" indent="0">
              <a:buNone/>
            </a:pPr>
            <a:endParaRPr lang="en-US" dirty="0"/>
          </a:p>
        </p:txBody>
      </p:sp>
      <p:sp>
        <p:nvSpPr>
          <p:cNvPr id="39" name="Shape 37"/>
          <p:cNvSpPr/>
          <p:nvPr/>
        </p:nvSpPr>
        <p:spPr>
          <a:xfrm>
            <a:off x="6055444" y="1218009"/>
            <a:ext cx="2681362" cy="0"/>
          </a:xfrm>
          <a:prstGeom prst="line">
            <a:avLst/>
          </a:prstGeom>
          <a:noFill/>
          <a:ln w="7144">
            <a:solidFill>
              <a:srgbClr val="E2E8F0"/>
            </a:solidFill>
            <a:prstDash val="solid"/>
          </a:ln>
        </p:spPr>
        <p:txBody>
          <a:bodyPr/>
          <a:lstStyle/>
          <a:p>
            <a:endParaRPr lang="en-IN"/>
          </a:p>
        </p:txBody>
      </p:sp>
      <p:sp>
        <p:nvSpPr>
          <p:cNvPr id="40" name="Text 38"/>
          <p:cNvSpPr/>
          <p:nvPr/>
        </p:nvSpPr>
        <p:spPr>
          <a:xfrm>
            <a:off x="6184032" y="871538"/>
            <a:ext cx="242888" cy="242888"/>
          </a:xfrm>
          <a:prstGeom prst="roundRect">
            <a:avLst>
              <a:gd name="adj" fmla="val 31372"/>
            </a:avLst>
          </a:prstGeom>
          <a:solidFill>
            <a:srgbClr val="E0F2FE"/>
          </a:solidFill>
          <a:ln/>
        </p:spPr>
        <p:txBody>
          <a:bodyPr wrap="square" rtlCol="0" anchor="ctr"/>
          <a:lstStyle/>
          <a:p>
            <a:pPr marL="0" indent="0">
              <a:buNone/>
            </a:pPr>
            <a:endParaRPr lang="en-US" dirty="0"/>
          </a:p>
        </p:txBody>
      </p:sp>
      <p:sp>
        <p:nvSpPr>
          <p:cNvPr id="41" name="Text 39"/>
          <p:cNvSpPr/>
          <p:nvPr/>
        </p:nvSpPr>
        <p:spPr>
          <a:xfrm>
            <a:off x="6212250" y="899755"/>
            <a:ext cx="186452" cy="186452"/>
          </a:xfrm>
          <a:prstGeom prst="rect">
            <a:avLst/>
          </a:prstGeom>
          <a:noFill/>
          <a:ln/>
        </p:spPr>
        <p:txBody>
          <a:bodyPr wrap="none" lIns="0" tIns="0" rIns="0" bIns="0" rtlCol="0" anchor="ctr"/>
          <a:lstStyle/>
          <a:p>
            <a:pPr marL="0" indent="0" algn="ctr">
              <a:buNone/>
            </a:pPr>
            <a:r>
              <a:rPr lang="en-US" sz="1266" dirty="0">
                <a:solidFill>
                  <a:srgbClr val="0EA5E9"/>
                </a:solidFill>
                <a:latin typeface="Segoe UI Symbol" pitchFamily="34" charset="0"/>
                <a:ea typeface="Segoe UI Symbol" pitchFamily="34" charset="-122"/>
                <a:cs typeface="Segoe UI Symbol" pitchFamily="34" charset="-120"/>
              </a:rPr>
              <a:t>◆</a:t>
            </a:r>
            <a:endParaRPr lang="en-US" sz="1266" dirty="0"/>
          </a:p>
        </p:txBody>
      </p:sp>
      <p:sp>
        <p:nvSpPr>
          <p:cNvPr id="42" name="Text 40"/>
          <p:cNvSpPr/>
          <p:nvPr/>
        </p:nvSpPr>
        <p:spPr>
          <a:xfrm>
            <a:off x="6498357" y="928018"/>
            <a:ext cx="2109862" cy="142548"/>
          </a:xfrm>
          <a:prstGeom prst="rect">
            <a:avLst/>
          </a:prstGeom>
          <a:noFill/>
          <a:ln/>
        </p:spPr>
        <p:txBody>
          <a:bodyPr wrap="none" lIns="0" tIns="0" rIns="0" bIns="0" rtlCol="0" anchor="t"/>
          <a:lstStyle/>
          <a:p>
            <a:pPr marL="0" indent="0" algn="l">
              <a:lnSpc>
                <a:spcPts val="1024"/>
              </a:lnSpc>
              <a:buNone/>
            </a:pPr>
            <a:r>
              <a:rPr lang="en-US" sz="800" b="1" dirty="0">
                <a:solidFill>
                  <a:srgbClr val="0F172A"/>
                </a:solidFill>
                <a:latin typeface="Carlito" pitchFamily="34" charset="0"/>
                <a:ea typeface="Carlito" pitchFamily="34" charset="-122"/>
                <a:cs typeface="Carlito" pitchFamily="34" charset="-120"/>
              </a:rPr>
              <a:t>Practical Tips</a:t>
            </a:r>
            <a:endParaRPr lang="en-US" sz="800" dirty="0"/>
          </a:p>
        </p:txBody>
      </p:sp>
      <p:sp>
        <p:nvSpPr>
          <p:cNvPr id="43" name="Text 41"/>
          <p:cNvSpPr/>
          <p:nvPr/>
        </p:nvSpPr>
        <p:spPr>
          <a:xfrm>
            <a:off x="6184032" y="1221581"/>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small data</a:t>
            </a:r>
            <a:endParaRPr lang="en-US" sz="800" dirty="0"/>
          </a:p>
        </p:txBody>
      </p:sp>
      <p:sp>
        <p:nvSpPr>
          <p:cNvPr id="44" name="Text 42"/>
          <p:cNvSpPr/>
          <p:nvPr/>
        </p:nvSpPr>
        <p:spPr>
          <a:xfrm>
            <a:off x="6991276" y="1221581"/>
            <a:ext cx="1616943"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Use small num_leaves (e.g., 15–31) and set max_depth explicitly.</a:t>
            </a:r>
            <a:endParaRPr lang="en-US" sz="800" dirty="0"/>
          </a:p>
        </p:txBody>
      </p:sp>
      <p:sp>
        <p:nvSpPr>
          <p:cNvPr id="45" name="Text 43"/>
          <p:cNvSpPr/>
          <p:nvPr/>
        </p:nvSpPr>
        <p:spPr>
          <a:xfrm>
            <a:off x="6184032" y="1560909"/>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large data</a:t>
            </a:r>
            <a:endParaRPr lang="en-US" sz="800" dirty="0"/>
          </a:p>
        </p:txBody>
      </p:sp>
      <p:sp>
        <p:nvSpPr>
          <p:cNvPr id="46" name="Text 44"/>
          <p:cNvSpPr/>
          <p:nvPr/>
        </p:nvSpPr>
        <p:spPr>
          <a:xfrm>
            <a:off x="6991276" y="1560909"/>
            <a:ext cx="1616943"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Let num_leaves be higher (63–255) and rely on min_data_in_leaf.</a:t>
            </a:r>
            <a:endParaRPr lang="en-US" sz="800" dirty="0"/>
          </a:p>
        </p:txBody>
      </p:sp>
      <p:sp>
        <p:nvSpPr>
          <p:cNvPr id="47" name="Text 45"/>
          <p:cNvSpPr/>
          <p:nvPr/>
        </p:nvSpPr>
        <p:spPr>
          <a:xfrm>
            <a:off x="6184032" y="1900238"/>
            <a:ext cx="937617" cy="536713"/>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categorical</a:t>
            </a:r>
            <a:endParaRPr lang="en-US" sz="800" dirty="0"/>
          </a:p>
        </p:txBody>
      </p:sp>
      <p:sp>
        <p:nvSpPr>
          <p:cNvPr id="48" name="Text 46"/>
          <p:cNvSpPr/>
          <p:nvPr/>
        </p:nvSpPr>
        <p:spPr>
          <a:xfrm>
            <a:off x="6991276" y="1900238"/>
            <a:ext cx="1616943" cy="493776"/>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Use categorical_feature parameter instead of one-hot encoding for best results.</a:t>
            </a:r>
            <a:endParaRPr lang="en-US" sz="800" dirty="0"/>
          </a:p>
        </p:txBody>
      </p:sp>
      <p:sp>
        <p:nvSpPr>
          <p:cNvPr id="49" name="Text 47"/>
          <p:cNvSpPr/>
          <p:nvPr/>
        </p:nvSpPr>
        <p:spPr>
          <a:xfrm>
            <a:off x="6184032" y="2373511"/>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missing values</a:t>
            </a:r>
            <a:endParaRPr lang="en-US" sz="800" dirty="0"/>
          </a:p>
        </p:txBody>
      </p:sp>
      <p:sp>
        <p:nvSpPr>
          <p:cNvPr id="50" name="Text 48"/>
          <p:cNvSpPr/>
          <p:nvPr/>
        </p:nvSpPr>
        <p:spPr>
          <a:xfrm>
            <a:off x="6991276" y="2489519"/>
            <a:ext cx="1616943"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LightGBM handles NaN natively — no imputation needed for most cases.</a:t>
            </a:r>
            <a:endParaRPr lang="en-US" sz="800" dirty="0"/>
          </a:p>
        </p:txBody>
      </p:sp>
      <p:sp>
        <p:nvSpPr>
          <p:cNvPr id="51" name="Text 49"/>
          <p:cNvSpPr/>
          <p:nvPr/>
        </p:nvSpPr>
        <p:spPr>
          <a:xfrm>
            <a:off x="6184032" y="2842495"/>
            <a:ext cx="937617" cy="357809"/>
          </a:xfrm>
          <a:prstGeom prst="rect">
            <a:avLst/>
          </a:prstGeom>
          <a:noFill/>
          <a:ln/>
        </p:spPr>
        <p:txBody>
          <a:bodyPr wrap="none" lIns="0" tIns="7144" rIns="0" bIns="0" rtlCol="0" anchor="t"/>
          <a:lstStyle/>
          <a:p>
            <a:pPr marL="0" indent="0" algn="l">
              <a:lnSpc>
                <a:spcPts val="970"/>
              </a:lnSpc>
              <a:buNone/>
            </a:pPr>
            <a:r>
              <a:rPr lang="en-US" sz="800" dirty="0">
                <a:solidFill>
                  <a:srgbClr val="0EA5E9"/>
                </a:solidFill>
                <a:latin typeface="Courier New" pitchFamily="34" charset="0"/>
                <a:ea typeface="Courier New" pitchFamily="34" charset="-122"/>
                <a:cs typeface="Courier New" pitchFamily="34" charset="-120"/>
              </a:rPr>
              <a:t>monitoring</a:t>
            </a:r>
            <a:endParaRPr lang="en-US" sz="800" dirty="0"/>
          </a:p>
        </p:txBody>
      </p:sp>
      <p:sp>
        <p:nvSpPr>
          <p:cNvPr id="52" name="Text 50"/>
          <p:cNvSpPr/>
          <p:nvPr/>
        </p:nvSpPr>
        <p:spPr>
          <a:xfrm>
            <a:off x="6991276" y="2842495"/>
            <a:ext cx="1616943" cy="329184"/>
          </a:xfrm>
          <a:prstGeom prst="rect">
            <a:avLst/>
          </a:prstGeom>
          <a:noFill/>
          <a:ln/>
        </p:spPr>
        <p:txBody>
          <a:bodyPr wrap="square" lIns="0" tIns="0" rIns="0" bIns="0" rtlCol="0" anchor="t"/>
          <a:lstStyle/>
          <a:p>
            <a:pPr marL="0" indent="0" algn="l">
              <a:lnSpc>
                <a:spcPts val="1055"/>
              </a:lnSpc>
              <a:buNone/>
            </a:pPr>
            <a:r>
              <a:rPr lang="en-US" sz="800" dirty="0">
                <a:solidFill>
                  <a:srgbClr val="475569"/>
                </a:solidFill>
                <a:latin typeface="Carlito" pitchFamily="34" charset="0"/>
                <a:ea typeface="Carlito" pitchFamily="34" charset="-122"/>
                <a:cs typeface="Carlito" pitchFamily="34" charset="-120"/>
              </a:rPr>
              <a:t>Use early_stopping_rounds and log_evaluation for monitoring.</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8636000" cy="296193"/>
          </a:xfrm>
          <a:prstGeom prst="rect">
            <a:avLst/>
          </a:prstGeom>
          <a:noFill/>
          <a:ln/>
        </p:spPr>
        <p:txBody>
          <a:bodyPr wrap="square" lIns="0" tIns="0" rIns="0" bIns="0" rtlCol="0" anchor="t"/>
          <a:lstStyle/>
          <a:p>
            <a:pPr marL="0" indent="0" algn="l">
              <a:lnSpc>
                <a:spcPts val="2160"/>
              </a:lnSpc>
              <a:buNone/>
            </a:pPr>
            <a:r>
              <a:rPr lang="en-US" sz="1800" b="1" dirty="0">
                <a:solidFill>
                  <a:srgbClr val="0F172A"/>
                </a:solidFill>
                <a:latin typeface="Carlito" pitchFamily="34" charset="0"/>
                <a:ea typeface="Carlito" pitchFamily="34" charset="-122"/>
                <a:cs typeface="Carlito" pitchFamily="34" charset="-120"/>
              </a:rPr>
              <a:t>Which Boosting Algorithm Should You Use?</a:t>
            </a:r>
            <a:endParaRPr lang="en-US" sz="1800" dirty="0"/>
          </a:p>
        </p:txBody>
      </p:sp>
      <p:sp>
        <p:nvSpPr>
          <p:cNvPr id="3" name="Text 1"/>
          <p:cNvSpPr/>
          <p:nvPr/>
        </p:nvSpPr>
        <p:spPr>
          <a:xfrm>
            <a:off x="457200" y="702878"/>
            <a:ext cx="342900" cy="21431"/>
          </a:xfrm>
          <a:prstGeom prst="roundRect">
            <a:avLst>
              <a:gd name="adj" fmla="val 88890"/>
            </a:avLst>
          </a:prstGeom>
          <a:solidFill>
            <a:srgbClr val="0EA5E9"/>
          </a:solidFill>
          <a:ln/>
        </p:spPr>
        <p:txBody>
          <a:bodyPr wrap="square" rtlCol="0" anchor="ctr"/>
          <a:lstStyle/>
          <a:p>
            <a:pPr marL="0" indent="0">
              <a:buNone/>
            </a:pPr>
            <a:endParaRPr lang="en-US" dirty="0"/>
          </a:p>
        </p:txBody>
      </p:sp>
      <p:sp>
        <p:nvSpPr>
          <p:cNvPr id="4" name="Text 2"/>
          <p:cNvSpPr/>
          <p:nvPr/>
        </p:nvSpPr>
        <p:spPr>
          <a:xfrm>
            <a:off x="457200" y="1038634"/>
            <a:ext cx="2647876" cy="3233328"/>
          </a:xfrm>
          <a:prstGeom prst="roundRect">
            <a:avLst>
              <a:gd name="adj" fmla="val 4317"/>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1049350"/>
            <a:ext cx="2647876" cy="0"/>
          </a:xfrm>
          <a:prstGeom prst="line">
            <a:avLst/>
          </a:prstGeom>
          <a:noFill/>
          <a:ln w="21431">
            <a:solidFill>
              <a:srgbClr val="10B981"/>
            </a:solidFill>
            <a:prstDash val="solid"/>
          </a:ln>
        </p:spPr>
        <p:txBody>
          <a:bodyPr/>
          <a:lstStyle/>
          <a:p>
            <a:endParaRPr lang="en-IN"/>
          </a:p>
        </p:txBody>
      </p:sp>
      <p:sp>
        <p:nvSpPr>
          <p:cNvPr id="6" name="Shape 4"/>
          <p:cNvSpPr/>
          <p:nvPr/>
        </p:nvSpPr>
        <p:spPr>
          <a:xfrm>
            <a:off x="3101504" y="1038634"/>
            <a:ext cx="0" cy="3233328"/>
          </a:xfrm>
          <a:prstGeom prst="line">
            <a:avLst/>
          </a:prstGeom>
          <a:noFill/>
          <a:ln w="7144">
            <a:solidFill>
              <a:srgbClr val="E2E8F0"/>
            </a:solidFill>
            <a:prstDash val="solid"/>
          </a:ln>
        </p:spPr>
        <p:txBody>
          <a:bodyPr/>
          <a:lstStyle/>
          <a:p>
            <a:endParaRPr lang="en-IN"/>
          </a:p>
        </p:txBody>
      </p:sp>
      <p:sp>
        <p:nvSpPr>
          <p:cNvPr id="7" name="Shape 5"/>
          <p:cNvSpPr/>
          <p:nvPr/>
        </p:nvSpPr>
        <p:spPr>
          <a:xfrm>
            <a:off x="457200" y="4268391"/>
            <a:ext cx="2647876" cy="0"/>
          </a:xfrm>
          <a:prstGeom prst="line">
            <a:avLst/>
          </a:prstGeom>
          <a:noFill/>
          <a:ln w="7144">
            <a:solidFill>
              <a:srgbClr val="E2E8F0"/>
            </a:solidFill>
            <a:prstDash val="solid"/>
          </a:ln>
        </p:spPr>
        <p:txBody>
          <a:bodyPr/>
          <a:lstStyle/>
          <a:p>
            <a:endParaRPr lang="en-IN"/>
          </a:p>
        </p:txBody>
      </p:sp>
      <p:sp>
        <p:nvSpPr>
          <p:cNvPr id="8" name="Shape 6"/>
          <p:cNvSpPr/>
          <p:nvPr/>
        </p:nvSpPr>
        <p:spPr>
          <a:xfrm>
            <a:off x="460772" y="1038634"/>
            <a:ext cx="0" cy="3233328"/>
          </a:xfrm>
          <a:prstGeom prst="line">
            <a:avLst/>
          </a:prstGeom>
          <a:noFill/>
          <a:ln w="7144">
            <a:solidFill>
              <a:srgbClr val="E2E8F0"/>
            </a:solidFill>
            <a:prstDash val="solid"/>
          </a:ln>
        </p:spPr>
        <p:txBody>
          <a:bodyPr/>
          <a:lstStyle/>
          <a:p>
            <a:endParaRPr lang="en-IN"/>
          </a:p>
        </p:txBody>
      </p:sp>
      <p:sp>
        <p:nvSpPr>
          <p:cNvPr id="9" name="Text 7"/>
          <p:cNvSpPr/>
          <p:nvPr/>
        </p:nvSpPr>
        <p:spPr>
          <a:xfrm>
            <a:off x="621506" y="1231516"/>
            <a:ext cx="257175" cy="257175"/>
          </a:xfrm>
          <a:prstGeom prst="roundRect">
            <a:avLst>
              <a:gd name="adj" fmla="val 29630"/>
            </a:avLst>
          </a:prstGeom>
          <a:solidFill>
            <a:srgbClr val="D1FAE5"/>
          </a:solidFill>
          <a:ln/>
        </p:spPr>
        <p:txBody>
          <a:bodyPr wrap="square" rtlCol="0" anchor="ctr"/>
          <a:lstStyle/>
          <a:p>
            <a:pPr marL="0" indent="0">
              <a:buNone/>
            </a:pPr>
            <a:endParaRPr lang="en-US" dirty="0"/>
          </a:p>
        </p:txBody>
      </p:sp>
      <p:sp>
        <p:nvSpPr>
          <p:cNvPr id="10" name="Text 8"/>
          <p:cNvSpPr/>
          <p:nvPr/>
        </p:nvSpPr>
        <p:spPr>
          <a:xfrm>
            <a:off x="646509" y="1256519"/>
            <a:ext cx="207169" cy="207169"/>
          </a:xfrm>
          <a:prstGeom prst="rect">
            <a:avLst/>
          </a:prstGeom>
          <a:noFill/>
          <a:ln/>
        </p:spPr>
        <p:txBody>
          <a:bodyPr wrap="none" lIns="0" tIns="0" rIns="0" bIns="0" rtlCol="0" anchor="ctr"/>
          <a:lstStyle/>
          <a:p>
            <a:pPr marL="0" indent="0" algn="ctr">
              <a:buNone/>
            </a:pPr>
            <a:r>
              <a:rPr lang="en-US" sz="1406" dirty="0">
                <a:solidFill>
                  <a:srgbClr val="065F46"/>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950119" y="1263662"/>
            <a:ext cx="1990651" cy="208312"/>
          </a:xfrm>
          <a:prstGeom prst="rect">
            <a:avLst/>
          </a:prstGeom>
          <a:noFill/>
          <a:ln/>
        </p:spPr>
        <p:txBody>
          <a:bodyPr wrap="none" lIns="0" tIns="0" rIns="0" bIns="0" rtlCol="0" anchor="t"/>
          <a:lstStyle/>
          <a:p>
            <a:pPr marL="0" indent="0" algn="l">
              <a:lnSpc>
                <a:spcPts val="1519"/>
              </a:lnSpc>
              <a:buNone/>
            </a:pPr>
            <a:r>
              <a:rPr lang="en-US" sz="1013" b="1" dirty="0">
                <a:solidFill>
                  <a:srgbClr val="0F172A"/>
                </a:solidFill>
                <a:latin typeface="Carlito" pitchFamily="34" charset="0"/>
                <a:ea typeface="Carlito" pitchFamily="34" charset="-122"/>
                <a:cs typeface="Carlito" pitchFamily="34" charset="-120"/>
              </a:rPr>
              <a:t>AdaBoost</a:t>
            </a:r>
            <a:endParaRPr lang="en-US" sz="1013" dirty="0"/>
          </a:p>
        </p:txBody>
      </p:sp>
      <p:sp>
        <p:nvSpPr>
          <p:cNvPr id="12" name="Text 10"/>
          <p:cNvSpPr/>
          <p:nvPr/>
        </p:nvSpPr>
        <p:spPr>
          <a:xfrm>
            <a:off x="621506" y="1588703"/>
            <a:ext cx="2319263" cy="508796"/>
          </a:xfrm>
          <a:prstGeom prst="rect">
            <a:avLst/>
          </a:prstGeom>
          <a:noFill/>
          <a:ln/>
        </p:spPr>
        <p:txBody>
          <a:bodyPr wrap="square" lIns="0" tIns="0" rIns="0" bIns="0" rtlCol="0" anchor="t">
            <a:normAutofit/>
          </a:bodyPr>
          <a:lstStyle/>
          <a:p>
            <a:pPr marL="0" indent="0" algn="l">
              <a:lnSpc>
                <a:spcPts val="1221"/>
              </a:lnSpc>
              <a:buNone/>
            </a:pPr>
            <a:r>
              <a:rPr lang="en-US" sz="800" b="1" dirty="0">
                <a:solidFill>
                  <a:srgbClr val="0F172A"/>
                </a:solidFill>
                <a:latin typeface="Carlito" pitchFamily="34" charset="0"/>
                <a:ea typeface="Carlito" pitchFamily="34" charset="-122"/>
                <a:cs typeface="Carlito" pitchFamily="34" charset="-120"/>
              </a:rPr>
              <a:t>Use when:</a:t>
            </a:r>
            <a:r>
              <a:rPr lang="en-US" sz="800" dirty="0">
                <a:solidFill>
                  <a:srgbClr val="334155"/>
                </a:solidFill>
                <a:latin typeface="Carlito" pitchFamily="34" charset="0"/>
                <a:ea typeface="Carlito" pitchFamily="34" charset="-122"/>
                <a:cs typeface="Carlito" pitchFamily="34" charset="-120"/>
              </a:rPr>
              <a:t> You need a simple baseline, explaining boosting from scratch, or the dataset is clean and small.</a:t>
            </a:r>
            <a:endParaRPr lang="en-US" sz="800" dirty="0"/>
          </a:p>
        </p:txBody>
      </p:sp>
      <p:sp>
        <p:nvSpPr>
          <p:cNvPr id="13" name="Text 11"/>
          <p:cNvSpPr/>
          <p:nvPr/>
        </p:nvSpPr>
        <p:spPr>
          <a:xfrm>
            <a:off x="621506" y="2124931"/>
            <a:ext cx="2319263" cy="339961"/>
          </a:xfrm>
          <a:prstGeom prst="rect">
            <a:avLst/>
          </a:prstGeom>
          <a:noFill/>
          <a:ln/>
        </p:spPr>
        <p:txBody>
          <a:bodyPr wrap="square" lIns="0" tIns="0" rIns="0" bIns="0" rtlCol="0" anchor="t"/>
          <a:lstStyle/>
          <a:p>
            <a:pPr marL="0" indent="0" algn="l">
              <a:lnSpc>
                <a:spcPts val="1221"/>
              </a:lnSpc>
              <a:buNone/>
            </a:pPr>
            <a:r>
              <a:rPr lang="en-US" sz="800" b="1" dirty="0">
                <a:solidFill>
                  <a:srgbClr val="991B1B"/>
                </a:solidFill>
                <a:latin typeface="Carlito" pitchFamily="34" charset="0"/>
                <a:ea typeface="Carlito" pitchFamily="34" charset="-122"/>
                <a:cs typeface="Carlito" pitchFamily="34" charset="-120"/>
              </a:rPr>
              <a:t>Skip when:</a:t>
            </a:r>
            <a:r>
              <a:rPr lang="en-US" sz="800" dirty="0">
                <a:solidFill>
                  <a:srgbClr val="334155"/>
                </a:solidFill>
                <a:latin typeface="Carlito" pitchFamily="34" charset="0"/>
                <a:ea typeface="Carlito" pitchFamily="34" charset="-122"/>
                <a:cs typeface="Carlito" pitchFamily="34" charset="-120"/>
              </a:rPr>
              <a:t> You need speed, handle noise, or work with large data.</a:t>
            </a:r>
            <a:endParaRPr lang="en-US" sz="800" dirty="0"/>
          </a:p>
        </p:txBody>
      </p:sp>
      <p:sp>
        <p:nvSpPr>
          <p:cNvPr id="14" name="Text 12"/>
          <p:cNvSpPr/>
          <p:nvPr/>
        </p:nvSpPr>
        <p:spPr>
          <a:xfrm>
            <a:off x="3247951" y="1038634"/>
            <a:ext cx="2647987" cy="3233328"/>
          </a:xfrm>
          <a:prstGeom prst="roundRect">
            <a:avLst>
              <a:gd name="adj" fmla="val 4316"/>
            </a:avLst>
          </a:prstGeom>
          <a:solidFill>
            <a:srgbClr val="F8FAFC"/>
          </a:solidFill>
          <a:ln/>
        </p:spPr>
        <p:txBody>
          <a:bodyPr wrap="square" rtlCol="0" anchor="ctr"/>
          <a:lstStyle/>
          <a:p>
            <a:pPr marL="0" indent="0">
              <a:buNone/>
            </a:pPr>
            <a:endParaRPr lang="en-US" dirty="0"/>
          </a:p>
        </p:txBody>
      </p:sp>
      <p:sp>
        <p:nvSpPr>
          <p:cNvPr id="15" name="Shape 13"/>
          <p:cNvSpPr/>
          <p:nvPr/>
        </p:nvSpPr>
        <p:spPr>
          <a:xfrm>
            <a:off x="3247951" y="1049350"/>
            <a:ext cx="2647987" cy="0"/>
          </a:xfrm>
          <a:prstGeom prst="line">
            <a:avLst/>
          </a:prstGeom>
          <a:noFill/>
          <a:ln w="21431">
            <a:solidFill>
              <a:srgbClr val="0EA5E9"/>
            </a:solidFill>
            <a:prstDash val="solid"/>
          </a:ln>
        </p:spPr>
        <p:txBody>
          <a:bodyPr/>
          <a:lstStyle/>
          <a:p>
            <a:endParaRPr lang="en-IN"/>
          </a:p>
        </p:txBody>
      </p:sp>
      <p:sp>
        <p:nvSpPr>
          <p:cNvPr id="16" name="Shape 14"/>
          <p:cNvSpPr/>
          <p:nvPr/>
        </p:nvSpPr>
        <p:spPr>
          <a:xfrm>
            <a:off x="5892366" y="1038634"/>
            <a:ext cx="0" cy="3233328"/>
          </a:xfrm>
          <a:prstGeom prst="line">
            <a:avLst/>
          </a:prstGeom>
          <a:noFill/>
          <a:ln w="7144">
            <a:solidFill>
              <a:srgbClr val="E2E8F0"/>
            </a:solidFill>
            <a:prstDash val="solid"/>
          </a:ln>
        </p:spPr>
        <p:txBody>
          <a:bodyPr/>
          <a:lstStyle/>
          <a:p>
            <a:endParaRPr lang="en-IN"/>
          </a:p>
        </p:txBody>
      </p:sp>
      <p:sp>
        <p:nvSpPr>
          <p:cNvPr id="17" name="Shape 15"/>
          <p:cNvSpPr/>
          <p:nvPr/>
        </p:nvSpPr>
        <p:spPr>
          <a:xfrm>
            <a:off x="3247951" y="4268391"/>
            <a:ext cx="2647987" cy="0"/>
          </a:xfrm>
          <a:prstGeom prst="line">
            <a:avLst/>
          </a:prstGeom>
          <a:noFill/>
          <a:ln w="7144">
            <a:solidFill>
              <a:srgbClr val="E2E8F0"/>
            </a:solidFill>
            <a:prstDash val="solid"/>
          </a:ln>
        </p:spPr>
        <p:txBody>
          <a:bodyPr/>
          <a:lstStyle/>
          <a:p>
            <a:endParaRPr lang="en-IN"/>
          </a:p>
        </p:txBody>
      </p:sp>
      <p:sp>
        <p:nvSpPr>
          <p:cNvPr id="18" name="Shape 16"/>
          <p:cNvSpPr/>
          <p:nvPr/>
        </p:nvSpPr>
        <p:spPr>
          <a:xfrm>
            <a:off x="3251522" y="1038634"/>
            <a:ext cx="0" cy="3233328"/>
          </a:xfrm>
          <a:prstGeom prst="line">
            <a:avLst/>
          </a:prstGeom>
          <a:noFill/>
          <a:ln w="7144">
            <a:solidFill>
              <a:srgbClr val="E2E8F0"/>
            </a:solidFill>
            <a:prstDash val="solid"/>
          </a:ln>
        </p:spPr>
        <p:txBody>
          <a:bodyPr/>
          <a:lstStyle/>
          <a:p>
            <a:endParaRPr lang="en-IN"/>
          </a:p>
        </p:txBody>
      </p:sp>
      <p:sp>
        <p:nvSpPr>
          <p:cNvPr id="19" name="Text 17"/>
          <p:cNvSpPr/>
          <p:nvPr/>
        </p:nvSpPr>
        <p:spPr>
          <a:xfrm>
            <a:off x="3412257" y="1231516"/>
            <a:ext cx="257175" cy="257175"/>
          </a:xfrm>
          <a:prstGeom prst="roundRect">
            <a:avLst>
              <a:gd name="adj" fmla="val 29630"/>
            </a:avLst>
          </a:prstGeom>
          <a:solidFill>
            <a:srgbClr val="E0F2FE"/>
          </a:solidFill>
          <a:ln/>
        </p:spPr>
        <p:txBody>
          <a:bodyPr wrap="square" rtlCol="0" anchor="ctr"/>
          <a:lstStyle/>
          <a:p>
            <a:pPr marL="0" indent="0">
              <a:buNone/>
            </a:pPr>
            <a:endParaRPr lang="en-US" dirty="0"/>
          </a:p>
        </p:txBody>
      </p:sp>
      <p:sp>
        <p:nvSpPr>
          <p:cNvPr id="20" name="Text 18"/>
          <p:cNvSpPr/>
          <p:nvPr/>
        </p:nvSpPr>
        <p:spPr>
          <a:xfrm>
            <a:off x="3437260" y="1256519"/>
            <a:ext cx="207169" cy="207169"/>
          </a:xfrm>
          <a:prstGeom prst="rect">
            <a:avLst/>
          </a:prstGeom>
          <a:noFill/>
          <a:ln/>
        </p:spPr>
        <p:txBody>
          <a:bodyPr wrap="none" lIns="0" tIns="0" rIns="0" bIns="0" rtlCol="0" anchor="ctr"/>
          <a:lstStyle/>
          <a:p>
            <a:pPr marL="0" indent="0" algn="ctr">
              <a:buNone/>
            </a:pPr>
            <a:r>
              <a:rPr lang="en-US" sz="1406" dirty="0">
                <a:solidFill>
                  <a:srgbClr val="0284C7"/>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3740869" y="1263662"/>
            <a:ext cx="1990762" cy="208312"/>
          </a:xfrm>
          <a:prstGeom prst="rect">
            <a:avLst/>
          </a:prstGeom>
          <a:noFill/>
          <a:ln/>
        </p:spPr>
        <p:txBody>
          <a:bodyPr wrap="none" lIns="0" tIns="0" rIns="0" bIns="0" rtlCol="0" anchor="t"/>
          <a:lstStyle/>
          <a:p>
            <a:pPr marL="0" indent="0" algn="l">
              <a:lnSpc>
                <a:spcPts val="1519"/>
              </a:lnSpc>
              <a:buNone/>
            </a:pPr>
            <a:r>
              <a:rPr lang="en-US" sz="1013" b="1" dirty="0">
                <a:solidFill>
                  <a:srgbClr val="0F172A"/>
                </a:solidFill>
                <a:latin typeface="Carlito" pitchFamily="34" charset="0"/>
                <a:ea typeface="Carlito" pitchFamily="34" charset="-122"/>
                <a:cs typeface="Carlito" pitchFamily="34" charset="-120"/>
              </a:rPr>
              <a:t>XGBoost</a:t>
            </a:r>
            <a:endParaRPr lang="en-US" sz="1013" dirty="0"/>
          </a:p>
        </p:txBody>
      </p:sp>
      <p:sp>
        <p:nvSpPr>
          <p:cNvPr id="22" name="Text 20"/>
          <p:cNvSpPr/>
          <p:nvPr/>
        </p:nvSpPr>
        <p:spPr>
          <a:xfrm>
            <a:off x="3412257" y="1588703"/>
            <a:ext cx="2319375" cy="339961"/>
          </a:xfrm>
          <a:prstGeom prst="rect">
            <a:avLst/>
          </a:prstGeom>
          <a:noFill/>
          <a:ln/>
        </p:spPr>
        <p:txBody>
          <a:bodyPr wrap="square" lIns="0" tIns="0" rIns="0" bIns="0" rtlCol="0" anchor="t"/>
          <a:lstStyle/>
          <a:p>
            <a:pPr marL="0" indent="0" algn="l">
              <a:lnSpc>
                <a:spcPts val="1221"/>
              </a:lnSpc>
              <a:buNone/>
            </a:pPr>
            <a:r>
              <a:rPr lang="en-US" sz="800" b="1" dirty="0">
                <a:solidFill>
                  <a:srgbClr val="0F172A"/>
                </a:solidFill>
                <a:latin typeface="Carlito" pitchFamily="34" charset="0"/>
                <a:ea typeface="Carlito" pitchFamily="34" charset="-122"/>
                <a:cs typeface="Carlito" pitchFamily="34" charset="-120"/>
              </a:rPr>
              <a:t>Use when:</a:t>
            </a:r>
            <a:r>
              <a:rPr lang="en-US" sz="800" dirty="0">
                <a:solidFill>
                  <a:srgbClr val="334155"/>
                </a:solidFill>
                <a:latin typeface="Carlito" pitchFamily="34" charset="0"/>
                <a:ea typeface="Carlito" pitchFamily="34" charset="-122"/>
                <a:cs typeface="Carlito" pitchFamily="34" charset="-120"/>
              </a:rPr>
              <a:t> Dataset is small-to-medium, you need production stability, or interpretability matters.</a:t>
            </a:r>
            <a:endParaRPr lang="en-US" sz="800" dirty="0"/>
          </a:p>
        </p:txBody>
      </p:sp>
      <p:sp>
        <p:nvSpPr>
          <p:cNvPr id="23" name="Text 21"/>
          <p:cNvSpPr/>
          <p:nvPr/>
        </p:nvSpPr>
        <p:spPr>
          <a:xfrm>
            <a:off x="3412257" y="2031417"/>
            <a:ext cx="2319375" cy="339961"/>
          </a:xfrm>
          <a:prstGeom prst="rect">
            <a:avLst/>
          </a:prstGeom>
          <a:noFill/>
          <a:ln/>
        </p:spPr>
        <p:txBody>
          <a:bodyPr wrap="square" lIns="0" tIns="0" rIns="0" bIns="0" rtlCol="0" anchor="t"/>
          <a:lstStyle/>
          <a:p>
            <a:pPr marL="0" indent="0" algn="l">
              <a:lnSpc>
                <a:spcPts val="1221"/>
              </a:lnSpc>
              <a:buNone/>
            </a:pPr>
            <a:r>
              <a:rPr lang="en-US" sz="800" dirty="0">
                <a:solidFill>
                  <a:srgbClr val="334155"/>
                </a:solidFill>
                <a:latin typeface="Carlito" pitchFamily="34" charset="0"/>
                <a:ea typeface="Carlito" pitchFamily="34" charset="-122"/>
                <a:cs typeface="Carlito" pitchFamily="34" charset="-120"/>
              </a:rPr>
              <a:t>The safest default choice for most real-world problems.</a:t>
            </a:r>
            <a:endParaRPr lang="en-US" sz="800" dirty="0"/>
          </a:p>
        </p:txBody>
      </p:sp>
      <p:sp>
        <p:nvSpPr>
          <p:cNvPr id="24" name="Text 22"/>
          <p:cNvSpPr/>
          <p:nvPr/>
        </p:nvSpPr>
        <p:spPr>
          <a:xfrm>
            <a:off x="6038813" y="1038634"/>
            <a:ext cx="2647876" cy="3233328"/>
          </a:xfrm>
          <a:prstGeom prst="roundRect">
            <a:avLst>
              <a:gd name="adj" fmla="val 4317"/>
            </a:avLst>
          </a:prstGeom>
          <a:solidFill>
            <a:srgbClr val="F8FAFC"/>
          </a:solidFill>
          <a:ln/>
        </p:spPr>
        <p:txBody>
          <a:bodyPr wrap="square" rtlCol="0" anchor="ctr"/>
          <a:lstStyle/>
          <a:p>
            <a:pPr marL="0" indent="0">
              <a:buNone/>
            </a:pPr>
            <a:endParaRPr lang="en-US" dirty="0"/>
          </a:p>
        </p:txBody>
      </p:sp>
      <p:sp>
        <p:nvSpPr>
          <p:cNvPr id="25" name="Shape 23"/>
          <p:cNvSpPr/>
          <p:nvPr/>
        </p:nvSpPr>
        <p:spPr>
          <a:xfrm>
            <a:off x="6038813" y="1049350"/>
            <a:ext cx="2647876" cy="0"/>
          </a:xfrm>
          <a:prstGeom prst="line">
            <a:avLst/>
          </a:prstGeom>
          <a:noFill/>
          <a:ln w="21431">
            <a:solidFill>
              <a:srgbClr val="F59E0B"/>
            </a:solidFill>
            <a:prstDash val="solid"/>
          </a:ln>
        </p:spPr>
        <p:txBody>
          <a:bodyPr/>
          <a:lstStyle/>
          <a:p>
            <a:endParaRPr lang="en-IN"/>
          </a:p>
        </p:txBody>
      </p:sp>
      <p:sp>
        <p:nvSpPr>
          <p:cNvPr id="26" name="Shape 24"/>
          <p:cNvSpPr/>
          <p:nvPr/>
        </p:nvSpPr>
        <p:spPr>
          <a:xfrm>
            <a:off x="8683117" y="1038634"/>
            <a:ext cx="0" cy="3233328"/>
          </a:xfrm>
          <a:prstGeom prst="line">
            <a:avLst/>
          </a:prstGeom>
          <a:noFill/>
          <a:ln w="7144">
            <a:solidFill>
              <a:srgbClr val="E2E8F0"/>
            </a:solidFill>
            <a:prstDash val="solid"/>
          </a:ln>
        </p:spPr>
        <p:txBody>
          <a:bodyPr/>
          <a:lstStyle/>
          <a:p>
            <a:endParaRPr lang="en-IN"/>
          </a:p>
        </p:txBody>
      </p:sp>
      <p:sp>
        <p:nvSpPr>
          <p:cNvPr id="27" name="Shape 25"/>
          <p:cNvSpPr/>
          <p:nvPr/>
        </p:nvSpPr>
        <p:spPr>
          <a:xfrm>
            <a:off x="6038813" y="4268391"/>
            <a:ext cx="2647876" cy="0"/>
          </a:xfrm>
          <a:prstGeom prst="line">
            <a:avLst/>
          </a:prstGeom>
          <a:noFill/>
          <a:ln w="7144">
            <a:solidFill>
              <a:srgbClr val="E2E8F0"/>
            </a:solidFill>
            <a:prstDash val="solid"/>
          </a:ln>
        </p:spPr>
        <p:txBody>
          <a:bodyPr/>
          <a:lstStyle/>
          <a:p>
            <a:endParaRPr lang="en-IN"/>
          </a:p>
        </p:txBody>
      </p:sp>
      <p:sp>
        <p:nvSpPr>
          <p:cNvPr id="28" name="Shape 26"/>
          <p:cNvSpPr/>
          <p:nvPr/>
        </p:nvSpPr>
        <p:spPr>
          <a:xfrm>
            <a:off x="6042385" y="1038634"/>
            <a:ext cx="0" cy="3233328"/>
          </a:xfrm>
          <a:prstGeom prst="line">
            <a:avLst/>
          </a:prstGeom>
          <a:noFill/>
          <a:ln w="7144">
            <a:solidFill>
              <a:srgbClr val="E2E8F0"/>
            </a:solidFill>
            <a:prstDash val="solid"/>
          </a:ln>
        </p:spPr>
        <p:txBody>
          <a:bodyPr/>
          <a:lstStyle/>
          <a:p>
            <a:endParaRPr lang="en-IN"/>
          </a:p>
        </p:txBody>
      </p:sp>
      <p:sp>
        <p:nvSpPr>
          <p:cNvPr id="29" name="Text 27"/>
          <p:cNvSpPr/>
          <p:nvPr/>
        </p:nvSpPr>
        <p:spPr>
          <a:xfrm>
            <a:off x="6203119" y="1231516"/>
            <a:ext cx="257175" cy="257175"/>
          </a:xfrm>
          <a:prstGeom prst="roundRect">
            <a:avLst>
              <a:gd name="adj" fmla="val 29630"/>
            </a:avLst>
          </a:prstGeom>
          <a:solidFill>
            <a:srgbClr val="FEF3C7"/>
          </a:solidFill>
          <a:ln/>
        </p:spPr>
        <p:txBody>
          <a:bodyPr wrap="square" rtlCol="0" anchor="ctr"/>
          <a:lstStyle/>
          <a:p>
            <a:pPr marL="0" indent="0">
              <a:buNone/>
            </a:pPr>
            <a:endParaRPr lang="en-US" dirty="0"/>
          </a:p>
        </p:txBody>
      </p:sp>
      <p:sp>
        <p:nvSpPr>
          <p:cNvPr id="30" name="Text 28"/>
          <p:cNvSpPr/>
          <p:nvPr/>
        </p:nvSpPr>
        <p:spPr>
          <a:xfrm>
            <a:off x="6228122" y="1256519"/>
            <a:ext cx="207169" cy="207169"/>
          </a:xfrm>
          <a:prstGeom prst="rect">
            <a:avLst/>
          </a:prstGeom>
          <a:noFill/>
          <a:ln/>
        </p:spPr>
        <p:txBody>
          <a:bodyPr wrap="none" lIns="0" tIns="0" rIns="0" bIns="0" rtlCol="0" anchor="ctr"/>
          <a:lstStyle/>
          <a:p>
            <a:pPr marL="0" indent="0" algn="ctr">
              <a:buNone/>
            </a:pPr>
            <a:r>
              <a:rPr lang="en-US" sz="1406" dirty="0">
                <a:solidFill>
                  <a:srgbClr val="92400E"/>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6531732" y="1263662"/>
            <a:ext cx="1990651" cy="208312"/>
          </a:xfrm>
          <a:prstGeom prst="rect">
            <a:avLst/>
          </a:prstGeom>
          <a:noFill/>
          <a:ln/>
        </p:spPr>
        <p:txBody>
          <a:bodyPr wrap="none" lIns="0" tIns="0" rIns="0" bIns="0" rtlCol="0" anchor="t"/>
          <a:lstStyle/>
          <a:p>
            <a:pPr marL="0" indent="0" algn="l">
              <a:lnSpc>
                <a:spcPts val="1519"/>
              </a:lnSpc>
              <a:buNone/>
            </a:pPr>
            <a:r>
              <a:rPr lang="en-US" sz="1013" b="1" dirty="0">
                <a:solidFill>
                  <a:srgbClr val="0F172A"/>
                </a:solidFill>
                <a:latin typeface="Carlito" pitchFamily="34" charset="0"/>
                <a:ea typeface="Carlito" pitchFamily="34" charset="-122"/>
                <a:cs typeface="Carlito" pitchFamily="34" charset="-120"/>
              </a:rPr>
              <a:t>LightGBM</a:t>
            </a:r>
            <a:endParaRPr lang="en-US" sz="1013" dirty="0"/>
          </a:p>
        </p:txBody>
      </p:sp>
      <p:sp>
        <p:nvSpPr>
          <p:cNvPr id="32" name="Text 30"/>
          <p:cNvSpPr/>
          <p:nvPr/>
        </p:nvSpPr>
        <p:spPr>
          <a:xfrm>
            <a:off x="6203119" y="1588703"/>
            <a:ext cx="2319263" cy="508796"/>
          </a:xfrm>
          <a:prstGeom prst="rect">
            <a:avLst/>
          </a:prstGeom>
          <a:noFill/>
          <a:ln/>
        </p:spPr>
        <p:txBody>
          <a:bodyPr wrap="square" lIns="0" tIns="0" rIns="0" bIns="0" rtlCol="0" anchor="t">
            <a:normAutofit/>
          </a:bodyPr>
          <a:lstStyle/>
          <a:p>
            <a:pPr marL="0" indent="0" algn="l">
              <a:lnSpc>
                <a:spcPts val="1221"/>
              </a:lnSpc>
              <a:buNone/>
            </a:pPr>
            <a:r>
              <a:rPr lang="en-US" sz="800" b="1" dirty="0">
                <a:solidFill>
                  <a:srgbClr val="0F172A"/>
                </a:solidFill>
                <a:latin typeface="Carlito" pitchFamily="34" charset="0"/>
                <a:ea typeface="Carlito" pitchFamily="34" charset="-122"/>
                <a:cs typeface="Carlito" pitchFamily="34" charset="-120"/>
              </a:rPr>
              <a:t>Use when:</a:t>
            </a:r>
            <a:r>
              <a:rPr lang="en-US" sz="800" dirty="0">
                <a:solidFill>
                  <a:srgbClr val="334155"/>
                </a:solidFill>
                <a:latin typeface="Carlito" pitchFamily="34" charset="0"/>
                <a:ea typeface="Carlito" pitchFamily="34" charset="-122"/>
                <a:cs typeface="Carlito" pitchFamily="34" charset="-120"/>
              </a:rPr>
              <a:t> Dataset is large (100K+ rows), training speed matters, or you have many categorical features.</a:t>
            </a:r>
            <a:endParaRPr lang="en-US" sz="800" dirty="0"/>
          </a:p>
        </p:txBody>
      </p:sp>
      <p:sp>
        <p:nvSpPr>
          <p:cNvPr id="33" name="Text 31"/>
          <p:cNvSpPr/>
          <p:nvPr/>
        </p:nvSpPr>
        <p:spPr>
          <a:xfrm>
            <a:off x="6203119" y="2124931"/>
            <a:ext cx="2319263" cy="339961"/>
          </a:xfrm>
          <a:prstGeom prst="rect">
            <a:avLst/>
          </a:prstGeom>
          <a:noFill/>
          <a:ln/>
        </p:spPr>
        <p:txBody>
          <a:bodyPr wrap="square" lIns="0" tIns="0" rIns="0" bIns="0" rtlCol="0" anchor="t"/>
          <a:lstStyle/>
          <a:p>
            <a:pPr marL="0" indent="0" algn="l">
              <a:lnSpc>
                <a:spcPts val="1221"/>
              </a:lnSpc>
              <a:buNone/>
            </a:pPr>
            <a:r>
              <a:rPr lang="en-US" sz="800" dirty="0">
                <a:solidFill>
                  <a:srgbClr val="334155"/>
                </a:solidFill>
                <a:latin typeface="Carlito" pitchFamily="34" charset="0"/>
                <a:ea typeface="Carlito" pitchFamily="34" charset="-122"/>
                <a:cs typeface="Carlito" pitchFamily="34" charset="-120"/>
              </a:rPr>
              <a:t>Dominates Kaggle for tabular data with proper tuning.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2961</Words>
  <Application>Microsoft Office PowerPoint</Application>
  <PresentationFormat>On-screen Show (16:9)</PresentationFormat>
  <Paragraphs>357</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Carlito</vt:lpstr>
      <vt:lpstr>Courier New</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Manikandan E</cp:lastModifiedBy>
  <cp:revision>3</cp:revision>
  <dcterms:created xsi:type="dcterms:W3CDTF">2026-07-05T15:12:37Z</dcterms:created>
  <dcterms:modified xsi:type="dcterms:W3CDTF">2026-07-05T15:30:27Z</dcterms:modified>
</cp:coreProperties>
</file>